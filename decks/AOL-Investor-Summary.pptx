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ckuu59BdFrd46Ir/+dH1ucvCy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crore / year</c:v>
                </c:pt>
              </c:strCache>
            </c:strRef>
          </c:tx>
          <c:spPr>
            <a:solidFill>
              <a:srgbClr val="E07B2E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11B4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7B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3F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A94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F8A7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Signature courses</c:v>
                  </c:pt>
                  <c:pt idx="1">
                    <c:v>Retreats &amp; webcasts</c:v>
                  </c:pt>
                  <c:pt idx="2">
                    <c:v>Prime subscription</c:v>
                  </c:pt>
                  <c:pt idx="3">
                    <c:v>Store (later)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12</c:v>
                </c:pt>
                <c:pt idx="2">
                  <c:v>10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211B4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11B4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Opening frame. The whole story: AOL has assets nobody else has; the app turns them into a compounding business. The gap from 2 to 55 crore is the spine of this deck.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need is real and AOL is uniquely positioned. The base is healthy but under-monetised — that's the whole opportunity.</a:t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Positioning. The bottom row is the whole thesis: a category of one, built on assets that are not copyable.</a:t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flywheel. Borrowed from Uber (density) and AI bots (data) — translated to a wellness app as four interlocking loops.</a:t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app's job is to walk a free user down this funnel, gently, only after trust. Prime is the warm middle rung, not the destination.</a:t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single most important slide. The goal isn't a subscriptions business; it's a course business with an app as the funnel. Gifting rides across every rung.</a:t>
            </a:r>
            <a:endParaRPr/>
          </a:p>
        </p:txBody>
      </p:sp>
      <p:sp>
        <p:nvSpPr>
          <p:cNvPr id="135" name="Google Shape;13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 claim in this deck is a clickable prototype. Onboarding, the daily guide, the breathing player with its automatic reward moment, and the high-ticket course page all exist and connect into one flow.</a:t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Make the ARPU math explicit. The funnel + ladder is the mechanism; this slide is the number it produces.</a:t>
            </a:r>
            <a:endParaRPr/>
          </a:p>
        </p:txBody>
      </p:sp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on the phasing (the Utkarsh evolution) and tie revenue back to the mission. Phase 1 proves retention, Phase 2 proves monetisation, Phase 3 scales.</a:t>
            </a:r>
            <a:endParaRPr/>
          </a:p>
        </p:txBody>
      </p:sp>
      <p:sp>
        <p:nvSpPr>
          <p:cNvPr id="187" name="Google Shape;18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1B4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126480" y="-1463040"/>
            <a:ext cx="4572000" cy="4572000"/>
          </a:xfrm>
          <a:prstGeom prst="ellipse">
            <a:avLst/>
          </a:prstGeom>
          <a:solidFill>
            <a:srgbClr val="2B25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949440" y="-731520"/>
            <a:ext cx="2743200" cy="2743200"/>
          </a:xfrm>
          <a:prstGeom prst="ellipse">
            <a:avLst/>
          </a:prstGeom>
          <a:solidFill>
            <a:srgbClr val="322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95528" y="777240"/>
            <a:ext cx="329184" cy="457200"/>
          </a:xfrm>
          <a:prstGeom prst="ellipse">
            <a:avLst/>
          </a:prstGeom>
          <a:solidFill>
            <a:srgbClr val="E07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77824" y="850392"/>
            <a:ext cx="164592" cy="274320"/>
          </a:xfrm>
          <a:prstGeom prst="ellipse">
            <a:avLst/>
          </a:prstGeom>
          <a:solidFill>
            <a:srgbClr val="E0A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57200" y="1234440"/>
            <a:ext cx="1005840" cy="201168"/>
          </a:xfrm>
          <a:prstGeom prst="ellipse">
            <a:avLst/>
          </a:prstGeom>
          <a:solidFill>
            <a:srgbClr val="C98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02920" y="1207008"/>
            <a:ext cx="914400" cy="118872"/>
          </a:xfrm>
          <a:prstGeom prst="ellipse">
            <a:avLst/>
          </a:prstGeom>
          <a:solidFill>
            <a:srgbClr val="E0A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640080" y="14173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94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0A94B"/>
                </a:solidFill>
                <a:latin typeface="Calibri"/>
                <a:ea typeface="Calibri"/>
                <a:cs typeface="Calibri"/>
                <a:sym typeface="Calibri"/>
              </a:rPr>
              <a:t>INVESTOR &amp; LEADERSHIP SUMMARY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03504" y="1737360"/>
            <a:ext cx="5852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Art of Living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40080" y="2788920"/>
            <a:ext cx="5212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CAE3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CFCAE3"/>
                </a:solidFill>
                <a:latin typeface="Cambria"/>
                <a:ea typeface="Cambria"/>
                <a:cs typeface="Cambria"/>
                <a:sym typeface="Cambria"/>
              </a:rPr>
              <a:t>The one wellness app that </a:t>
            </a:r>
            <a:r>
              <a:rPr b="0" i="1" lang="en-US" sz="1900" u="none" cap="none" strike="noStrike">
                <a:solidFill>
                  <a:srgbClr val="E0A94B"/>
                </a:solidFill>
                <a:latin typeface="Cambria"/>
                <a:ea typeface="Cambria"/>
                <a:cs typeface="Cambria"/>
                <a:sym typeface="Cambria"/>
              </a:rPr>
              <a:t>guides you, answers you,</a:t>
            </a:r>
            <a:r>
              <a:rPr b="0" i="0" lang="en-US" sz="1900" u="none" cap="none" strike="noStrike">
                <a:solidFill>
                  <a:srgbClr val="CFCAE3"/>
                </a:solidFill>
                <a:latin typeface="Cambria"/>
                <a:ea typeface="Cambria"/>
                <a:cs typeface="Cambria"/>
                <a:sym typeface="Cambria"/>
              </a:rPr>
              <a:t> and lets you </a:t>
            </a:r>
            <a:r>
              <a:rPr b="0" i="1" lang="en-US" sz="1900" u="none" cap="none" strike="noStrike">
                <a:solidFill>
                  <a:srgbClr val="E0A94B"/>
                </a:solidFill>
                <a:latin typeface="Cambria"/>
                <a:ea typeface="Cambria"/>
                <a:cs typeface="Cambria"/>
                <a:sym typeface="Cambria"/>
              </a:rPr>
              <a:t>practise together.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40080" y="41605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CAE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CFCAE3"/>
                </a:solidFill>
                <a:latin typeface="Calibri"/>
                <a:ea typeface="Calibri"/>
                <a:cs typeface="Calibri"/>
                <a:sym typeface="Calibri"/>
              </a:rPr>
              <a:t>From ₹2 cr today  →  a ₹55 cr path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ots/today.png" id="26" name="Google Shape;2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502920"/>
            <a:ext cx="2054060" cy="4160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30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30F"/>
                </a:solidFill>
                <a:latin typeface="Calibri"/>
                <a:ea typeface="Calibri"/>
                <a:cs typeface="Calibri"/>
                <a:sym typeface="Calibri"/>
              </a:rPr>
              <a:t>THE OPPORTUNITY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12064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B45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11B45"/>
                </a:solidFill>
                <a:latin typeface="Cambria"/>
                <a:ea typeface="Cambria"/>
                <a:cs typeface="Cambria"/>
                <a:sym typeface="Cambria"/>
              </a:rPr>
              <a:t>The moment is the tailwind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66928" y="1600200"/>
            <a:ext cx="292608" cy="292608"/>
          </a:xfrm>
          <a:prstGeom prst="ellipse">
            <a:avLst/>
          </a:prstGeom>
          <a:solidFill>
            <a:srgbClr val="E07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66928" y="15819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051560" y="150876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B45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211B45"/>
                </a:solidFill>
                <a:latin typeface="Calibri"/>
                <a:ea typeface="Calibri"/>
                <a:cs typeface="Calibri"/>
                <a:sym typeface="Calibri"/>
              </a:rPr>
              <a:t>A stress epidemic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051560" y="1856232"/>
            <a:ext cx="4297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56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5680"/>
                </a:solidFill>
                <a:latin typeface="Calibri"/>
                <a:ea typeface="Calibri"/>
                <a:cs typeface="Calibri"/>
                <a:sym typeface="Calibri"/>
              </a:rPr>
              <a:t>People are anxious, sleepless, and actively looking for calm — preferably a cheap habit they can keep.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66928" y="2679192"/>
            <a:ext cx="292608" cy="292608"/>
          </a:xfrm>
          <a:prstGeom prst="ellipse">
            <a:avLst/>
          </a:prstGeom>
          <a:solidFill>
            <a:srgbClr val="E07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66928" y="266090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051560" y="258775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B45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211B45"/>
                </a:solidFill>
                <a:latin typeface="Calibri"/>
                <a:ea typeface="Calibri"/>
                <a:cs typeface="Calibri"/>
                <a:sym typeface="Calibri"/>
              </a:rPr>
              <a:t>They want to be guided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51560" y="2935224"/>
            <a:ext cx="4297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56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5680"/>
                </a:solidFill>
                <a:latin typeface="Calibri"/>
                <a:ea typeface="Calibri"/>
                <a:cs typeface="Calibri"/>
                <a:sym typeface="Calibri"/>
              </a:rPr>
              <a:t>“Just tell me what to do, make it easy, show me it’s working.” Personalisation and validation win retention.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66928" y="3758184"/>
            <a:ext cx="292608" cy="292608"/>
          </a:xfrm>
          <a:prstGeom prst="ellipse">
            <a:avLst/>
          </a:prstGeom>
          <a:solidFill>
            <a:srgbClr val="E07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66928" y="373989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051560" y="3666744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B45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211B45"/>
                </a:solidFill>
                <a:latin typeface="Calibri"/>
                <a:ea typeface="Calibri"/>
                <a:cs typeface="Calibri"/>
                <a:sym typeface="Calibri"/>
              </a:rPr>
              <a:t>AOL holds an unfair hand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051560" y="4014216"/>
            <a:ext cx="4297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56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5680"/>
                </a:solidFill>
                <a:latin typeface="Calibri"/>
                <a:ea typeface="Calibri"/>
                <a:cs typeface="Calibri"/>
                <a:sym typeface="Calibri"/>
              </a:rPr>
              <a:t>1M+ course graduates, Gurudev’s wisdom corpus, the clinically-backed SKY breath, and a real global Sangha.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806440" y="1554480"/>
            <a:ext cx="2834640" cy="3154680"/>
          </a:xfrm>
          <a:prstGeom prst="roundRect">
            <a:avLst>
              <a:gd fmla="val 3871" name="adj"/>
            </a:avLst>
          </a:prstGeom>
          <a:solidFill>
            <a:srgbClr val="FBF6EE"/>
          </a:solidFill>
          <a:ln cap="flat" cmpd="sng" w="12700">
            <a:solidFill>
              <a:srgbClr val="E6E1D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11B4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989320" y="178308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30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A8530F"/>
                </a:solidFill>
                <a:latin typeface="Cambria"/>
                <a:ea typeface="Cambria"/>
                <a:cs typeface="Cambria"/>
                <a:sym typeface="Cambria"/>
              </a:rPr>
              <a:t>110k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989320" y="22402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56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5680"/>
                </a:solidFill>
                <a:latin typeface="Calibri"/>
                <a:ea typeface="Calibri"/>
                <a:cs typeface="Calibri"/>
                <a:sym typeface="Calibri"/>
              </a:rPr>
              <a:t>monthly active users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989320" y="254203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30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A8530F"/>
                </a:solidFill>
                <a:latin typeface="Cambria"/>
                <a:ea typeface="Cambria"/>
                <a:cs typeface="Cambria"/>
                <a:sym typeface="Cambria"/>
              </a:rPr>
              <a:t>~27.5k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989320" y="299923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56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5680"/>
                </a:solidFill>
                <a:latin typeface="Calibri"/>
                <a:ea typeface="Calibri"/>
                <a:cs typeface="Calibri"/>
                <a:sym typeface="Calibri"/>
              </a:rPr>
              <a:t>paying subscribers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989320" y="3300984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30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A8530F"/>
                </a:solidFill>
                <a:latin typeface="Cambria"/>
                <a:ea typeface="Cambria"/>
                <a:cs typeface="Cambria"/>
                <a:sym typeface="Cambria"/>
              </a:rPr>
              <a:t>₹2 cr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989320" y="375818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56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5680"/>
                </a:solidFill>
                <a:latin typeface="Calibri"/>
                <a:ea typeface="Calibri"/>
                <a:cs typeface="Calibri"/>
                <a:sym typeface="Calibri"/>
              </a:rPr>
              <a:t>revenue / year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989320" y="405993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30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A8530F"/>
                </a:solidFill>
                <a:latin typeface="Cambria"/>
                <a:ea typeface="Cambria"/>
                <a:cs typeface="Cambria"/>
                <a:sym typeface="Cambria"/>
              </a:rPr>
              <a:t>182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989320" y="451713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56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5680"/>
                </a:solidFill>
                <a:latin typeface="Calibri"/>
                <a:ea typeface="Calibri"/>
                <a:cs typeface="Calibri"/>
                <a:sym typeface="Calibri"/>
              </a:rPr>
              <a:t>countries reached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989320" y="162763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8FA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38FAD"/>
                </a:solidFill>
                <a:latin typeface="Calibri"/>
                <a:ea typeface="Calibri"/>
                <a:cs typeface="Calibri"/>
                <a:sym typeface="Calibri"/>
              </a:rPr>
              <a:t>Today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30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30F"/>
                </a:solidFill>
                <a:latin typeface="Calibri"/>
                <a:ea typeface="Calibri"/>
                <a:cs typeface="Calibri"/>
                <a:sym typeface="Calibri"/>
              </a:rPr>
              <a:t>THE WEDGE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12064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B45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11B45"/>
                </a:solidFill>
                <a:latin typeface="Cambria"/>
                <a:ea typeface="Cambria"/>
                <a:cs typeface="Cambria"/>
                <a:sym typeface="Cambria"/>
              </a:rPr>
              <a:t>Everyone owns a lane. One is open.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48640" y="1600200"/>
            <a:ext cx="2606040" cy="123444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12700">
            <a:solidFill>
              <a:srgbClr val="E6E1D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11B4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749808" y="178308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B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1B45"/>
                </a:solidFill>
                <a:latin typeface="Calibri"/>
                <a:ea typeface="Calibri"/>
                <a:cs typeface="Calibri"/>
                <a:sym typeface="Calibri"/>
              </a:rPr>
              <a:t>Calm · Headspace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49808" y="2176272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56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5680"/>
                </a:solidFill>
                <a:latin typeface="Calibri"/>
                <a:ea typeface="Calibri"/>
                <a:cs typeface="Calibri"/>
                <a:sym typeface="Calibri"/>
              </a:rPr>
              <a:t>Quick, secular calm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291840" y="1600200"/>
            <a:ext cx="2606040" cy="123444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12700">
            <a:solidFill>
              <a:srgbClr val="E6E1D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11B4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3493008" y="178308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B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1B45"/>
                </a:solidFill>
                <a:latin typeface="Calibri"/>
                <a:ea typeface="Calibri"/>
                <a:cs typeface="Calibri"/>
                <a:sym typeface="Calibri"/>
              </a:rPr>
              <a:t>Sadhguru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493008" y="2176272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56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5680"/>
                </a:solidFill>
                <a:latin typeface="Calibri"/>
                <a:ea typeface="Calibri"/>
                <a:cs typeface="Calibri"/>
                <a:sym typeface="Calibri"/>
              </a:rPr>
              <a:t>One deep, singular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035040" y="1600200"/>
            <a:ext cx="2606040" cy="123444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12700">
            <a:solidFill>
              <a:srgbClr val="E6E1D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11B4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6236208" y="178308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B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1B45"/>
                </a:solidFill>
                <a:latin typeface="Calibri"/>
                <a:ea typeface="Calibri"/>
                <a:cs typeface="Calibri"/>
                <a:sym typeface="Calibri"/>
              </a:rPr>
              <a:t>Level SuperMind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236208" y="2176272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56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5680"/>
                </a:solidFill>
                <a:latin typeface="Calibri"/>
                <a:ea typeface="Calibri"/>
                <a:cs typeface="Calibri"/>
                <a:sym typeface="Calibri"/>
              </a:rPr>
              <a:t>Gamified mind-performance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48640" y="3108960"/>
            <a:ext cx="8046720" cy="1463040"/>
          </a:xfrm>
          <a:prstGeom prst="roundRect">
            <a:avLst>
              <a:gd fmla="val 7500" name="adj"/>
            </a:avLst>
          </a:prstGeom>
          <a:solidFill>
            <a:srgbClr val="211B45"/>
          </a:solidFill>
          <a:ln>
            <a:noFill/>
          </a:ln>
          <a:effectLst>
            <a:outerShdw blurRad="114300" rotWithShape="0" algn="bl" dir="5400000" dist="38100">
              <a:srgbClr val="211B4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1102766" y="3794760"/>
            <a:ext cx="263347" cy="365760"/>
          </a:xfrm>
          <a:prstGeom prst="ellipse">
            <a:avLst/>
          </a:prstGeom>
          <a:solidFill>
            <a:srgbClr val="E07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1168603" y="3853282"/>
            <a:ext cx="131674" cy="219456"/>
          </a:xfrm>
          <a:prstGeom prst="ellipse">
            <a:avLst/>
          </a:prstGeom>
          <a:solidFill>
            <a:srgbClr val="E0A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832104" y="4160520"/>
            <a:ext cx="804672" cy="160934"/>
          </a:xfrm>
          <a:prstGeom prst="ellipse">
            <a:avLst/>
          </a:prstGeom>
          <a:solidFill>
            <a:srgbClr val="C98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868680" y="4138574"/>
            <a:ext cx="731520" cy="95098"/>
          </a:xfrm>
          <a:prstGeom prst="ellipse">
            <a:avLst/>
          </a:prstGeom>
          <a:solidFill>
            <a:srgbClr val="E0A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1920240" y="331012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94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E0A94B"/>
                </a:solidFill>
                <a:latin typeface="Cambria"/>
                <a:ea typeface="Cambria"/>
                <a:cs typeface="Cambria"/>
                <a:sym typeface="Cambria"/>
              </a:rPr>
              <a:t>Art of Living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1920240" y="3712464"/>
            <a:ext cx="6492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Guide me  +  answer me  +  practise together.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920240" y="4069080"/>
            <a:ext cx="649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FCAE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FCAE3"/>
                </a:solidFill>
                <a:latin typeface="Calibri"/>
                <a:ea typeface="Calibri"/>
                <a:cs typeface="Calibri"/>
                <a:sym typeface="Calibri"/>
              </a:rPr>
              <a:t>A secular front door for sleep, stress and focus — with spiritual depth one tap away. No competitor can copy the wisdom corpus, the live Sangha, or 1M+ course grads.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30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30F"/>
                </a:solidFill>
                <a:latin typeface="Calibri"/>
                <a:ea typeface="Calibri"/>
                <a:cs typeface="Calibri"/>
                <a:sym typeface="Calibri"/>
              </a:rPr>
              <a:t>HOW IT COMPOUNDS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12064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B45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11B45"/>
                </a:solidFill>
                <a:latin typeface="Cambria"/>
                <a:ea typeface="Cambria"/>
                <a:cs typeface="Cambria"/>
                <a:sym typeface="Cambria"/>
              </a:rPr>
              <a:t>A loop that gets easier every turn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66928" y="1965960"/>
            <a:ext cx="1783080" cy="1143000"/>
          </a:xfrm>
          <a:prstGeom prst="roundRect">
            <a:avLst>
              <a:gd fmla="val 9600" name="adj"/>
            </a:avLst>
          </a:prstGeom>
          <a:solidFill>
            <a:srgbClr val="F7E6D2"/>
          </a:solidFill>
          <a:ln cap="flat" cmpd="sng" w="9525">
            <a:solidFill>
              <a:srgbClr val="E6E1D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11B4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566928" y="2167128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530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A8530F"/>
                </a:solidFill>
                <a:latin typeface="Cambria"/>
                <a:ea typeface="Cambria"/>
                <a:cs typeface="Cambria"/>
                <a:sym typeface="Cambria"/>
              </a:rPr>
              <a:t>Curate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76656" y="2569464"/>
            <a:ext cx="15636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56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5680"/>
                </a:solidFill>
                <a:latin typeface="Calibri"/>
                <a:ea typeface="Calibri"/>
                <a:cs typeface="Calibri"/>
                <a:sym typeface="Calibri"/>
              </a:rPr>
              <a:t>the day’s plan, picked for you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2350008" y="2286000"/>
            <a:ext cx="329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2E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07B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2679192" y="1965960"/>
            <a:ext cx="1783080" cy="1143000"/>
          </a:xfrm>
          <a:prstGeom prst="roundRect">
            <a:avLst>
              <a:gd fmla="val 9600" name="adj"/>
            </a:avLst>
          </a:prstGeom>
          <a:solidFill>
            <a:srgbClr val="E3EFEA"/>
          </a:solidFill>
          <a:ln cap="flat" cmpd="sng" w="9525">
            <a:solidFill>
              <a:srgbClr val="E6E1D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11B4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2679192" y="2167128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C4D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F5C4D"/>
                </a:solidFill>
                <a:latin typeface="Cambria"/>
                <a:ea typeface="Cambria"/>
                <a:cs typeface="Cambria"/>
                <a:sym typeface="Cambria"/>
              </a:rPr>
              <a:t>Practice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2788920" y="2569464"/>
            <a:ext cx="15636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56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5680"/>
                </a:solidFill>
                <a:latin typeface="Calibri"/>
                <a:ea typeface="Calibri"/>
                <a:cs typeface="Calibri"/>
                <a:sym typeface="Calibri"/>
              </a:rPr>
              <a:t>the session itself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462272" y="2286000"/>
            <a:ext cx="329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2E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07B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791456" y="1965960"/>
            <a:ext cx="1783080" cy="1143000"/>
          </a:xfrm>
          <a:prstGeom prst="roundRect">
            <a:avLst>
              <a:gd fmla="val 9600" name="adj"/>
            </a:avLst>
          </a:prstGeom>
          <a:solidFill>
            <a:srgbClr val="E7E3F3"/>
          </a:solidFill>
          <a:ln cap="flat" cmpd="sng" w="9525">
            <a:solidFill>
              <a:srgbClr val="E6E1D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11B4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4791456" y="2167128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3F8A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4A3F8A"/>
                </a:solidFill>
                <a:latin typeface="Cambria"/>
                <a:ea typeface="Cambria"/>
                <a:cs typeface="Cambria"/>
                <a:sym typeface="Cambria"/>
              </a:rPr>
              <a:t>Reward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901184" y="2569464"/>
            <a:ext cx="15636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56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5680"/>
                </a:solidFill>
                <a:latin typeface="Calibri"/>
                <a:ea typeface="Calibri"/>
                <a:cs typeface="Calibri"/>
                <a:sym typeface="Calibri"/>
              </a:rPr>
              <a:t>see your gains, level 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574536" y="2286000"/>
            <a:ext cx="329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2E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07B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903720" y="1965960"/>
            <a:ext cx="1783080" cy="1143000"/>
          </a:xfrm>
          <a:prstGeom prst="roundRect">
            <a:avLst>
              <a:gd fmla="val 9600" name="adj"/>
            </a:avLst>
          </a:prstGeom>
          <a:solidFill>
            <a:srgbClr val="F7E6D2"/>
          </a:solidFill>
          <a:ln cap="flat" cmpd="sng" w="9525">
            <a:solidFill>
              <a:srgbClr val="E6E1D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11B4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6903720" y="2167128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530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A8530F"/>
                </a:solidFill>
                <a:latin typeface="Cambria"/>
                <a:ea typeface="Cambria"/>
                <a:cs typeface="Cambria"/>
                <a:sym typeface="Cambria"/>
              </a:rPr>
              <a:t>Belong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7013448" y="2569464"/>
            <a:ext cx="15636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56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5680"/>
                </a:solidFill>
                <a:latin typeface="Calibri"/>
                <a:ea typeface="Calibri"/>
                <a:cs typeface="Calibri"/>
                <a:sym typeface="Calibri"/>
              </a:rPr>
              <a:t>practise with others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4"/>
          <p:cNvCxnSpPr/>
          <p:nvPr/>
        </p:nvCxnSpPr>
        <p:spPr>
          <a:xfrm>
            <a:off x="7772400" y="3108960"/>
            <a:ext cx="0" cy="502920"/>
          </a:xfrm>
          <a:prstGeom prst="straightConnector1">
            <a:avLst/>
          </a:prstGeom>
          <a:noFill/>
          <a:ln cap="flat" cmpd="sng" w="25400">
            <a:solidFill>
              <a:srgbClr val="E0A9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4"/>
          <p:cNvCxnSpPr/>
          <p:nvPr/>
        </p:nvCxnSpPr>
        <p:spPr>
          <a:xfrm>
            <a:off x="1463040" y="3611880"/>
            <a:ext cx="6309360" cy="0"/>
          </a:xfrm>
          <a:prstGeom prst="straightConnector1">
            <a:avLst/>
          </a:prstGeom>
          <a:noFill/>
          <a:ln cap="flat" cmpd="sng" w="25400">
            <a:solidFill>
              <a:srgbClr val="E0A9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4"/>
          <p:cNvCxnSpPr/>
          <p:nvPr/>
        </p:nvCxnSpPr>
        <p:spPr>
          <a:xfrm>
            <a:off x="1463040" y="3108960"/>
            <a:ext cx="0" cy="502920"/>
          </a:xfrm>
          <a:prstGeom prst="straightConnector1">
            <a:avLst/>
          </a:prstGeom>
          <a:noFill/>
          <a:ln cap="flat" cmpd="sng" w="25400">
            <a:solidFill>
              <a:srgbClr val="E0A9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4"/>
          <p:cNvSpPr/>
          <p:nvPr/>
        </p:nvSpPr>
        <p:spPr>
          <a:xfrm>
            <a:off x="1298448" y="2999232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A94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0A94B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463040" y="3794760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56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C5680"/>
                </a:solidFill>
                <a:latin typeface="Calibri"/>
                <a:ea typeface="Calibri"/>
                <a:cs typeface="Calibri"/>
                <a:sym typeface="Calibri"/>
              </a:rPr>
              <a:t>Each turn feeds the next: more practice → sharper personalisation → stronger habit → deeper belonging → more practice.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463040" y="4224528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530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A8530F"/>
                </a:solidFill>
                <a:latin typeface="Calibri"/>
                <a:ea typeface="Calibri"/>
                <a:cs typeface="Calibri"/>
                <a:sym typeface="Calibri"/>
              </a:rPr>
              <a:t>And it funds itself: engaged users buy courses → revenue funds better content → a richer Curate step.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30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30F"/>
                </a:solidFill>
                <a:latin typeface="Calibri"/>
                <a:ea typeface="Calibri"/>
                <a:cs typeface="Calibri"/>
                <a:sym typeface="Calibri"/>
              </a:rPr>
              <a:t>THE FUNNEL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12064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B45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11B45"/>
                </a:solidFill>
                <a:latin typeface="Cambria"/>
                <a:ea typeface="Cambria"/>
                <a:cs typeface="Cambria"/>
                <a:sym typeface="Cambria"/>
              </a:rPr>
              <a:t>From a free habit to a paying student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40080" y="1627632"/>
            <a:ext cx="5669280" cy="658368"/>
          </a:xfrm>
          <a:prstGeom prst="roundRect">
            <a:avLst>
              <a:gd fmla="val 11111" name="adj"/>
            </a:avLst>
          </a:prstGeom>
          <a:solidFill>
            <a:srgbClr val="938FAD"/>
          </a:solidFill>
          <a:ln>
            <a:noFill/>
          </a:ln>
          <a:effectLst>
            <a:outerShdw blurRad="114300" rotWithShape="0" algn="bl" dir="5400000" dist="38100">
              <a:srgbClr val="211B4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822960" y="1682496"/>
            <a:ext cx="5394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822960" y="1975104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daily habit + the funnel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1280160" y="2414016"/>
            <a:ext cx="4389120" cy="658368"/>
          </a:xfrm>
          <a:prstGeom prst="roundRect">
            <a:avLst>
              <a:gd fmla="val 11111" name="adj"/>
            </a:avLst>
          </a:prstGeom>
          <a:solidFill>
            <a:srgbClr val="4F8A77"/>
          </a:solidFill>
          <a:ln>
            <a:noFill/>
          </a:ln>
          <a:effectLst>
            <a:outerShdw blurRad="114300" rotWithShape="0" algn="bl" dir="5400000" dist="38100">
              <a:srgbClr val="211B4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1463040" y="2468880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Daily regulars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463040" y="276148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streaks, journeys, report cards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920240" y="3200400"/>
            <a:ext cx="3108960" cy="658368"/>
          </a:xfrm>
          <a:prstGeom prst="roundRect">
            <a:avLst>
              <a:gd fmla="val 11111" name="adj"/>
            </a:avLst>
          </a:prstGeom>
          <a:solidFill>
            <a:srgbClr val="E0A94B"/>
          </a:solidFill>
          <a:ln>
            <a:noFill/>
          </a:ln>
          <a:effectLst>
            <a:outerShdw blurRad="114300" rotWithShape="0" algn="bl" dir="5400000" dist="38100">
              <a:srgbClr val="211B4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2103120" y="3255264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2103120" y="354787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library + 15% off courses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2560320" y="3986784"/>
            <a:ext cx="1828800" cy="658368"/>
          </a:xfrm>
          <a:prstGeom prst="roundRect">
            <a:avLst>
              <a:gd fmla="val 11111" name="adj"/>
            </a:avLst>
          </a:prstGeom>
          <a:solidFill>
            <a:srgbClr val="E07B2E"/>
          </a:solidFill>
          <a:ln>
            <a:noFill/>
          </a:ln>
          <a:effectLst>
            <a:outerShdw blurRad="114300" rotWithShape="0" algn="bl" dir="5400000" dist="38100">
              <a:srgbClr val="211B4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2743200" y="4041648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Course &amp; retreat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2743200" y="433425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high-ticket purchase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3291840" y="46177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8FA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938FAD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812280" y="1627632"/>
            <a:ext cx="1828800" cy="1371600"/>
          </a:xfrm>
          <a:prstGeom prst="roundRect">
            <a:avLst>
              <a:gd fmla="val 6667" name="adj"/>
            </a:avLst>
          </a:prstGeom>
          <a:solidFill>
            <a:srgbClr val="FBF6EE"/>
          </a:solidFill>
          <a:ln cap="flat" cmpd="sng" w="12700">
            <a:solidFill>
              <a:srgbClr val="E6E1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6967728" y="175564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30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30F"/>
                </a:solidFill>
                <a:latin typeface="Calibri"/>
                <a:ea typeface="Calibri"/>
                <a:cs typeface="Calibri"/>
                <a:sym typeface="Calibri"/>
              </a:rPr>
              <a:t>Two-way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967728" y="201168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C56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5680"/>
                </a:solidFill>
                <a:latin typeface="Calibri"/>
                <a:ea typeface="Calibri"/>
                <a:cs typeface="Calibri"/>
                <a:sym typeface="Calibri"/>
              </a:rPr>
              <a:t>Courses turn into a daily habit; the daily habit sells the next course. Sahaj moves people both ways.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ots/onboard.png"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3720" y="3154680"/>
            <a:ext cx="844163" cy="1783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30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30F"/>
                </a:solidFill>
                <a:latin typeface="Calibri"/>
                <a:ea typeface="Calibri"/>
                <a:cs typeface="Calibri"/>
                <a:sym typeface="Calibri"/>
              </a:rPr>
              <a:t>THE REVENUE LADDER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512064" y="749808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B45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211B45"/>
                </a:solidFill>
                <a:latin typeface="Cambria"/>
                <a:ea typeface="Cambria"/>
                <a:cs typeface="Cambria"/>
                <a:sym typeface="Cambria"/>
              </a:rPr>
              <a:t>Subscriptions keep the lights on. Courses are the business.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" name="Google Shape;139;p6"/>
          <p:cNvGraphicFramePr/>
          <p:nvPr/>
        </p:nvGraphicFramePr>
        <p:xfrm>
          <a:off x="457200" y="1554480"/>
          <a:ext cx="5486400" cy="31089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40" name="Google Shape;140;p6"/>
          <p:cNvSpPr/>
          <p:nvPr/>
        </p:nvSpPr>
        <p:spPr>
          <a:xfrm>
            <a:off x="6172200" y="1691640"/>
            <a:ext cx="2514600" cy="2788920"/>
          </a:xfrm>
          <a:prstGeom prst="roundRect">
            <a:avLst>
              <a:gd fmla="val 4364" name="adj"/>
            </a:avLst>
          </a:prstGeom>
          <a:solidFill>
            <a:srgbClr val="211B45"/>
          </a:solidFill>
          <a:ln>
            <a:noFill/>
          </a:ln>
          <a:effectLst>
            <a:outerShdw blurRad="114300" rotWithShape="0" algn="bl" dir="5400000" dist="38100">
              <a:srgbClr val="211B45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6309360" y="187452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94B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E0A94B"/>
                </a:solidFill>
                <a:latin typeface="Cambria"/>
                <a:ea typeface="Cambria"/>
                <a:cs typeface="Cambria"/>
                <a:sym typeface="Cambria"/>
              </a:rPr>
              <a:t>≈ 55%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309360" y="256032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 revenue comes from courses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309360" y="3108960"/>
            <a:ext cx="2240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FCAE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FCAE3"/>
                </a:solidFill>
                <a:latin typeface="Calibri"/>
                <a:ea typeface="Calibri"/>
                <a:cs typeface="Calibri"/>
                <a:sym typeface="Calibri"/>
              </a:rPr>
              <a:t>That’s the 15× jump in revenue-per-user. You cannot reach ₹55 cr on subscriptions alone — even doubled, Prime tops out near ₹10 cr.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30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30F"/>
                </a:solidFill>
                <a:latin typeface="Calibri"/>
                <a:ea typeface="Calibri"/>
                <a:cs typeface="Calibri"/>
                <a:sym typeface="Calibri"/>
              </a:rPr>
              <a:t>THE PROOF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12064" y="65836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B4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1B45"/>
                </a:solidFill>
                <a:latin typeface="Cambria"/>
                <a:ea typeface="Cambria"/>
                <a:cs typeface="Cambria"/>
                <a:sym typeface="Cambria"/>
              </a:rPr>
              <a:t>Not a deck idea — a working product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ots/onboard.png" id="151" name="Google Shape;15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17320"/>
            <a:ext cx="1320358" cy="2788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/>
          <p:nvPr/>
        </p:nvSpPr>
        <p:spPr>
          <a:xfrm>
            <a:off x="548640" y="4297680"/>
            <a:ext cx="15032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568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C5680"/>
                </a:solidFill>
                <a:latin typeface="Calibri"/>
                <a:ea typeface="Calibri"/>
                <a:cs typeface="Calibri"/>
                <a:sym typeface="Calibri"/>
              </a:rPr>
              <a:t>Adaptive onboarding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ots/today.png" id="153" name="Google Shape;15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1488" y="1417320"/>
            <a:ext cx="1376898" cy="2788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/>
          <p:nvPr/>
        </p:nvSpPr>
        <p:spPr>
          <a:xfrm>
            <a:off x="2670048" y="4297680"/>
            <a:ext cx="155977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568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C5680"/>
                </a:solidFill>
                <a:latin typeface="Calibri"/>
                <a:ea typeface="Calibri"/>
                <a:cs typeface="Calibri"/>
                <a:sym typeface="Calibri"/>
              </a:rPr>
              <a:t>Today: the guide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ots/player.png" id="155" name="Google Shape;15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82896" y="1417320"/>
            <a:ext cx="1320358" cy="2788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4791456" y="4297680"/>
            <a:ext cx="15032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568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C5680"/>
                </a:solidFill>
                <a:latin typeface="Calibri"/>
                <a:ea typeface="Calibri"/>
                <a:cs typeface="Calibri"/>
                <a:sym typeface="Calibri"/>
              </a:rPr>
              <a:t>The session itself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ots/course.png" id="157" name="Google Shape;15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04304" y="1417320"/>
            <a:ext cx="1320358" cy="2788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/>
          <p:nvPr/>
        </p:nvSpPr>
        <p:spPr>
          <a:xfrm>
            <a:off x="6912864" y="4297680"/>
            <a:ext cx="15032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568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C5680"/>
                </a:solidFill>
                <a:latin typeface="Calibri"/>
                <a:ea typeface="Calibri"/>
                <a:cs typeface="Calibri"/>
                <a:sym typeface="Calibri"/>
              </a:rPr>
              <a:t>Where revenue lands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30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30F"/>
                </a:solidFill>
                <a:latin typeface="Calibri"/>
                <a:ea typeface="Calibri"/>
                <a:cs typeface="Calibri"/>
                <a:sym typeface="Calibri"/>
              </a:rPr>
              <a:t>THE BRIDGE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512064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B45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11B45"/>
                </a:solidFill>
                <a:latin typeface="Cambria"/>
                <a:ea typeface="Cambria"/>
                <a:cs typeface="Cambria"/>
                <a:sym typeface="Cambria"/>
              </a:rPr>
              <a:t>From ₹2 cr to ₹55 cr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566928" y="168249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568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C5680"/>
                </a:solidFill>
                <a:latin typeface="Calibri"/>
                <a:ea typeface="Calibri"/>
                <a:cs typeface="Calibri"/>
                <a:sym typeface="Calibri"/>
              </a:rPr>
              <a:t>Revenue / year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3108960" y="16002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38FAD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938FAD"/>
                </a:solidFill>
                <a:latin typeface="Cambria"/>
                <a:ea typeface="Cambria"/>
                <a:cs typeface="Cambria"/>
                <a:sym typeface="Cambria"/>
              </a:rPr>
              <a:t>₹2 cr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754880" y="16459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2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07B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5257800" y="160020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30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A8530F"/>
                </a:solidFill>
                <a:latin typeface="Cambria"/>
                <a:ea typeface="Cambria"/>
                <a:cs typeface="Cambria"/>
                <a:sym typeface="Cambria"/>
              </a:rPr>
              <a:t>₹55 cr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566928" y="2395728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568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C5680"/>
                </a:solidFill>
                <a:latin typeface="Calibri"/>
                <a:ea typeface="Calibri"/>
                <a:cs typeface="Calibri"/>
                <a:sym typeface="Calibri"/>
              </a:rPr>
              <a:t>Monthly actives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3108960" y="2313432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38FAD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938FAD"/>
                </a:solidFill>
                <a:latin typeface="Cambria"/>
                <a:ea typeface="Cambria"/>
                <a:cs typeface="Cambria"/>
                <a:sym typeface="Cambria"/>
              </a:rPr>
              <a:t>110k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4754880" y="235915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2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07B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257800" y="2313432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30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A8530F"/>
                </a:solidFill>
                <a:latin typeface="Cambria"/>
                <a:ea typeface="Cambria"/>
                <a:cs typeface="Cambria"/>
                <a:sym typeface="Cambria"/>
              </a:rPr>
              <a:t>200k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66928" y="31089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568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C5680"/>
                </a:solidFill>
                <a:latin typeface="Calibri"/>
                <a:ea typeface="Calibri"/>
                <a:cs typeface="Calibri"/>
                <a:sym typeface="Calibri"/>
              </a:rPr>
              <a:t>Prime subscribers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3108960" y="3026664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38FAD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938FAD"/>
                </a:solidFill>
                <a:latin typeface="Cambria"/>
                <a:ea typeface="Cambria"/>
                <a:cs typeface="Cambria"/>
                <a:sym typeface="Cambria"/>
              </a:rPr>
              <a:t>27.5k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4754880" y="307238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2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07B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257800" y="3026664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30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A8530F"/>
                </a:solidFill>
                <a:latin typeface="Cambria"/>
                <a:ea typeface="Cambria"/>
                <a:cs typeface="Cambria"/>
                <a:sym typeface="Cambria"/>
              </a:rPr>
              <a:t>50k+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566928" y="382219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568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C5680"/>
                </a:solidFill>
                <a:latin typeface="Calibri"/>
                <a:ea typeface="Calibri"/>
                <a:cs typeface="Calibri"/>
                <a:sym typeface="Calibri"/>
              </a:rPr>
              <a:t>Course enrolments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3108960" y="373989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38FAD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938FAD"/>
                </a:solidFill>
                <a:latin typeface="Cambria"/>
                <a:ea typeface="Cambria"/>
                <a:cs typeface="Cambria"/>
                <a:sym typeface="Cambria"/>
              </a:rPr>
              <a:t>—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754880" y="3785616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2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07B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5257800" y="3739896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30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A8530F"/>
                </a:solidFill>
                <a:latin typeface="Cambria"/>
                <a:ea typeface="Cambria"/>
                <a:cs typeface="Cambria"/>
                <a:sym typeface="Cambria"/>
              </a:rPr>
              <a:t>tens of thousands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548640" y="4572000"/>
            <a:ext cx="8092440" cy="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566928" y="45262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B4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1B45"/>
                </a:solidFill>
                <a:latin typeface="Calibri"/>
                <a:ea typeface="Calibri"/>
                <a:cs typeface="Calibri"/>
                <a:sym typeface="Calibri"/>
              </a:rPr>
              <a:t>The leap isn’t more subscribers. </a:t>
            </a:r>
            <a:r>
              <a:rPr b="0" i="0" lang="en-US" sz="1250" u="none" cap="none" strike="noStrike">
                <a:solidFill>
                  <a:srgbClr val="5C5680"/>
                </a:solidFill>
                <a:latin typeface="Calibri"/>
                <a:ea typeface="Calibri"/>
                <a:cs typeface="Calibri"/>
                <a:sym typeface="Calibri"/>
              </a:rPr>
              <a:t>At ~₹730 per paying user today, doubling the base barely moves the needle — the jump comes from moving engaged users up into courses and retreats.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1B45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/>
          <p:nvPr/>
        </p:nvSpPr>
        <p:spPr>
          <a:xfrm>
            <a:off x="-1280160" y="2926080"/>
            <a:ext cx="4114800" cy="4114800"/>
          </a:xfrm>
          <a:prstGeom prst="ellipse">
            <a:avLst/>
          </a:prstGeom>
          <a:solidFill>
            <a:srgbClr val="2B25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9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0A94B"/>
                </a:solidFill>
                <a:latin typeface="Calibri"/>
                <a:ea typeface="Calibri"/>
                <a:cs typeface="Calibri"/>
                <a:sym typeface="Calibri"/>
              </a:rPr>
              <a:t>HOW WE GET THERE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03504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Light the lamp once. Keep it lit.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03504" y="1691640"/>
            <a:ext cx="2615184" cy="2148840"/>
          </a:xfrm>
          <a:prstGeom prst="roundRect">
            <a:avLst>
              <a:gd fmla="val 5106" name="adj"/>
            </a:avLst>
          </a:prstGeom>
          <a:solidFill>
            <a:srgbClr val="2B2552"/>
          </a:solidFill>
          <a:ln cap="flat" cmpd="sng" w="12700">
            <a:solidFill>
              <a:srgbClr val="3A34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804672" y="1901952"/>
            <a:ext cx="274320" cy="274320"/>
          </a:xfrm>
          <a:prstGeom prst="ellipse">
            <a:avLst/>
          </a:prstGeom>
          <a:solidFill>
            <a:srgbClr val="E07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804672" y="2286000"/>
            <a:ext cx="22494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Phase 1 · Earn the habit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804672" y="2926080"/>
            <a:ext cx="223113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FCAE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FCAE3"/>
                </a:solidFill>
                <a:latin typeface="Calibri"/>
                <a:ea typeface="Calibri"/>
                <a:cs typeface="Calibri"/>
                <a:sym typeface="Calibri"/>
              </a:rPr>
              <a:t>Today, Ask (Sahaj) and Live. Wisdom + meditation, free. Win daily retention first.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3346704" y="1691640"/>
            <a:ext cx="2615184" cy="2148840"/>
          </a:xfrm>
          <a:prstGeom prst="roundRect">
            <a:avLst>
              <a:gd fmla="val 5106" name="adj"/>
            </a:avLst>
          </a:prstGeom>
          <a:solidFill>
            <a:srgbClr val="2B2552"/>
          </a:solidFill>
          <a:ln cap="flat" cmpd="sng" w="12700">
            <a:solidFill>
              <a:srgbClr val="3A34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3547872" y="1901952"/>
            <a:ext cx="274320" cy="274320"/>
          </a:xfrm>
          <a:prstGeom prst="ellipse">
            <a:avLst/>
          </a:prstGeom>
          <a:solidFill>
            <a:srgbClr val="E0A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3547872" y="2286000"/>
            <a:ext cx="22494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Phase 2 · Build the ladder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3547872" y="2926080"/>
            <a:ext cx="223113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FCAE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FCAE3"/>
                </a:solidFill>
                <a:latin typeface="Calibri"/>
                <a:ea typeface="Calibri"/>
                <a:cs typeface="Calibri"/>
                <a:sym typeface="Calibri"/>
              </a:rPr>
              <a:t>Full masterclass library, course enrolment, rewards &amp; report cards. Begin converting trust to revenue.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6089904" y="1691640"/>
            <a:ext cx="2615184" cy="2148840"/>
          </a:xfrm>
          <a:prstGeom prst="roundRect">
            <a:avLst>
              <a:gd fmla="val 5106" name="adj"/>
            </a:avLst>
          </a:prstGeom>
          <a:solidFill>
            <a:srgbClr val="2B2552"/>
          </a:solidFill>
          <a:ln cap="flat" cmpd="sng" w="12700">
            <a:solidFill>
              <a:srgbClr val="3A34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6291072" y="1901952"/>
            <a:ext cx="274320" cy="274320"/>
          </a:xfrm>
          <a:prstGeom prst="ellipse">
            <a:avLst/>
          </a:prstGeom>
          <a:solidFill>
            <a:srgbClr val="4F8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6291072" y="2286000"/>
            <a:ext cx="22494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Phase 3 · Scale the engine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6291072" y="2926080"/>
            <a:ext cx="223113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FCAE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FCAE3"/>
                </a:solidFill>
                <a:latin typeface="Calibri"/>
                <a:ea typeface="Calibri"/>
                <a:cs typeface="Calibri"/>
                <a:sym typeface="Calibri"/>
              </a:rPr>
              <a:t>Retreats, festival webcasts, the store, deeper personalisation and international PPP pricing.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489704" y="3886200"/>
            <a:ext cx="164592" cy="228600"/>
          </a:xfrm>
          <a:prstGeom prst="ellipse">
            <a:avLst/>
          </a:prstGeom>
          <a:solidFill>
            <a:srgbClr val="E07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4530852" y="3922776"/>
            <a:ext cx="82296" cy="137160"/>
          </a:xfrm>
          <a:prstGeom prst="ellipse">
            <a:avLst/>
          </a:prstGeom>
          <a:solidFill>
            <a:srgbClr val="E0A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4320540" y="4114800"/>
            <a:ext cx="502920" cy="100584"/>
          </a:xfrm>
          <a:prstGeom prst="ellipse">
            <a:avLst/>
          </a:prstGeom>
          <a:solidFill>
            <a:srgbClr val="C98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4343400" y="4101084"/>
            <a:ext cx="457200" cy="59436"/>
          </a:xfrm>
          <a:prstGeom prst="ellipse">
            <a:avLst/>
          </a:prstGeom>
          <a:solidFill>
            <a:srgbClr val="E0A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603504" y="452628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A94B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E0A94B"/>
                </a:solidFill>
                <a:latin typeface="Calibri"/>
                <a:ea typeface="Calibri"/>
                <a:cs typeface="Calibri"/>
                <a:sym typeface="Calibri"/>
              </a:rPr>
              <a:t>A stress-free, violence-free world — built one practice, and one paying student, at a time.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2026-06-24T05:28:43Z</dcterms:created>
  <dc:creator>Art of Living</dc:creator>
</cp:coreProperties>
</file>