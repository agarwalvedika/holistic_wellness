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76F2BE7-63AF-438E-AF95-449E0C504F6D}">
  <a:tblStyle styleId="{D76F2BE7-63AF-438E-AF95-449E0C504F6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05b079066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f05b079066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 reverent opening. This app is a vehicle for the mission: bring the practices and wisdom to more people, every day. Frame everything that follows as service first.</a:t>
            </a:r>
            <a:endParaRPr/>
          </a:p>
        </p:txBody>
      </p:sp>
      <p:sp>
        <p:nvSpPr>
          <p:cNvPr id="55" name="Google Shape;55;g3f05b079066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05b079066_2_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g3f05b079066_2_1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State goals and assumptions plainly, as the Uber deck does. The honest caveat about directional data builds trust with a leadership audience.</a:t>
            </a:r>
            <a:endParaRPr/>
          </a:p>
        </p:txBody>
      </p:sp>
      <p:sp>
        <p:nvSpPr>
          <p:cNvPr id="71" name="Google Shape;71;g3f05b079066_2_1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05b079066_2_4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g3f05b079066_2_4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Lead with the mission, not the product. The app is the vehicle: more reach, more depth, more people holding a daily practice. Everything downstream serves this.</a:t>
            </a:r>
            <a:endParaRPr/>
          </a:p>
        </p:txBody>
      </p:sp>
      <p:sp>
        <p:nvSpPr>
          <p:cNvPr id="100" name="Google Shape;100;g3f05b079066_2_4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05b079066_2_5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f05b079066_2_5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app adapts to the person. Unlike Uber's three-sided marketplace, AOL is seeker-led; teachers and the Foundation are stakeholders the app amplifies, not a separate market.</a:t>
            </a:r>
            <a:endParaRPr/>
          </a:p>
        </p:txBody>
      </p:sp>
      <p:sp>
        <p:nvSpPr>
          <p:cNvPr id="113" name="Google Shape;113;g3f05b079066_2_5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05b079066_2_7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3f05b079066_2_7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AOL's analog to Uber's named personas. Each carries a concrete pain-point and the single job they want done; the app must serve all six from one adaptive product.</a:t>
            </a:r>
            <a:endParaRPr/>
          </a:p>
        </p:txBody>
      </p:sp>
      <p:sp>
        <p:nvSpPr>
          <p:cNvPr id="133" name="Google Shape;133;g3f05b079066_2_7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f05b079066_2_12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g3f05b079066_2_12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AOL's version of Uber's value chain. The loop is the product's heart: build a daily habit that strengthens itself, because a held habit is both a life touched and the path to everything deeper.</a:t>
            </a:r>
            <a:endParaRPr/>
          </a:p>
        </p:txBody>
      </p:sp>
      <p:sp>
        <p:nvSpPr>
          <p:cNvPr id="183" name="Google Shape;183;g3f05b079066_2_12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05b079066_2_15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g3f05b079066_2_15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app's quiet job is to walk a curious newcomer toward a lasting practice and, when they are ready, a course. Never a hard sell; trust first, always.</a:t>
            </a:r>
            <a:endParaRPr/>
          </a:p>
        </p:txBody>
      </p:sp>
      <p:sp>
        <p:nvSpPr>
          <p:cNvPr id="211" name="Google Shape;211;g3f05b079066_2_15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f05b079066_2_17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3f05b079066_2_17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AOL's analog to Uber's ML pipeline. The intelligence (Sahaj, personalisation) is the enabler that turns a content library into a practice made for you. It is one part of the system, in service of the experience.</a:t>
            </a:r>
            <a:endParaRPr/>
          </a:p>
        </p:txBody>
      </p:sp>
      <p:sp>
        <p:nvSpPr>
          <p:cNvPr id="234" name="Google Shape;234;g3f05b079066_2_17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05b079066_2_20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3f05b079066_2_20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numbered suite, like Uber's. Five human experiences, five intelligence components that quietly power them. The Sahaj caveat matters deeply for a spiritual organisation: it curates and directs, it does not invent spiritual advice.</a:t>
            </a:r>
            <a:endParaRPr/>
          </a:p>
        </p:txBody>
      </p:sp>
      <p:sp>
        <p:nvSpPr>
          <p:cNvPr id="261" name="Google Shape;261;g3f05b079066_2_20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f05b079066_2_24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g3f05b079066_2_24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AOL's version of Uber's impact-chain logic. The chain runs forward (habit creates everything) and backward (revenue funds the free habit and the reach). This is how money serves the mission rather than competing with it.</a:t>
            </a:r>
            <a:endParaRPr/>
          </a:p>
        </p:txBody>
      </p:sp>
      <p:sp>
        <p:nvSpPr>
          <p:cNvPr id="301" name="Google Shape;301;g3f05b079066_2_24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f05b079066_2_26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f05b079066_2_26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Quant + qual folded into one. The right side is the climate (the tailwind and AOL's unique assets); the left is what people actually said. Note the explicit 'don't make it feel like a shop' — that anchors the trust risk later.</a:t>
            </a:r>
            <a:endParaRPr/>
          </a:p>
        </p:txBody>
      </p:sp>
      <p:sp>
        <p:nvSpPr>
          <p:cNvPr id="324" name="Google Shape;324;g3f05b079066_2_26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f05b079066_2_28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g3f05b079066_2_28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Top-left ships first (high value, low effort): the habit loop. Top-right are the big bets that build the ladder (Live, library, courses). Store and heavy gamification wait. Subject to validation with engineering.</a:t>
            </a:r>
            <a:endParaRPr/>
          </a:p>
        </p:txBody>
      </p:sp>
      <p:sp>
        <p:nvSpPr>
          <p:cNvPr id="347" name="Google Shape;347;g3f05b079066_2_28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f05b079066_2_3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g3f05b079066_2_31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Phases by capability and by market, like Uber's U1-&gt;U5. Prove retention in India, build the ladder, then scale globally with region-fair pricing so cost never blocks reach.</a:t>
            </a:r>
            <a:endParaRPr/>
          </a:p>
        </p:txBody>
      </p:sp>
      <p:sp>
        <p:nvSpPr>
          <p:cNvPr id="381" name="Google Shape;381;g3f05b079066_2_31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f05b079066_2_34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g3f05b079066_2_34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North Star honours the mission: a daily practitioner is a life touched and the start of the funnel. The four KPI families let leadership read reach, depth, sustainability and community at a glance.</a:t>
            </a:r>
            <a:endParaRPr/>
          </a:p>
        </p:txBody>
      </p:sp>
      <p:sp>
        <p:nvSpPr>
          <p:cNvPr id="410" name="Google Shape;410;g3f05b079066_2_34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f05b079066_2_36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3f05b079066_2_36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Every claim is a clickable prototype: the adaptive welcome, the daily guide, the breathing practice with its quiet reward, and the course page. The product is real and connected end to end.</a:t>
            </a:r>
            <a:endParaRPr/>
          </a:p>
        </p:txBody>
      </p:sp>
      <p:sp>
        <p:nvSpPr>
          <p:cNvPr id="431" name="Google Shape;431;g3f05b079066_2_36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f05b079066_2_37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g3f05b079066_2_37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Money framed as service. Revenue is the means by which the mission sustains and extends itself. Gifting rides across every rung. The free core is a promise, not a teaser.</a:t>
            </a:r>
            <a:endParaRPr/>
          </a:p>
        </p:txBody>
      </p:sp>
      <p:sp>
        <p:nvSpPr>
          <p:cNvPr id="446" name="Google Shape;446;g3f05b079066_2_37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f05b079066_2_39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g3f05b079066_2_39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Named honestly, with the mitigation beside each. The first two matter most to a spiritual organisation: the app must never feel commercial, and the AI must never presume to be the teacher.</a:t>
            </a:r>
            <a:endParaRPr/>
          </a:p>
        </p:txBody>
      </p:sp>
      <p:sp>
        <p:nvSpPr>
          <p:cNvPr id="458" name="Google Shape;458;g3f05b079066_2_39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f05b079066_2_4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g3f05b079066_2_4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Close with reverence, not a pitch. Restate the mission, show the product as its vehicle, and ask for guidance and blessings to proceed.</a:t>
            </a:r>
            <a:endParaRPr/>
          </a:p>
        </p:txBody>
      </p:sp>
      <p:sp>
        <p:nvSpPr>
          <p:cNvPr id="483" name="Google Shape;483;g3f05b079066_2_4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f05b079066_2_42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g3f05b079066_2_42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g3f05b079066_2_42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f05b079066_2_43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g3f05b079066_2_43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Honest, source-light framing for an internal audience. The key point: AOL serves existing demand and is differentiated by tradition, teachers and Sangha.</a:t>
            </a:r>
            <a:endParaRPr/>
          </a:p>
        </p:txBody>
      </p:sp>
      <p:sp>
        <p:nvSpPr>
          <p:cNvPr id="508" name="Google Shape;508;g3f05b079066_2_43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f05b079066_2_45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g3f05b079066_2_45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wedge: a category of one, built on assets competitors structurally cannot replicate.</a:t>
            </a:r>
            <a:endParaRPr/>
          </a:p>
        </p:txBody>
      </p:sp>
      <p:sp>
        <p:nvSpPr>
          <p:cNvPr id="525" name="Google Shape;525;g3f05b079066_2_45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f05b079066_2_47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8" name="Google Shape;548;g3f05b079066_2_47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Amazon-Prime-style comparison. Free stays meaningful so the app never feels mercenary; Prime and the course discount carry the sustainability.</a:t>
            </a:r>
            <a:endParaRPr/>
          </a:p>
        </p:txBody>
      </p:sp>
      <p:sp>
        <p:nvSpPr>
          <p:cNvPr id="549" name="Google Shape;549;g3f05b079066_2_47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f05b079066_2_49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6" name="Google Shape;566;g3f05b079066_2_49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growth math, mission-framed: revenue rises by deepening practice into courses, and that revenue is what lets the free practice reach the next 100,000.</a:t>
            </a:r>
            <a:endParaRPr/>
          </a:p>
        </p:txBody>
      </p:sp>
      <p:sp>
        <p:nvSpPr>
          <p:cNvPr id="567" name="Google Shape;567;g3f05b079066_2_49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f05b079066_2_51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g3f05b079066_2_51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analog to Uber's catalog pipeline: content + signals flow through ingestion, ML enrichment and an intelligence layer into the five experiences, with a measurement-and-feedback loop. Sahaj retrieval is grounded in the authentic corpus by design.</a:t>
            </a:r>
            <a:endParaRPr/>
          </a:p>
        </p:txBody>
      </p:sp>
      <p:sp>
        <p:nvSpPr>
          <p:cNvPr id="591" name="Google Shape;591;g3f05b079066_2_51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f05b079066_2_57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g3f05b079066_2_57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numbered version mapped to the product suite — Uber's value-effort treatment. Numbers match the legend; quadrant colour shows the call.</a:t>
            </a:r>
            <a:endParaRPr/>
          </a:p>
        </p:txBody>
      </p:sp>
      <p:sp>
        <p:nvSpPr>
          <p:cNvPr id="653" name="Google Shape;653;g3f05b079066_2_57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f05b079066_2_63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g3f05b079066_2_63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Uber's U1-&gt;U5 roadmap recast as AOL workstreams across the three phases. Phase 1 proves the habit in India; Phase 2 builds the ladder; Phase 3 scales globally with region-fair pricing.</a:t>
            </a:r>
            <a:endParaRPr/>
          </a:p>
        </p:txBody>
      </p:sp>
      <p:sp>
        <p:nvSpPr>
          <p:cNvPr id="710" name="Google Shape;710;g3f05b079066_2_63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B45"/>
        </a:solidFill>
      </p:bgPr>
    </p:bg>
    <p:spTree>
      <p:nvGrpSpPr>
        <p:cNvPr id="56" name="Shape 56"/>
        <p:cNvGrpSpPr/>
        <p:nvPr/>
      </p:nvGrpSpPr>
      <p:grpSpPr>
        <a:xfrm>
          <a:off x="0" y="0"/>
          <a:ext cx="0" cy="0"/>
          <a:chOff x="0" y="0"/>
          <a:chExt cx="0" cy="0"/>
        </a:xfrm>
      </p:grpSpPr>
      <p:sp>
        <p:nvSpPr>
          <p:cNvPr id="57" name="Google Shape;57;p15"/>
          <p:cNvSpPr/>
          <p:nvPr/>
        </p:nvSpPr>
        <p:spPr>
          <a:xfrm>
            <a:off x="6126480" y="-1463040"/>
            <a:ext cx="4572000" cy="4572000"/>
          </a:xfrm>
          <a:prstGeom prst="ellipse">
            <a:avLst/>
          </a:prstGeom>
          <a:solidFill>
            <a:srgbClr val="2B25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5"/>
          <p:cNvSpPr/>
          <p:nvPr/>
        </p:nvSpPr>
        <p:spPr>
          <a:xfrm>
            <a:off x="6949440" y="-731520"/>
            <a:ext cx="2743200" cy="2743200"/>
          </a:xfrm>
          <a:prstGeom prst="ellipse">
            <a:avLst/>
          </a:prstGeom>
          <a:solidFill>
            <a:srgbClr val="32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5"/>
          <p:cNvSpPr/>
          <p:nvPr/>
        </p:nvSpPr>
        <p:spPr>
          <a:xfrm>
            <a:off x="795528" y="731520"/>
            <a:ext cx="329184" cy="457200"/>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5"/>
          <p:cNvSpPr/>
          <p:nvPr/>
        </p:nvSpPr>
        <p:spPr>
          <a:xfrm>
            <a:off x="877824" y="804672"/>
            <a:ext cx="164592" cy="274320"/>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5"/>
          <p:cNvSpPr/>
          <p:nvPr/>
        </p:nvSpPr>
        <p:spPr>
          <a:xfrm>
            <a:off x="457200" y="1188720"/>
            <a:ext cx="1005840" cy="201168"/>
          </a:xfrm>
          <a:prstGeom prst="ellipse">
            <a:avLst/>
          </a:prstGeom>
          <a:solidFill>
            <a:srgbClr val="C989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5"/>
          <p:cNvSpPr/>
          <p:nvPr/>
        </p:nvSpPr>
        <p:spPr>
          <a:xfrm>
            <a:off x="502920" y="1161288"/>
            <a:ext cx="914400" cy="118872"/>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5"/>
          <p:cNvSpPr/>
          <p:nvPr/>
        </p:nvSpPr>
        <p:spPr>
          <a:xfrm>
            <a:off x="640080" y="13716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A94B"/>
              </a:buClr>
              <a:buSzPts val="1150"/>
              <a:buFont typeface="Calibri"/>
              <a:buNone/>
            </a:pPr>
            <a:r>
              <a:rPr b="1" i="0" lang="en" sz="1150" u="none" cap="none" strike="noStrike">
                <a:solidFill>
                  <a:srgbClr val="E0A94B"/>
                </a:solidFill>
                <a:latin typeface="Calibri"/>
                <a:ea typeface="Calibri"/>
                <a:cs typeface="Calibri"/>
                <a:sym typeface="Calibri"/>
              </a:rPr>
              <a:t>PRODUCT STRATEGY &amp; ROADMAP</a:t>
            </a:r>
            <a:endParaRPr b="0" i="0" sz="1150" u="none" cap="none" strike="noStrike">
              <a:solidFill>
                <a:schemeClr val="dk1"/>
              </a:solidFill>
              <a:latin typeface="Calibri"/>
              <a:ea typeface="Calibri"/>
              <a:cs typeface="Calibri"/>
              <a:sym typeface="Calibri"/>
            </a:endParaRPr>
          </a:p>
        </p:txBody>
      </p:sp>
      <p:sp>
        <p:nvSpPr>
          <p:cNvPr id="64" name="Google Shape;64;p15"/>
          <p:cNvSpPr/>
          <p:nvPr/>
        </p:nvSpPr>
        <p:spPr>
          <a:xfrm>
            <a:off x="603504" y="1691640"/>
            <a:ext cx="58521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600"/>
              <a:buFont typeface="Cambria"/>
              <a:buNone/>
            </a:pPr>
            <a:r>
              <a:rPr b="1" i="0" lang="en" sz="4600" u="none" cap="none" strike="noStrike">
                <a:solidFill>
                  <a:srgbClr val="FFFFFF"/>
                </a:solidFill>
                <a:latin typeface="Cambria"/>
                <a:ea typeface="Cambria"/>
                <a:cs typeface="Cambria"/>
                <a:sym typeface="Cambria"/>
              </a:rPr>
              <a:t>The Art of Living App</a:t>
            </a:r>
            <a:endParaRPr b="0" i="0" sz="4600" u="none" cap="none" strike="noStrike">
              <a:solidFill>
                <a:schemeClr val="dk1"/>
              </a:solidFill>
              <a:latin typeface="Calibri"/>
              <a:ea typeface="Calibri"/>
              <a:cs typeface="Calibri"/>
              <a:sym typeface="Calibri"/>
            </a:endParaRPr>
          </a:p>
        </p:txBody>
      </p:sp>
      <p:sp>
        <p:nvSpPr>
          <p:cNvPr id="65" name="Google Shape;65;p15"/>
          <p:cNvSpPr/>
          <p:nvPr/>
        </p:nvSpPr>
        <p:spPr>
          <a:xfrm>
            <a:off x="640080" y="2697480"/>
            <a:ext cx="5212080" cy="914400"/>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CFCAE3"/>
              </a:buClr>
              <a:buSzPts val="1700"/>
              <a:buFont typeface="Cambria"/>
              <a:buNone/>
            </a:pPr>
            <a:r>
              <a:rPr b="0" i="1" lang="en" sz="1700" u="none" cap="none" strike="noStrike">
                <a:solidFill>
                  <a:srgbClr val="CFCAE3"/>
                </a:solidFill>
                <a:latin typeface="Cambria"/>
                <a:ea typeface="Cambria"/>
                <a:cs typeface="Cambria"/>
                <a:sym typeface="Cambria"/>
              </a:rPr>
              <a:t>Carrying Gurudev’s wisdom and practices to more people — a daily moment of calm, for a stress-free, violence-free world.</a:t>
            </a:r>
            <a:endParaRPr b="0" i="0" sz="1700" u="none" cap="none" strike="noStrike">
              <a:solidFill>
                <a:schemeClr val="dk1"/>
              </a:solidFill>
              <a:latin typeface="Calibri"/>
              <a:ea typeface="Calibri"/>
              <a:cs typeface="Calibri"/>
              <a:sym typeface="Calibri"/>
            </a:endParaRPr>
          </a:p>
        </p:txBody>
      </p:sp>
      <p:sp>
        <p:nvSpPr>
          <p:cNvPr id="66" name="Google Shape;66;p15"/>
          <p:cNvSpPr/>
          <p:nvPr/>
        </p:nvSpPr>
        <p:spPr>
          <a:xfrm>
            <a:off x="640080" y="4160520"/>
            <a:ext cx="5029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A94B"/>
              </a:buClr>
              <a:buSzPts val="1300"/>
              <a:buFont typeface="Calibri"/>
              <a:buNone/>
            </a:pPr>
            <a:r>
              <a:rPr b="1" i="0" lang="en" sz="1300" u="none" cap="none" strike="noStrike">
                <a:solidFill>
                  <a:srgbClr val="E0A94B"/>
                </a:solidFill>
                <a:latin typeface="Calibri"/>
                <a:ea typeface="Calibri"/>
                <a:cs typeface="Calibri"/>
                <a:sym typeface="Calibri"/>
              </a:rPr>
              <a:t>Prepared for Gurudev &amp; his office</a:t>
            </a:r>
            <a:endParaRPr b="0" i="0" sz="1300" u="none" cap="none" strike="noStrike">
              <a:solidFill>
                <a:schemeClr val="dk1"/>
              </a:solidFill>
              <a:latin typeface="Calibri"/>
              <a:ea typeface="Calibri"/>
              <a:cs typeface="Calibri"/>
              <a:sym typeface="Calibri"/>
            </a:endParaRPr>
          </a:p>
        </p:txBody>
      </p:sp>
      <p:pic>
        <p:nvPicPr>
          <p:cNvPr descr="shots/today.png" id="67" name="Google Shape;67;p15"/>
          <p:cNvPicPr preferRelativeResize="0"/>
          <p:nvPr/>
        </p:nvPicPr>
        <p:blipFill rotWithShape="1">
          <a:blip r:embed="rId3">
            <a:alphaModFix/>
          </a:blip>
          <a:srcRect b="0" l="0" r="0" t="0"/>
          <a:stretch/>
        </p:blipFill>
        <p:spPr>
          <a:xfrm>
            <a:off x="6400800" y="502920"/>
            <a:ext cx="2054060" cy="416052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 name="Shape 72"/>
        <p:cNvGrpSpPr/>
        <p:nvPr/>
      </p:nvGrpSpPr>
      <p:grpSpPr>
        <a:xfrm>
          <a:off x="0" y="0"/>
          <a:ext cx="0" cy="0"/>
          <a:chOff x="0" y="0"/>
          <a:chExt cx="0" cy="0"/>
        </a:xfrm>
      </p:grpSpPr>
      <p:sp>
        <p:nvSpPr>
          <p:cNvPr id="73" name="Google Shape;73;p16"/>
          <p:cNvSpPr/>
          <p:nvPr/>
        </p:nvSpPr>
        <p:spPr>
          <a:xfrm>
            <a:off x="548640" y="45720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AGENDA</a:t>
            </a:r>
            <a:endParaRPr b="0" i="0" sz="1100" u="none" cap="none" strike="noStrike">
              <a:solidFill>
                <a:schemeClr val="dk1"/>
              </a:solidFill>
              <a:latin typeface="Calibri"/>
              <a:ea typeface="Calibri"/>
              <a:cs typeface="Calibri"/>
              <a:sym typeface="Calibri"/>
            </a:endParaRPr>
          </a:p>
        </p:txBody>
      </p:sp>
      <p:sp>
        <p:nvSpPr>
          <p:cNvPr id="74" name="Google Shape;74;p16"/>
          <p:cNvSpPr/>
          <p:nvPr/>
        </p:nvSpPr>
        <p:spPr>
          <a:xfrm>
            <a:off x="512064" y="74980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3000"/>
              <a:buFont typeface="Cambria"/>
              <a:buNone/>
            </a:pPr>
            <a:r>
              <a:rPr b="1" i="0" lang="en" sz="3000" u="none" cap="none" strike="noStrike">
                <a:solidFill>
                  <a:srgbClr val="211B45"/>
                </a:solidFill>
                <a:latin typeface="Cambria"/>
                <a:ea typeface="Cambria"/>
                <a:cs typeface="Cambria"/>
                <a:sym typeface="Cambria"/>
              </a:rPr>
              <a:t>What we’ll walk through</a:t>
            </a:r>
            <a:endParaRPr b="0" i="0" sz="3000" u="none" cap="none" strike="noStrike">
              <a:solidFill>
                <a:schemeClr val="dk1"/>
              </a:solidFill>
              <a:latin typeface="Calibri"/>
              <a:ea typeface="Calibri"/>
              <a:cs typeface="Calibri"/>
              <a:sym typeface="Calibri"/>
            </a:endParaRPr>
          </a:p>
        </p:txBody>
      </p:sp>
      <p:sp>
        <p:nvSpPr>
          <p:cNvPr id="75" name="Google Shape;75;p16"/>
          <p:cNvSpPr/>
          <p:nvPr/>
        </p:nvSpPr>
        <p:spPr>
          <a:xfrm>
            <a:off x="566928" y="1636776"/>
            <a:ext cx="118872" cy="118872"/>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p:nvPr/>
        </p:nvSpPr>
        <p:spPr>
          <a:xfrm>
            <a:off x="868680" y="1545336"/>
            <a:ext cx="44805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0" i="0" lang="en" sz="1350" u="none" cap="none" strike="noStrike">
                <a:solidFill>
                  <a:srgbClr val="211B45"/>
                </a:solidFill>
                <a:latin typeface="Calibri"/>
                <a:ea typeface="Calibri"/>
                <a:cs typeface="Calibri"/>
                <a:sym typeface="Calibri"/>
              </a:rPr>
              <a:t>Our mission — and the people we serve</a:t>
            </a:r>
            <a:endParaRPr b="0" i="0" sz="1350" u="none" cap="none" strike="noStrike">
              <a:solidFill>
                <a:schemeClr val="dk1"/>
              </a:solidFill>
              <a:latin typeface="Calibri"/>
              <a:ea typeface="Calibri"/>
              <a:cs typeface="Calibri"/>
              <a:sym typeface="Calibri"/>
            </a:endParaRPr>
          </a:p>
        </p:txBody>
      </p:sp>
      <p:sp>
        <p:nvSpPr>
          <p:cNvPr id="77" name="Google Shape;77;p16"/>
          <p:cNvSpPr/>
          <p:nvPr/>
        </p:nvSpPr>
        <p:spPr>
          <a:xfrm>
            <a:off x="566928" y="2029968"/>
            <a:ext cx="118872" cy="118872"/>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6"/>
          <p:cNvSpPr/>
          <p:nvPr/>
        </p:nvSpPr>
        <p:spPr>
          <a:xfrm>
            <a:off x="868680" y="1938528"/>
            <a:ext cx="44805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0" i="0" lang="en" sz="1350" u="none" cap="none" strike="noStrike">
                <a:solidFill>
                  <a:srgbClr val="211B45"/>
                </a:solidFill>
                <a:latin typeface="Calibri"/>
                <a:ea typeface="Calibri"/>
                <a:cs typeface="Calibri"/>
                <a:sym typeface="Calibri"/>
              </a:rPr>
              <a:t>The core idea: a daily flywheel</a:t>
            </a:r>
            <a:endParaRPr b="0" i="0" sz="1350" u="none" cap="none" strike="noStrike">
              <a:solidFill>
                <a:schemeClr val="dk1"/>
              </a:solidFill>
              <a:latin typeface="Calibri"/>
              <a:ea typeface="Calibri"/>
              <a:cs typeface="Calibri"/>
              <a:sym typeface="Calibri"/>
            </a:endParaRPr>
          </a:p>
        </p:txBody>
      </p:sp>
      <p:sp>
        <p:nvSpPr>
          <p:cNvPr id="79" name="Google Shape;79;p16"/>
          <p:cNvSpPr/>
          <p:nvPr/>
        </p:nvSpPr>
        <p:spPr>
          <a:xfrm>
            <a:off x="566928" y="2423160"/>
            <a:ext cx="118872" cy="118872"/>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868680" y="2331720"/>
            <a:ext cx="44805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0" i="0" lang="en" sz="1350" u="none" cap="none" strike="noStrike">
                <a:solidFill>
                  <a:srgbClr val="211B45"/>
                </a:solidFill>
                <a:latin typeface="Calibri"/>
                <a:ea typeface="Calibri"/>
                <a:cs typeface="Calibri"/>
                <a:sym typeface="Calibri"/>
              </a:rPr>
              <a:t>From a free habit to a lifelong practitioner</a:t>
            </a:r>
            <a:endParaRPr b="0" i="0" sz="1350" u="none" cap="none" strike="noStrike">
              <a:solidFill>
                <a:schemeClr val="dk1"/>
              </a:solidFill>
              <a:latin typeface="Calibri"/>
              <a:ea typeface="Calibri"/>
              <a:cs typeface="Calibri"/>
              <a:sym typeface="Calibri"/>
            </a:endParaRPr>
          </a:p>
        </p:txBody>
      </p:sp>
      <p:sp>
        <p:nvSpPr>
          <p:cNvPr id="81" name="Google Shape;81;p16"/>
          <p:cNvSpPr/>
          <p:nvPr/>
        </p:nvSpPr>
        <p:spPr>
          <a:xfrm>
            <a:off x="566928" y="2816352"/>
            <a:ext cx="118872" cy="118872"/>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p:nvPr/>
        </p:nvSpPr>
        <p:spPr>
          <a:xfrm>
            <a:off x="868680" y="2724912"/>
            <a:ext cx="44805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0" i="0" lang="en" sz="1350" u="none" cap="none" strike="noStrike">
                <a:solidFill>
                  <a:srgbClr val="211B45"/>
                </a:solidFill>
                <a:latin typeface="Calibri"/>
                <a:ea typeface="Calibri"/>
                <a:cs typeface="Calibri"/>
                <a:sym typeface="Calibri"/>
              </a:rPr>
              <a:t>The app, end to end — and the intelligence behind it</a:t>
            </a:r>
            <a:endParaRPr b="0" i="0" sz="1350" u="none" cap="none" strike="noStrike">
              <a:solidFill>
                <a:schemeClr val="dk1"/>
              </a:solidFill>
              <a:latin typeface="Calibri"/>
              <a:ea typeface="Calibri"/>
              <a:cs typeface="Calibri"/>
              <a:sym typeface="Calibri"/>
            </a:endParaRPr>
          </a:p>
        </p:txBody>
      </p:sp>
      <p:sp>
        <p:nvSpPr>
          <p:cNvPr id="83" name="Google Shape;83;p16"/>
          <p:cNvSpPr/>
          <p:nvPr/>
        </p:nvSpPr>
        <p:spPr>
          <a:xfrm>
            <a:off x="566928" y="3209544"/>
            <a:ext cx="118872" cy="118872"/>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p:nvPr/>
        </p:nvSpPr>
        <p:spPr>
          <a:xfrm>
            <a:off x="868680" y="3118104"/>
            <a:ext cx="44805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0" i="0" lang="en" sz="1350" u="none" cap="none" strike="noStrike">
                <a:solidFill>
                  <a:srgbClr val="211B45"/>
                </a:solidFill>
                <a:latin typeface="Calibri"/>
                <a:ea typeface="Calibri"/>
                <a:cs typeface="Calibri"/>
                <a:sym typeface="Calibri"/>
              </a:rPr>
              <a:t>What we build first, and why</a:t>
            </a:r>
            <a:endParaRPr b="0" i="0" sz="1350" u="none" cap="none" strike="noStrike">
              <a:solidFill>
                <a:schemeClr val="dk1"/>
              </a:solidFill>
              <a:latin typeface="Calibri"/>
              <a:ea typeface="Calibri"/>
              <a:cs typeface="Calibri"/>
              <a:sym typeface="Calibri"/>
            </a:endParaRPr>
          </a:p>
        </p:txBody>
      </p:sp>
      <p:sp>
        <p:nvSpPr>
          <p:cNvPr id="85" name="Google Shape;85;p16"/>
          <p:cNvSpPr/>
          <p:nvPr/>
        </p:nvSpPr>
        <p:spPr>
          <a:xfrm>
            <a:off x="566928" y="3602736"/>
            <a:ext cx="118872" cy="118872"/>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p:nvPr/>
        </p:nvSpPr>
        <p:spPr>
          <a:xfrm>
            <a:off x="868680" y="3511296"/>
            <a:ext cx="44805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0" i="0" lang="en" sz="1350" u="none" cap="none" strike="noStrike">
                <a:solidFill>
                  <a:srgbClr val="211B45"/>
                </a:solidFill>
                <a:latin typeface="Calibri"/>
                <a:ea typeface="Calibri"/>
                <a:cs typeface="Calibri"/>
                <a:sym typeface="Calibri"/>
              </a:rPr>
              <a:t>What people told us — research</a:t>
            </a:r>
            <a:endParaRPr b="0" i="0" sz="1350" u="none" cap="none" strike="noStrike">
              <a:solidFill>
                <a:schemeClr val="dk1"/>
              </a:solidFill>
              <a:latin typeface="Calibri"/>
              <a:ea typeface="Calibri"/>
              <a:cs typeface="Calibri"/>
              <a:sym typeface="Calibri"/>
            </a:endParaRPr>
          </a:p>
        </p:txBody>
      </p:sp>
      <p:sp>
        <p:nvSpPr>
          <p:cNvPr id="87" name="Google Shape;87;p16"/>
          <p:cNvSpPr/>
          <p:nvPr/>
        </p:nvSpPr>
        <p:spPr>
          <a:xfrm>
            <a:off x="566928" y="3995928"/>
            <a:ext cx="118872" cy="118872"/>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p:nvPr/>
        </p:nvSpPr>
        <p:spPr>
          <a:xfrm>
            <a:off x="868680" y="3904488"/>
            <a:ext cx="44805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0" i="0" lang="en" sz="1350" u="none" cap="none" strike="noStrike">
                <a:solidFill>
                  <a:srgbClr val="211B45"/>
                </a:solidFill>
                <a:latin typeface="Calibri"/>
                <a:ea typeface="Calibri"/>
                <a:cs typeface="Calibri"/>
                <a:sym typeface="Calibri"/>
              </a:rPr>
              <a:t>Priorities, roadmap &amp; how we measure success</a:t>
            </a:r>
            <a:endParaRPr b="0" i="0" sz="1350" u="none" cap="none" strike="noStrike">
              <a:solidFill>
                <a:schemeClr val="dk1"/>
              </a:solidFill>
              <a:latin typeface="Calibri"/>
              <a:ea typeface="Calibri"/>
              <a:cs typeface="Calibri"/>
              <a:sym typeface="Calibri"/>
            </a:endParaRPr>
          </a:p>
        </p:txBody>
      </p:sp>
      <p:sp>
        <p:nvSpPr>
          <p:cNvPr id="89" name="Google Shape;89;p16"/>
          <p:cNvSpPr/>
          <p:nvPr/>
        </p:nvSpPr>
        <p:spPr>
          <a:xfrm>
            <a:off x="566928" y="4389120"/>
            <a:ext cx="118872" cy="118872"/>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p:nvPr/>
        </p:nvSpPr>
        <p:spPr>
          <a:xfrm>
            <a:off x="868680" y="4297680"/>
            <a:ext cx="44805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0" i="0" lang="en" sz="1350" u="none" cap="none" strike="noStrike">
                <a:solidFill>
                  <a:srgbClr val="211B45"/>
                </a:solidFill>
                <a:latin typeface="Calibri"/>
                <a:ea typeface="Calibri"/>
                <a:cs typeface="Calibri"/>
                <a:sym typeface="Calibri"/>
              </a:rPr>
              <a:t>Sustaining the mission — and the risks we hold</a:t>
            </a:r>
            <a:endParaRPr b="0" i="0" sz="1350" u="none" cap="none" strike="noStrike">
              <a:solidFill>
                <a:schemeClr val="dk1"/>
              </a:solidFill>
              <a:latin typeface="Calibri"/>
              <a:ea typeface="Calibri"/>
              <a:cs typeface="Calibri"/>
              <a:sym typeface="Calibri"/>
            </a:endParaRPr>
          </a:p>
        </p:txBody>
      </p:sp>
      <p:sp>
        <p:nvSpPr>
          <p:cNvPr id="91" name="Google Shape;91;p16"/>
          <p:cNvSpPr/>
          <p:nvPr/>
        </p:nvSpPr>
        <p:spPr>
          <a:xfrm>
            <a:off x="5715000" y="1600200"/>
            <a:ext cx="2880360" cy="1417320"/>
          </a:xfrm>
          <a:prstGeom prst="roundRect">
            <a:avLst>
              <a:gd fmla="val 7742" name="adj"/>
            </a:avLst>
          </a:prstGeom>
          <a:solidFill>
            <a:srgbClr val="FBF6EE"/>
          </a:solidFill>
          <a:ln cap="flat" cmpd="sng" w="12700">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p:nvPr/>
        </p:nvSpPr>
        <p:spPr>
          <a:xfrm>
            <a:off x="5897880" y="1737360"/>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200"/>
              <a:buFont typeface="Calibri"/>
              <a:buNone/>
            </a:pPr>
            <a:r>
              <a:rPr b="1" i="0" lang="en" sz="1200" u="none" cap="none" strike="noStrike">
                <a:solidFill>
                  <a:srgbClr val="A8530F"/>
                </a:solidFill>
                <a:latin typeface="Calibri"/>
                <a:ea typeface="Calibri"/>
                <a:cs typeface="Calibri"/>
                <a:sym typeface="Calibri"/>
              </a:rPr>
              <a:t>GOALS</a:t>
            </a:r>
            <a:endParaRPr b="0" i="0" sz="1200" u="none" cap="none" strike="noStrike">
              <a:solidFill>
                <a:schemeClr val="dk1"/>
              </a:solidFill>
              <a:latin typeface="Calibri"/>
              <a:ea typeface="Calibri"/>
              <a:cs typeface="Calibri"/>
              <a:sym typeface="Calibri"/>
            </a:endParaRPr>
          </a:p>
        </p:txBody>
      </p:sp>
      <p:sp>
        <p:nvSpPr>
          <p:cNvPr id="93" name="Google Shape;93;p16"/>
          <p:cNvSpPr/>
          <p:nvPr/>
        </p:nvSpPr>
        <p:spPr>
          <a:xfrm>
            <a:off x="5897880" y="2057400"/>
            <a:ext cx="2606040" cy="914400"/>
          </a:xfrm>
          <a:prstGeom prst="rect">
            <a:avLst/>
          </a:prstGeom>
          <a:noFill/>
          <a:ln>
            <a:noFill/>
          </a:ln>
        </p:spPr>
        <p:txBody>
          <a:bodyPr anchorCtr="0" anchor="ctr" bIns="0" lIns="0" spcFirstLastPara="1" rIns="0" wrap="square" tIns="0">
            <a:noAutofit/>
          </a:bodyPr>
          <a:lstStyle/>
          <a:p>
            <a:pPr indent="-127000" lvl="0" marL="127000" marR="0" rtl="0" algn="l">
              <a:lnSpc>
                <a:spcPct val="98000"/>
              </a:lnSpc>
              <a:spcBef>
                <a:spcPts val="0"/>
              </a:spcBef>
              <a:spcAft>
                <a:spcPts val="0"/>
              </a:spcAft>
              <a:buClr>
                <a:srgbClr val="5C5680"/>
              </a:buClr>
              <a:buSzPts val="1050"/>
              <a:buFont typeface="Calibri"/>
              <a:buChar char="•"/>
            </a:pPr>
            <a:r>
              <a:rPr b="0" i="0" lang="en" sz="1050" u="none" cap="none" strike="noStrike">
                <a:solidFill>
                  <a:srgbClr val="5C5680"/>
                </a:solidFill>
                <a:latin typeface="Calibri"/>
                <a:ea typeface="Calibri"/>
                <a:cs typeface="Calibri"/>
                <a:sym typeface="Calibri"/>
              </a:rPr>
              <a:t>Share the strategy &amp; the roadmap</a:t>
            </a:r>
            <a:endParaRPr b="0" i="0" sz="1050" u="none" cap="none" strike="noStrike">
              <a:solidFill>
                <a:schemeClr val="dk1"/>
              </a:solidFill>
              <a:latin typeface="Calibri"/>
              <a:ea typeface="Calibri"/>
              <a:cs typeface="Calibri"/>
              <a:sym typeface="Calibri"/>
            </a:endParaRPr>
          </a:p>
          <a:p>
            <a:pPr indent="-127000" lvl="0" marL="127000" marR="0" rtl="0" algn="l">
              <a:lnSpc>
                <a:spcPct val="98000"/>
              </a:lnSpc>
              <a:spcBef>
                <a:spcPts val="300"/>
              </a:spcBef>
              <a:spcAft>
                <a:spcPts val="0"/>
              </a:spcAft>
              <a:buClr>
                <a:srgbClr val="5C5680"/>
              </a:buClr>
              <a:buSzPts val="1050"/>
              <a:buFont typeface="Calibri"/>
              <a:buChar char="•"/>
            </a:pPr>
            <a:r>
              <a:rPr b="0" i="0" lang="en" sz="1050" u="none" cap="none" strike="noStrike">
                <a:solidFill>
                  <a:srgbClr val="5C5680"/>
                </a:solidFill>
                <a:latin typeface="Calibri"/>
                <a:ea typeface="Calibri"/>
                <a:cs typeface="Calibri"/>
                <a:sym typeface="Calibri"/>
              </a:rPr>
              <a:t>Invite Gurudev’s guidance, and iterate</a:t>
            </a:r>
            <a:endParaRPr b="0" i="0" sz="1050" u="none" cap="none" strike="noStrike">
              <a:solidFill>
                <a:schemeClr val="dk1"/>
              </a:solidFill>
              <a:latin typeface="Calibri"/>
              <a:ea typeface="Calibri"/>
              <a:cs typeface="Calibri"/>
              <a:sym typeface="Calibri"/>
            </a:endParaRPr>
          </a:p>
        </p:txBody>
      </p:sp>
      <p:sp>
        <p:nvSpPr>
          <p:cNvPr id="94" name="Google Shape;94;p16"/>
          <p:cNvSpPr/>
          <p:nvPr/>
        </p:nvSpPr>
        <p:spPr>
          <a:xfrm>
            <a:off x="5715000" y="3154680"/>
            <a:ext cx="2880360" cy="1554480"/>
          </a:xfrm>
          <a:prstGeom prst="roundRect">
            <a:avLst>
              <a:gd fmla="val 7059" name="adj"/>
            </a:avLst>
          </a:prstGeom>
          <a:solidFill>
            <a:srgbClr val="FBF6EE"/>
          </a:solidFill>
          <a:ln cap="flat" cmpd="sng" w="12700">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6"/>
          <p:cNvSpPr/>
          <p:nvPr/>
        </p:nvSpPr>
        <p:spPr>
          <a:xfrm>
            <a:off x="5897880" y="3291840"/>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C4D"/>
              </a:buClr>
              <a:buSzPts val="1200"/>
              <a:buFont typeface="Calibri"/>
              <a:buNone/>
            </a:pPr>
            <a:r>
              <a:rPr b="1" i="0" lang="en" sz="1200" u="none" cap="none" strike="noStrike">
                <a:solidFill>
                  <a:srgbClr val="2F5C4D"/>
                </a:solidFill>
                <a:latin typeface="Calibri"/>
                <a:ea typeface="Calibri"/>
                <a:cs typeface="Calibri"/>
                <a:sym typeface="Calibri"/>
              </a:rPr>
              <a:t>ASSUMPTIONS</a:t>
            </a:r>
            <a:endParaRPr b="0" i="0" sz="1200" u="none" cap="none" strike="noStrike">
              <a:solidFill>
                <a:schemeClr val="dk1"/>
              </a:solidFill>
              <a:latin typeface="Calibri"/>
              <a:ea typeface="Calibri"/>
              <a:cs typeface="Calibri"/>
              <a:sym typeface="Calibri"/>
            </a:endParaRPr>
          </a:p>
        </p:txBody>
      </p:sp>
      <p:sp>
        <p:nvSpPr>
          <p:cNvPr id="96" name="Google Shape;96;p16"/>
          <p:cNvSpPr/>
          <p:nvPr/>
        </p:nvSpPr>
        <p:spPr>
          <a:xfrm>
            <a:off x="5897880" y="3611880"/>
            <a:ext cx="2606040" cy="1005840"/>
          </a:xfrm>
          <a:prstGeom prst="rect">
            <a:avLst/>
          </a:prstGeom>
          <a:noFill/>
          <a:ln>
            <a:noFill/>
          </a:ln>
        </p:spPr>
        <p:txBody>
          <a:bodyPr anchorCtr="0" anchor="ctr" bIns="0" lIns="0" spcFirstLastPara="1" rIns="0" wrap="square" tIns="0">
            <a:noAutofit/>
          </a:bodyPr>
          <a:lstStyle/>
          <a:p>
            <a:pPr indent="-127000" lvl="0" marL="127000" marR="0" rtl="0" algn="l">
              <a:lnSpc>
                <a:spcPct val="98000"/>
              </a:lnSpc>
              <a:spcBef>
                <a:spcPts val="0"/>
              </a:spcBef>
              <a:spcAft>
                <a:spcPts val="0"/>
              </a:spcAft>
              <a:buClr>
                <a:srgbClr val="5C5680"/>
              </a:buClr>
              <a:buSzPts val="1050"/>
              <a:buFont typeface="Calibri"/>
              <a:buChar char="•"/>
            </a:pPr>
            <a:r>
              <a:rPr b="0" i="0" lang="en" sz="1050" u="none" cap="none" strike="noStrike">
                <a:solidFill>
                  <a:srgbClr val="5C5680"/>
                </a:solidFill>
                <a:latin typeface="Calibri"/>
                <a:ea typeface="Calibri"/>
                <a:cs typeface="Calibri"/>
                <a:sym typeface="Calibri"/>
              </a:rPr>
              <a:t>Built on today’s base: 110k monthly users, ~27.5k subscribers, present in 182 countries</a:t>
            </a:r>
            <a:endParaRPr b="0" i="0" sz="1050" u="none" cap="none" strike="noStrike">
              <a:solidFill>
                <a:schemeClr val="dk1"/>
              </a:solidFill>
              <a:latin typeface="Calibri"/>
              <a:ea typeface="Calibri"/>
              <a:cs typeface="Calibri"/>
              <a:sym typeface="Calibri"/>
            </a:endParaRPr>
          </a:p>
          <a:p>
            <a:pPr indent="-127000" lvl="0" marL="127000" marR="0" rtl="0" algn="l">
              <a:lnSpc>
                <a:spcPct val="98000"/>
              </a:lnSpc>
              <a:spcBef>
                <a:spcPts val="400"/>
              </a:spcBef>
              <a:spcAft>
                <a:spcPts val="0"/>
              </a:spcAft>
              <a:buClr>
                <a:srgbClr val="5C5680"/>
              </a:buClr>
              <a:buSzPts val="1050"/>
              <a:buFont typeface="Calibri"/>
              <a:buChar char="•"/>
            </a:pPr>
            <a:r>
              <a:rPr b="0" i="0" lang="en" sz="1050" u="none" cap="none" strike="noStrike">
                <a:solidFill>
                  <a:srgbClr val="5C5680"/>
                </a:solidFill>
                <a:latin typeface="Calibri"/>
                <a:ea typeface="Calibri"/>
                <a:cs typeface="Calibri"/>
                <a:sym typeface="Calibri"/>
              </a:rPr>
              <a:t>A capable team is in place</a:t>
            </a:r>
            <a:endParaRPr b="0" i="0" sz="1050" u="none" cap="none" strike="noStrike">
              <a:solidFill>
                <a:schemeClr val="dk1"/>
              </a:solidFill>
              <a:latin typeface="Calibri"/>
              <a:ea typeface="Calibri"/>
              <a:cs typeface="Calibri"/>
              <a:sym typeface="Calibri"/>
            </a:endParaRPr>
          </a:p>
          <a:p>
            <a:pPr indent="-127000" lvl="0" marL="127000" marR="0" rtl="0" algn="l">
              <a:lnSpc>
                <a:spcPct val="98000"/>
              </a:lnSpc>
              <a:spcBef>
                <a:spcPts val="400"/>
              </a:spcBef>
              <a:spcAft>
                <a:spcPts val="0"/>
              </a:spcAft>
              <a:buClr>
                <a:srgbClr val="5C5680"/>
              </a:buClr>
              <a:buSzPts val="1050"/>
              <a:buFont typeface="Calibri"/>
              <a:buChar char="•"/>
            </a:pPr>
            <a:r>
              <a:rPr b="0" i="0" lang="en" sz="1050" u="none" cap="none" strike="noStrike">
                <a:solidFill>
                  <a:srgbClr val="5C5680"/>
                </a:solidFill>
                <a:latin typeface="Calibri"/>
                <a:ea typeface="Calibri"/>
                <a:cs typeface="Calibri"/>
                <a:sym typeface="Calibri"/>
              </a:rPr>
              <a:t>Market &amp; survey inputs are directional, not exhaustive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17"/>
          <p:cNvSpPr/>
          <p:nvPr/>
        </p:nvSpPr>
        <p:spPr>
          <a:xfrm>
            <a:off x="0" y="0"/>
            <a:ext cx="9144000" cy="5143500"/>
          </a:xfrm>
          <a:prstGeom prst="rect">
            <a:avLst/>
          </a:prstGeom>
          <a:solidFill>
            <a:srgbClr val="FBF6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7"/>
          <p:cNvSpPr/>
          <p:nvPr/>
        </p:nvSpPr>
        <p:spPr>
          <a:xfrm>
            <a:off x="741578" y="937260"/>
            <a:ext cx="345643" cy="480060"/>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7"/>
          <p:cNvSpPr/>
          <p:nvPr/>
        </p:nvSpPr>
        <p:spPr>
          <a:xfrm>
            <a:off x="827989" y="1014070"/>
            <a:ext cx="172822" cy="288036"/>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
          <p:cNvSpPr/>
          <p:nvPr/>
        </p:nvSpPr>
        <p:spPr>
          <a:xfrm>
            <a:off x="386334" y="1417320"/>
            <a:ext cx="1056132" cy="211226"/>
          </a:xfrm>
          <a:prstGeom prst="ellipse">
            <a:avLst/>
          </a:prstGeom>
          <a:solidFill>
            <a:srgbClr val="C989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7"/>
          <p:cNvSpPr/>
          <p:nvPr/>
        </p:nvSpPr>
        <p:spPr>
          <a:xfrm>
            <a:off x="434340" y="1388516"/>
            <a:ext cx="960120" cy="124816"/>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7"/>
          <p:cNvSpPr/>
          <p:nvPr/>
        </p:nvSpPr>
        <p:spPr>
          <a:xfrm>
            <a:off x="548640" y="182880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OUR MISSION</a:t>
            </a:r>
            <a:endParaRPr b="0" i="0" sz="1100" u="none" cap="none" strike="noStrike">
              <a:solidFill>
                <a:schemeClr val="dk1"/>
              </a:solidFill>
              <a:latin typeface="Calibri"/>
              <a:ea typeface="Calibri"/>
              <a:cs typeface="Calibri"/>
              <a:sym typeface="Calibri"/>
            </a:endParaRPr>
          </a:p>
        </p:txBody>
      </p:sp>
      <p:sp>
        <p:nvSpPr>
          <p:cNvPr id="108" name="Google Shape;108;p17"/>
          <p:cNvSpPr/>
          <p:nvPr/>
        </p:nvSpPr>
        <p:spPr>
          <a:xfrm>
            <a:off x="512064" y="2148840"/>
            <a:ext cx="8046720" cy="11887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211B45"/>
              </a:buClr>
              <a:buSzPts val="3300"/>
              <a:buFont typeface="Cambria"/>
              <a:buNone/>
            </a:pPr>
            <a:r>
              <a:rPr b="1" i="0" lang="en" sz="3300" u="none" cap="none" strike="noStrike">
                <a:solidFill>
                  <a:srgbClr val="211B45"/>
                </a:solidFill>
                <a:latin typeface="Cambria"/>
                <a:ea typeface="Cambria"/>
                <a:cs typeface="Cambria"/>
                <a:sym typeface="Cambria"/>
              </a:rPr>
              <a:t>A daily practice in every hand,</a:t>
            </a:r>
            <a:endParaRPr b="0" i="0" sz="33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211B45"/>
              </a:buClr>
              <a:buSzPts val="3300"/>
              <a:buFont typeface="Cambria"/>
              <a:buNone/>
            </a:pPr>
            <a:r>
              <a:rPr b="1" i="0" lang="en" sz="3300" u="none" cap="none" strike="noStrike">
                <a:solidFill>
                  <a:srgbClr val="211B45"/>
                </a:solidFill>
                <a:latin typeface="Cambria"/>
                <a:ea typeface="Cambria"/>
                <a:cs typeface="Cambria"/>
                <a:sym typeface="Cambria"/>
              </a:rPr>
              <a:t>and peace in every home.</a:t>
            </a:r>
            <a:endParaRPr b="0" i="0" sz="3300" u="none" cap="none" strike="noStrike">
              <a:solidFill>
                <a:schemeClr val="dk1"/>
              </a:solidFill>
              <a:latin typeface="Calibri"/>
              <a:ea typeface="Calibri"/>
              <a:cs typeface="Calibri"/>
              <a:sym typeface="Calibri"/>
            </a:endParaRPr>
          </a:p>
        </p:txBody>
      </p:sp>
      <p:sp>
        <p:nvSpPr>
          <p:cNvPr id="109" name="Google Shape;109;p17"/>
          <p:cNvSpPr/>
          <p:nvPr/>
        </p:nvSpPr>
        <p:spPr>
          <a:xfrm>
            <a:off x="548640" y="3429000"/>
            <a:ext cx="7955280" cy="10058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5C5680"/>
              </a:buClr>
              <a:buSzPts val="1400"/>
              <a:buFont typeface="Calibri"/>
              <a:buNone/>
            </a:pPr>
            <a:r>
              <a:rPr b="0" i="0" lang="en" sz="1400" u="none" cap="none" strike="noStrike">
                <a:solidFill>
                  <a:srgbClr val="5C5680"/>
                </a:solidFill>
                <a:latin typeface="Calibri"/>
                <a:ea typeface="Calibri"/>
                <a:cs typeface="Calibri"/>
                <a:sym typeface="Calibri"/>
              </a:rPr>
              <a:t>Art of Living exists to build a stress-free, violence-free society — one breath, one practice at a time. The app is how that reaches further: it puts a guided daily practice, Gurudev’s wisdom, and a living Sangha into the pocket of anyone, anywhere — newcomer or lifelong practitioner.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sp>
        <p:nvSpPr>
          <p:cNvPr id="115" name="Google Shape;115;p18"/>
          <p:cNvSpPr/>
          <p:nvPr/>
        </p:nvSpPr>
        <p:spPr>
          <a:xfrm>
            <a:off x="548640" y="41148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WHO WE SERVE</a:t>
            </a:r>
            <a:endParaRPr b="0" i="0" sz="1100" u="none" cap="none" strike="noStrike">
              <a:solidFill>
                <a:schemeClr val="dk1"/>
              </a:solidFill>
              <a:latin typeface="Calibri"/>
              <a:ea typeface="Calibri"/>
              <a:cs typeface="Calibri"/>
              <a:sym typeface="Calibri"/>
            </a:endParaRPr>
          </a:p>
        </p:txBody>
      </p:sp>
      <p:sp>
        <p:nvSpPr>
          <p:cNvPr id="116" name="Google Shape;116;p18"/>
          <p:cNvSpPr/>
          <p:nvPr/>
        </p:nvSpPr>
        <p:spPr>
          <a:xfrm>
            <a:off x="512064" y="70408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900"/>
              <a:buFont typeface="Cambria"/>
              <a:buNone/>
            </a:pPr>
            <a:r>
              <a:rPr b="1" i="0" lang="en" sz="2900" u="none" cap="none" strike="noStrike">
                <a:solidFill>
                  <a:srgbClr val="211B45"/>
                </a:solidFill>
                <a:latin typeface="Cambria"/>
                <a:ea typeface="Cambria"/>
                <a:cs typeface="Cambria"/>
                <a:sym typeface="Cambria"/>
              </a:rPr>
              <a:t>Three seekers, one adaptive app</a:t>
            </a:r>
            <a:endParaRPr b="0" i="0" sz="2900" u="none" cap="none" strike="noStrike">
              <a:solidFill>
                <a:schemeClr val="dk1"/>
              </a:solidFill>
              <a:latin typeface="Calibri"/>
              <a:ea typeface="Calibri"/>
              <a:cs typeface="Calibri"/>
              <a:sym typeface="Calibri"/>
            </a:endParaRPr>
          </a:p>
        </p:txBody>
      </p:sp>
      <p:sp>
        <p:nvSpPr>
          <p:cNvPr id="117" name="Google Shape;117;p18"/>
          <p:cNvSpPr/>
          <p:nvPr/>
        </p:nvSpPr>
        <p:spPr>
          <a:xfrm>
            <a:off x="548640" y="1417320"/>
            <a:ext cx="2606040" cy="2468880"/>
          </a:xfrm>
          <a:prstGeom prst="roundRect">
            <a:avLst>
              <a:gd fmla="val 4444" name="adj"/>
            </a:avLst>
          </a:prstGeom>
          <a:solidFill>
            <a:srgbClr val="F7E6D2"/>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8"/>
          <p:cNvSpPr/>
          <p:nvPr/>
        </p:nvSpPr>
        <p:spPr>
          <a:xfrm>
            <a:off x="749808" y="1600200"/>
            <a:ext cx="2240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800"/>
              <a:buFont typeface="Cambria"/>
              <a:buNone/>
            </a:pPr>
            <a:r>
              <a:rPr b="1" i="0" lang="en" sz="1800" u="none" cap="none" strike="noStrike">
                <a:solidFill>
                  <a:srgbClr val="A8530F"/>
                </a:solidFill>
                <a:latin typeface="Cambria"/>
                <a:ea typeface="Cambria"/>
                <a:cs typeface="Cambria"/>
                <a:sym typeface="Cambria"/>
              </a:rPr>
              <a:t>The Newcomer</a:t>
            </a:r>
            <a:endParaRPr b="0" i="0" sz="1800" u="none" cap="none" strike="noStrike">
              <a:solidFill>
                <a:schemeClr val="dk1"/>
              </a:solidFill>
              <a:latin typeface="Calibri"/>
              <a:ea typeface="Calibri"/>
              <a:cs typeface="Calibri"/>
              <a:sym typeface="Calibri"/>
            </a:endParaRPr>
          </a:p>
        </p:txBody>
      </p:sp>
      <p:sp>
        <p:nvSpPr>
          <p:cNvPr id="119" name="Google Shape;119;p18"/>
          <p:cNvSpPr/>
          <p:nvPr/>
        </p:nvSpPr>
        <p:spPr>
          <a:xfrm>
            <a:off x="749808" y="2011680"/>
            <a:ext cx="2240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200"/>
              <a:buFont typeface="Calibri"/>
              <a:buNone/>
            </a:pPr>
            <a:r>
              <a:rPr b="1" i="0" lang="en" sz="1200" u="none" cap="none" strike="noStrike">
                <a:solidFill>
                  <a:srgbClr val="211B45"/>
                </a:solidFill>
                <a:latin typeface="Calibri"/>
                <a:ea typeface="Calibri"/>
                <a:cs typeface="Calibri"/>
                <a:sym typeface="Calibri"/>
              </a:rPr>
              <a:t>Stressed, curious, time-poor.</a:t>
            </a:r>
            <a:endParaRPr b="0" i="0" sz="1200" u="none" cap="none" strike="noStrike">
              <a:solidFill>
                <a:schemeClr val="dk1"/>
              </a:solidFill>
              <a:latin typeface="Calibri"/>
              <a:ea typeface="Calibri"/>
              <a:cs typeface="Calibri"/>
              <a:sym typeface="Calibri"/>
            </a:endParaRPr>
          </a:p>
        </p:txBody>
      </p:sp>
      <p:sp>
        <p:nvSpPr>
          <p:cNvPr id="120" name="Google Shape;120;p18"/>
          <p:cNvSpPr/>
          <p:nvPr/>
        </p:nvSpPr>
        <p:spPr>
          <a:xfrm>
            <a:off x="749808" y="2514600"/>
            <a:ext cx="2286000" cy="11887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5C5680"/>
              </a:buClr>
              <a:buSzPts val="1300"/>
              <a:buFont typeface="Cambria"/>
              <a:buNone/>
            </a:pPr>
            <a:r>
              <a:rPr b="0" i="1" lang="en" sz="1300" u="none" cap="none" strike="noStrike">
                <a:solidFill>
                  <a:srgbClr val="5C5680"/>
                </a:solidFill>
                <a:latin typeface="Cambria"/>
                <a:ea typeface="Cambria"/>
                <a:cs typeface="Cambria"/>
                <a:sym typeface="Cambria"/>
              </a:rPr>
              <a:t>“Help me feel calmer tonight — and make it easy to keep going.”</a:t>
            </a:r>
            <a:endParaRPr b="0" i="0" sz="1300" u="none" cap="none" strike="noStrike">
              <a:solidFill>
                <a:schemeClr val="dk1"/>
              </a:solidFill>
              <a:latin typeface="Calibri"/>
              <a:ea typeface="Calibri"/>
              <a:cs typeface="Calibri"/>
              <a:sym typeface="Calibri"/>
            </a:endParaRPr>
          </a:p>
        </p:txBody>
      </p:sp>
      <p:sp>
        <p:nvSpPr>
          <p:cNvPr id="121" name="Google Shape;121;p18"/>
          <p:cNvSpPr/>
          <p:nvPr/>
        </p:nvSpPr>
        <p:spPr>
          <a:xfrm>
            <a:off x="3291840" y="1417320"/>
            <a:ext cx="2606040" cy="2468880"/>
          </a:xfrm>
          <a:prstGeom prst="roundRect">
            <a:avLst>
              <a:gd fmla="val 4444" name="adj"/>
            </a:avLst>
          </a:prstGeom>
          <a:solidFill>
            <a:srgbClr val="E3EFEA"/>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8"/>
          <p:cNvSpPr/>
          <p:nvPr/>
        </p:nvSpPr>
        <p:spPr>
          <a:xfrm>
            <a:off x="3493008" y="1600200"/>
            <a:ext cx="2240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C4D"/>
              </a:buClr>
              <a:buSzPts val="1800"/>
              <a:buFont typeface="Cambria"/>
              <a:buNone/>
            </a:pPr>
            <a:r>
              <a:rPr b="1" i="0" lang="en" sz="1800" u="none" cap="none" strike="noStrike">
                <a:solidFill>
                  <a:srgbClr val="2F5C4D"/>
                </a:solidFill>
                <a:latin typeface="Cambria"/>
                <a:ea typeface="Cambria"/>
                <a:cs typeface="Cambria"/>
                <a:sym typeface="Cambria"/>
              </a:rPr>
              <a:t>The Seeker</a:t>
            </a:r>
            <a:endParaRPr b="0" i="0" sz="1800" u="none" cap="none" strike="noStrike">
              <a:solidFill>
                <a:schemeClr val="dk1"/>
              </a:solidFill>
              <a:latin typeface="Calibri"/>
              <a:ea typeface="Calibri"/>
              <a:cs typeface="Calibri"/>
              <a:sym typeface="Calibri"/>
            </a:endParaRPr>
          </a:p>
        </p:txBody>
      </p:sp>
      <p:sp>
        <p:nvSpPr>
          <p:cNvPr id="123" name="Google Shape;123;p18"/>
          <p:cNvSpPr/>
          <p:nvPr/>
        </p:nvSpPr>
        <p:spPr>
          <a:xfrm>
            <a:off x="3493008" y="2011680"/>
            <a:ext cx="2240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200"/>
              <a:buFont typeface="Calibri"/>
              <a:buNone/>
            </a:pPr>
            <a:r>
              <a:rPr b="1" i="0" lang="en" sz="1200" u="none" cap="none" strike="noStrike">
                <a:solidFill>
                  <a:srgbClr val="211B45"/>
                </a:solidFill>
                <a:latin typeface="Calibri"/>
                <a:ea typeface="Calibri"/>
                <a:cs typeface="Calibri"/>
                <a:sym typeface="Calibri"/>
              </a:rPr>
              <a:t>Practises sometimes; wants depth &amp; meaning.</a:t>
            </a:r>
            <a:endParaRPr b="0" i="0" sz="1200" u="none" cap="none" strike="noStrike">
              <a:solidFill>
                <a:schemeClr val="dk1"/>
              </a:solidFill>
              <a:latin typeface="Calibri"/>
              <a:ea typeface="Calibri"/>
              <a:cs typeface="Calibri"/>
              <a:sym typeface="Calibri"/>
            </a:endParaRPr>
          </a:p>
        </p:txBody>
      </p:sp>
      <p:sp>
        <p:nvSpPr>
          <p:cNvPr id="124" name="Google Shape;124;p18"/>
          <p:cNvSpPr/>
          <p:nvPr/>
        </p:nvSpPr>
        <p:spPr>
          <a:xfrm>
            <a:off x="3493008" y="2514600"/>
            <a:ext cx="2286000" cy="11887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5C5680"/>
              </a:buClr>
              <a:buSzPts val="1300"/>
              <a:buFont typeface="Cambria"/>
              <a:buNone/>
            </a:pPr>
            <a:r>
              <a:rPr b="0" i="1" lang="en" sz="1300" u="none" cap="none" strike="noStrike">
                <a:solidFill>
                  <a:srgbClr val="5C5680"/>
                </a:solidFill>
                <a:latin typeface="Cambria"/>
                <a:ea typeface="Cambria"/>
                <a:cs typeface="Cambria"/>
                <a:sym typeface="Cambria"/>
              </a:rPr>
              <a:t>“Show me what’s next, and why it matters.”</a:t>
            </a:r>
            <a:endParaRPr b="0" i="0" sz="1300" u="none" cap="none" strike="noStrike">
              <a:solidFill>
                <a:schemeClr val="dk1"/>
              </a:solidFill>
              <a:latin typeface="Calibri"/>
              <a:ea typeface="Calibri"/>
              <a:cs typeface="Calibri"/>
              <a:sym typeface="Calibri"/>
            </a:endParaRPr>
          </a:p>
        </p:txBody>
      </p:sp>
      <p:sp>
        <p:nvSpPr>
          <p:cNvPr id="125" name="Google Shape;125;p18"/>
          <p:cNvSpPr/>
          <p:nvPr/>
        </p:nvSpPr>
        <p:spPr>
          <a:xfrm>
            <a:off x="6035040" y="1417320"/>
            <a:ext cx="2606040" cy="2468880"/>
          </a:xfrm>
          <a:prstGeom prst="roundRect">
            <a:avLst>
              <a:gd fmla="val 4444" name="adj"/>
            </a:avLst>
          </a:prstGeom>
          <a:solidFill>
            <a:srgbClr val="E7E3F3"/>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8"/>
          <p:cNvSpPr/>
          <p:nvPr/>
        </p:nvSpPr>
        <p:spPr>
          <a:xfrm>
            <a:off x="6236208" y="1600200"/>
            <a:ext cx="2240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2C72"/>
              </a:buClr>
              <a:buSzPts val="1800"/>
              <a:buFont typeface="Cambria"/>
              <a:buNone/>
            </a:pPr>
            <a:r>
              <a:rPr b="1" i="0" lang="en" sz="1800" u="none" cap="none" strike="noStrike">
                <a:solidFill>
                  <a:srgbClr val="372C72"/>
                </a:solidFill>
                <a:latin typeface="Cambria"/>
                <a:ea typeface="Cambria"/>
                <a:cs typeface="Cambria"/>
                <a:sym typeface="Cambria"/>
              </a:rPr>
              <a:t>The Course Graduate</a:t>
            </a:r>
            <a:endParaRPr b="0" i="0" sz="1800" u="none" cap="none" strike="noStrike">
              <a:solidFill>
                <a:schemeClr val="dk1"/>
              </a:solidFill>
              <a:latin typeface="Calibri"/>
              <a:ea typeface="Calibri"/>
              <a:cs typeface="Calibri"/>
              <a:sym typeface="Calibri"/>
            </a:endParaRPr>
          </a:p>
        </p:txBody>
      </p:sp>
      <p:sp>
        <p:nvSpPr>
          <p:cNvPr id="127" name="Google Shape;127;p18"/>
          <p:cNvSpPr/>
          <p:nvPr/>
        </p:nvSpPr>
        <p:spPr>
          <a:xfrm>
            <a:off x="6236208" y="2011680"/>
            <a:ext cx="2240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200"/>
              <a:buFont typeface="Calibri"/>
              <a:buNone/>
            </a:pPr>
            <a:r>
              <a:rPr b="1" i="0" lang="en" sz="1200" u="none" cap="none" strike="noStrike">
                <a:solidFill>
                  <a:srgbClr val="211B45"/>
                </a:solidFill>
                <a:latin typeface="Calibri"/>
                <a:ea typeface="Calibri"/>
                <a:cs typeface="Calibri"/>
                <a:sym typeface="Calibri"/>
              </a:rPr>
              <a:t>SKY / Sahaj done; wants to go deeper &amp; belong.</a:t>
            </a:r>
            <a:endParaRPr b="0" i="0" sz="1200" u="none" cap="none" strike="noStrike">
              <a:solidFill>
                <a:schemeClr val="dk1"/>
              </a:solidFill>
              <a:latin typeface="Calibri"/>
              <a:ea typeface="Calibri"/>
              <a:cs typeface="Calibri"/>
              <a:sym typeface="Calibri"/>
            </a:endParaRPr>
          </a:p>
        </p:txBody>
      </p:sp>
      <p:sp>
        <p:nvSpPr>
          <p:cNvPr id="128" name="Google Shape;128;p18"/>
          <p:cNvSpPr/>
          <p:nvPr/>
        </p:nvSpPr>
        <p:spPr>
          <a:xfrm>
            <a:off x="6236208" y="2514600"/>
            <a:ext cx="2286000" cy="11887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5C5680"/>
              </a:buClr>
              <a:buSzPts val="1300"/>
              <a:buFont typeface="Cambria"/>
              <a:buNone/>
            </a:pPr>
            <a:r>
              <a:rPr b="0" i="1" lang="en" sz="1300" u="none" cap="none" strike="noStrike">
                <a:solidFill>
                  <a:srgbClr val="5C5680"/>
                </a:solidFill>
                <a:latin typeface="Cambria"/>
                <a:ea typeface="Cambria"/>
                <a:cs typeface="Cambria"/>
                <a:sym typeface="Cambria"/>
              </a:rPr>
              <a:t>“Keep my practice alive, and my Sangha close.”</a:t>
            </a:r>
            <a:endParaRPr b="0" i="0" sz="1300" u="none" cap="none" strike="noStrike">
              <a:solidFill>
                <a:schemeClr val="dk1"/>
              </a:solidFill>
              <a:latin typeface="Calibri"/>
              <a:ea typeface="Calibri"/>
              <a:cs typeface="Calibri"/>
              <a:sym typeface="Calibri"/>
            </a:endParaRPr>
          </a:p>
        </p:txBody>
      </p:sp>
      <p:sp>
        <p:nvSpPr>
          <p:cNvPr id="129" name="Google Shape;129;p18"/>
          <p:cNvSpPr/>
          <p:nvPr/>
        </p:nvSpPr>
        <p:spPr>
          <a:xfrm>
            <a:off x="548640" y="4160520"/>
            <a:ext cx="8046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8FAD"/>
              </a:buClr>
              <a:buSzPts val="1150"/>
              <a:buFont typeface="Calibri"/>
              <a:buNone/>
            </a:pPr>
            <a:r>
              <a:rPr b="0" i="1" lang="en" sz="1150" u="none" cap="none" strike="noStrike">
                <a:solidFill>
                  <a:srgbClr val="938FAD"/>
                </a:solidFill>
                <a:latin typeface="Calibri"/>
                <a:ea typeface="Calibri"/>
                <a:cs typeface="Calibri"/>
                <a:sym typeface="Calibri"/>
              </a:rPr>
              <a:t>We also serve our teachers and the Foundation — the app carries them to more students and keeps graduates engaged between courses.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19"/>
          <p:cNvSpPr/>
          <p:nvPr/>
        </p:nvSpPr>
        <p:spPr>
          <a:xfrm>
            <a:off x="548640" y="36576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REAL USERS</a:t>
            </a:r>
            <a:endParaRPr b="0" i="0" sz="1100" u="none" cap="none" strike="noStrike">
              <a:solidFill>
                <a:schemeClr val="dk1"/>
              </a:solidFill>
              <a:latin typeface="Calibri"/>
              <a:ea typeface="Calibri"/>
              <a:cs typeface="Calibri"/>
              <a:sym typeface="Calibri"/>
            </a:endParaRPr>
          </a:p>
        </p:txBody>
      </p:sp>
      <p:sp>
        <p:nvSpPr>
          <p:cNvPr id="136" name="Google Shape;136;p19"/>
          <p:cNvSpPr/>
          <p:nvPr/>
        </p:nvSpPr>
        <p:spPr>
          <a:xfrm>
            <a:off x="512064" y="658368"/>
            <a:ext cx="8412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700"/>
              <a:buFont typeface="Cambria"/>
              <a:buNone/>
            </a:pPr>
            <a:r>
              <a:rPr b="1" i="0" lang="en" sz="2700" u="none" cap="none" strike="noStrike">
                <a:solidFill>
                  <a:srgbClr val="211B45"/>
                </a:solidFill>
                <a:latin typeface="Cambria"/>
                <a:ea typeface="Cambria"/>
                <a:cs typeface="Cambria"/>
                <a:sym typeface="Cambria"/>
              </a:rPr>
              <a:t>The people we serve — and what hurts</a:t>
            </a:r>
            <a:endParaRPr b="0" i="0" sz="2700" u="none" cap="none" strike="noStrike">
              <a:solidFill>
                <a:schemeClr val="dk1"/>
              </a:solidFill>
              <a:latin typeface="Calibri"/>
              <a:ea typeface="Calibri"/>
              <a:cs typeface="Calibri"/>
              <a:sym typeface="Calibri"/>
            </a:endParaRPr>
          </a:p>
        </p:txBody>
      </p:sp>
      <p:sp>
        <p:nvSpPr>
          <p:cNvPr id="137" name="Google Shape;137;p19"/>
          <p:cNvSpPr/>
          <p:nvPr/>
        </p:nvSpPr>
        <p:spPr>
          <a:xfrm>
            <a:off x="548640" y="1371600"/>
            <a:ext cx="2542032" cy="1627632"/>
          </a:xfrm>
          <a:prstGeom prst="roundRect">
            <a:avLst>
              <a:gd fmla="val 5618" name="adj"/>
            </a:avLst>
          </a:prstGeom>
          <a:solidFill>
            <a:srgbClr val="FFFFFF"/>
          </a:solidFill>
          <a:ln cap="flat" cmpd="sng" w="12700">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9"/>
          <p:cNvSpPr/>
          <p:nvPr/>
        </p:nvSpPr>
        <p:spPr>
          <a:xfrm>
            <a:off x="713232" y="1536192"/>
            <a:ext cx="384048" cy="384048"/>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9"/>
          <p:cNvSpPr/>
          <p:nvPr/>
        </p:nvSpPr>
        <p:spPr>
          <a:xfrm>
            <a:off x="713232" y="153619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 sz="1600" u="none" cap="none" strike="noStrike">
                <a:solidFill>
                  <a:srgbClr val="FFFFFF"/>
                </a:solidFill>
                <a:latin typeface="Cambria"/>
                <a:ea typeface="Cambria"/>
                <a:cs typeface="Cambria"/>
                <a:sym typeface="Cambria"/>
              </a:rPr>
              <a:t>P</a:t>
            </a:r>
            <a:endParaRPr b="0" i="0" sz="1600" u="none" cap="none" strike="noStrike">
              <a:solidFill>
                <a:schemeClr val="dk1"/>
              </a:solidFill>
              <a:latin typeface="Calibri"/>
              <a:ea typeface="Calibri"/>
              <a:cs typeface="Calibri"/>
              <a:sym typeface="Calibri"/>
            </a:endParaRPr>
          </a:p>
        </p:txBody>
      </p:sp>
      <p:sp>
        <p:nvSpPr>
          <p:cNvPr id="140" name="Google Shape;140;p19"/>
          <p:cNvSpPr/>
          <p:nvPr/>
        </p:nvSpPr>
        <p:spPr>
          <a:xfrm>
            <a:off x="1188720" y="1536192"/>
            <a:ext cx="179222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250"/>
              <a:buFont typeface="Calibri"/>
              <a:buNone/>
            </a:pPr>
            <a:r>
              <a:rPr b="1" i="0" lang="en" sz="1250" u="none" cap="none" strike="noStrike">
                <a:solidFill>
                  <a:srgbClr val="211B45"/>
                </a:solidFill>
                <a:latin typeface="Calibri"/>
                <a:ea typeface="Calibri"/>
                <a:cs typeface="Calibri"/>
                <a:sym typeface="Calibri"/>
              </a:rPr>
              <a:t>Priya, 29</a:t>
            </a:r>
            <a:endParaRPr b="0" i="0" sz="1250" u="none" cap="none" strike="noStrike">
              <a:solidFill>
                <a:schemeClr val="dk1"/>
              </a:solidFill>
              <a:latin typeface="Calibri"/>
              <a:ea typeface="Calibri"/>
              <a:cs typeface="Calibri"/>
              <a:sym typeface="Calibri"/>
            </a:endParaRPr>
          </a:p>
        </p:txBody>
      </p:sp>
      <p:sp>
        <p:nvSpPr>
          <p:cNvPr id="141" name="Google Shape;141;p19"/>
          <p:cNvSpPr/>
          <p:nvPr/>
        </p:nvSpPr>
        <p:spPr>
          <a:xfrm>
            <a:off x="1188720" y="1783080"/>
            <a:ext cx="179222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8FAD"/>
              </a:buClr>
              <a:buSzPts val="900"/>
              <a:buFont typeface="Calibri"/>
              <a:buNone/>
            </a:pPr>
            <a:r>
              <a:rPr b="0" i="0" lang="en" sz="900" u="none" cap="none" strike="noStrike">
                <a:solidFill>
                  <a:srgbClr val="938FAD"/>
                </a:solidFill>
                <a:latin typeface="Calibri"/>
                <a:ea typeface="Calibri"/>
                <a:cs typeface="Calibri"/>
                <a:sym typeface="Calibri"/>
              </a:rPr>
              <a:t>Software engineer · Bengaluru</a:t>
            </a:r>
            <a:endParaRPr b="0" i="0" sz="900" u="none" cap="none" strike="noStrike">
              <a:solidFill>
                <a:schemeClr val="dk1"/>
              </a:solidFill>
              <a:latin typeface="Calibri"/>
              <a:ea typeface="Calibri"/>
              <a:cs typeface="Calibri"/>
              <a:sym typeface="Calibri"/>
            </a:endParaRPr>
          </a:p>
        </p:txBody>
      </p:sp>
      <p:sp>
        <p:nvSpPr>
          <p:cNvPr id="142" name="Google Shape;142;p19"/>
          <p:cNvSpPr/>
          <p:nvPr/>
        </p:nvSpPr>
        <p:spPr>
          <a:xfrm>
            <a:off x="713232" y="2066544"/>
            <a:ext cx="2231136"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100"/>
              <a:buFont typeface="Cambria"/>
              <a:buNone/>
            </a:pPr>
            <a:r>
              <a:rPr b="0" i="1" lang="en" sz="1100" u="none" cap="none" strike="noStrike">
                <a:solidFill>
                  <a:srgbClr val="5C5680"/>
                </a:solidFill>
                <a:latin typeface="Cambria"/>
                <a:ea typeface="Cambria"/>
                <a:cs typeface="Cambria"/>
                <a:sym typeface="Cambria"/>
              </a:rPr>
              <a:t>Wired and exhausted — scrolls till 1am, can’t switch off.</a:t>
            </a:r>
            <a:endParaRPr b="0" i="0" sz="1100" u="none" cap="none" strike="noStrike">
              <a:solidFill>
                <a:schemeClr val="dk1"/>
              </a:solidFill>
              <a:latin typeface="Calibri"/>
              <a:ea typeface="Calibri"/>
              <a:cs typeface="Calibri"/>
              <a:sym typeface="Calibri"/>
            </a:endParaRPr>
          </a:p>
        </p:txBody>
      </p:sp>
      <p:sp>
        <p:nvSpPr>
          <p:cNvPr id="143" name="Google Shape;143;p19"/>
          <p:cNvSpPr/>
          <p:nvPr/>
        </p:nvSpPr>
        <p:spPr>
          <a:xfrm>
            <a:off x="713232" y="2596896"/>
            <a:ext cx="2231136" cy="36576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A8530F"/>
              </a:buClr>
              <a:buSzPts val="850"/>
              <a:buFont typeface="Calibri"/>
              <a:buNone/>
            </a:pPr>
            <a:r>
              <a:rPr b="1" i="0" lang="en" sz="850" u="none" cap="none" strike="noStrike">
                <a:solidFill>
                  <a:srgbClr val="A8530F"/>
                </a:solidFill>
                <a:latin typeface="Calibri"/>
                <a:ea typeface="Calibri"/>
                <a:cs typeface="Calibri"/>
                <a:sym typeface="Calibri"/>
              </a:rPr>
              <a:t>WANTS  </a:t>
            </a:r>
            <a:r>
              <a:rPr b="0" i="0" lang="en" sz="950" u="none" cap="none" strike="noStrike">
                <a:solidFill>
                  <a:srgbClr val="211B45"/>
                </a:solidFill>
                <a:latin typeface="Calibri"/>
                <a:ea typeface="Calibri"/>
                <a:cs typeface="Calibri"/>
                <a:sym typeface="Calibri"/>
              </a:rPr>
              <a:t>10 calm minutes, tonight.</a:t>
            </a:r>
            <a:endParaRPr b="0" i="0" sz="850" u="none" cap="none" strike="noStrike">
              <a:solidFill>
                <a:schemeClr val="dk1"/>
              </a:solidFill>
              <a:latin typeface="Calibri"/>
              <a:ea typeface="Calibri"/>
              <a:cs typeface="Calibri"/>
              <a:sym typeface="Calibri"/>
            </a:endParaRPr>
          </a:p>
        </p:txBody>
      </p:sp>
      <p:sp>
        <p:nvSpPr>
          <p:cNvPr id="144" name="Google Shape;144;p19"/>
          <p:cNvSpPr/>
          <p:nvPr/>
        </p:nvSpPr>
        <p:spPr>
          <a:xfrm>
            <a:off x="3300984" y="1371600"/>
            <a:ext cx="2542032" cy="1627632"/>
          </a:xfrm>
          <a:prstGeom prst="roundRect">
            <a:avLst>
              <a:gd fmla="val 5618" name="adj"/>
            </a:avLst>
          </a:prstGeom>
          <a:solidFill>
            <a:srgbClr val="FFFFFF"/>
          </a:solidFill>
          <a:ln cap="flat" cmpd="sng" w="12700">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9"/>
          <p:cNvSpPr/>
          <p:nvPr/>
        </p:nvSpPr>
        <p:spPr>
          <a:xfrm>
            <a:off x="3465576" y="1536192"/>
            <a:ext cx="384048" cy="384048"/>
          </a:xfrm>
          <a:prstGeom prst="ellipse">
            <a:avLst/>
          </a:prstGeom>
          <a:solidFill>
            <a:srgbClr val="4F8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9"/>
          <p:cNvSpPr/>
          <p:nvPr/>
        </p:nvSpPr>
        <p:spPr>
          <a:xfrm>
            <a:off x="3465576" y="153619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 sz="1600" u="none" cap="none" strike="noStrike">
                <a:solidFill>
                  <a:srgbClr val="FFFFFF"/>
                </a:solidFill>
                <a:latin typeface="Cambria"/>
                <a:ea typeface="Cambria"/>
                <a:cs typeface="Cambria"/>
                <a:sym typeface="Cambria"/>
              </a:rPr>
              <a:t>A</a:t>
            </a:r>
            <a:endParaRPr b="0" i="0" sz="1600" u="none" cap="none" strike="noStrike">
              <a:solidFill>
                <a:schemeClr val="dk1"/>
              </a:solidFill>
              <a:latin typeface="Calibri"/>
              <a:ea typeface="Calibri"/>
              <a:cs typeface="Calibri"/>
              <a:sym typeface="Calibri"/>
            </a:endParaRPr>
          </a:p>
        </p:txBody>
      </p:sp>
      <p:sp>
        <p:nvSpPr>
          <p:cNvPr id="147" name="Google Shape;147;p19"/>
          <p:cNvSpPr/>
          <p:nvPr/>
        </p:nvSpPr>
        <p:spPr>
          <a:xfrm>
            <a:off x="3941064" y="1536192"/>
            <a:ext cx="179222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250"/>
              <a:buFont typeface="Calibri"/>
              <a:buNone/>
            </a:pPr>
            <a:r>
              <a:rPr b="1" i="0" lang="en" sz="1250" u="none" cap="none" strike="noStrike">
                <a:solidFill>
                  <a:srgbClr val="211B45"/>
                </a:solidFill>
                <a:latin typeface="Calibri"/>
                <a:ea typeface="Calibri"/>
                <a:cs typeface="Calibri"/>
                <a:sym typeface="Calibri"/>
              </a:rPr>
              <a:t>Anjali, 42</a:t>
            </a:r>
            <a:endParaRPr b="0" i="0" sz="1250" u="none" cap="none" strike="noStrike">
              <a:solidFill>
                <a:schemeClr val="dk1"/>
              </a:solidFill>
              <a:latin typeface="Calibri"/>
              <a:ea typeface="Calibri"/>
              <a:cs typeface="Calibri"/>
              <a:sym typeface="Calibri"/>
            </a:endParaRPr>
          </a:p>
        </p:txBody>
      </p:sp>
      <p:sp>
        <p:nvSpPr>
          <p:cNvPr id="148" name="Google Shape;148;p19"/>
          <p:cNvSpPr/>
          <p:nvPr/>
        </p:nvSpPr>
        <p:spPr>
          <a:xfrm>
            <a:off x="3941064" y="1783080"/>
            <a:ext cx="179222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8FAD"/>
              </a:buClr>
              <a:buSzPts val="900"/>
              <a:buFont typeface="Calibri"/>
              <a:buNone/>
            </a:pPr>
            <a:r>
              <a:rPr b="0" i="0" lang="en" sz="900" u="none" cap="none" strike="noStrike">
                <a:solidFill>
                  <a:srgbClr val="938FAD"/>
                </a:solidFill>
                <a:latin typeface="Calibri"/>
                <a:ea typeface="Calibri"/>
                <a:cs typeface="Calibri"/>
                <a:sym typeface="Calibri"/>
              </a:rPr>
              <a:t>Homemaker · Pune</a:t>
            </a:r>
            <a:endParaRPr b="0" i="0" sz="900" u="none" cap="none" strike="noStrike">
              <a:solidFill>
                <a:schemeClr val="dk1"/>
              </a:solidFill>
              <a:latin typeface="Calibri"/>
              <a:ea typeface="Calibri"/>
              <a:cs typeface="Calibri"/>
              <a:sym typeface="Calibri"/>
            </a:endParaRPr>
          </a:p>
        </p:txBody>
      </p:sp>
      <p:sp>
        <p:nvSpPr>
          <p:cNvPr id="149" name="Google Shape;149;p19"/>
          <p:cNvSpPr/>
          <p:nvPr/>
        </p:nvSpPr>
        <p:spPr>
          <a:xfrm>
            <a:off x="3465576" y="2066544"/>
            <a:ext cx="2231136"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100"/>
              <a:buFont typeface="Cambria"/>
              <a:buNone/>
            </a:pPr>
            <a:r>
              <a:rPr b="0" i="1" lang="en" sz="1100" u="none" cap="none" strike="noStrike">
                <a:solidFill>
                  <a:srgbClr val="5C5680"/>
                </a:solidFill>
                <a:latin typeface="Cambria"/>
                <a:ea typeface="Cambria"/>
                <a:cs typeface="Cambria"/>
                <a:sym typeface="Cambria"/>
              </a:rPr>
              <a:t>Did a course years ago; lost the routine in family life.</a:t>
            </a:r>
            <a:endParaRPr b="0" i="0" sz="1100" u="none" cap="none" strike="noStrike">
              <a:solidFill>
                <a:schemeClr val="dk1"/>
              </a:solidFill>
              <a:latin typeface="Calibri"/>
              <a:ea typeface="Calibri"/>
              <a:cs typeface="Calibri"/>
              <a:sym typeface="Calibri"/>
            </a:endParaRPr>
          </a:p>
        </p:txBody>
      </p:sp>
      <p:sp>
        <p:nvSpPr>
          <p:cNvPr id="150" name="Google Shape;150;p19"/>
          <p:cNvSpPr/>
          <p:nvPr/>
        </p:nvSpPr>
        <p:spPr>
          <a:xfrm>
            <a:off x="3465576" y="2596896"/>
            <a:ext cx="2231136" cy="36576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A8530F"/>
              </a:buClr>
              <a:buSzPts val="850"/>
              <a:buFont typeface="Calibri"/>
              <a:buNone/>
            </a:pPr>
            <a:r>
              <a:rPr b="1" i="0" lang="en" sz="850" u="none" cap="none" strike="noStrike">
                <a:solidFill>
                  <a:srgbClr val="A8530F"/>
                </a:solidFill>
                <a:latin typeface="Calibri"/>
                <a:ea typeface="Calibri"/>
                <a:cs typeface="Calibri"/>
                <a:sym typeface="Calibri"/>
              </a:rPr>
              <a:t>WANTS  </a:t>
            </a:r>
            <a:r>
              <a:rPr b="0" i="0" lang="en" sz="950" u="none" cap="none" strike="noStrike">
                <a:solidFill>
                  <a:srgbClr val="211B45"/>
                </a:solidFill>
                <a:latin typeface="Calibri"/>
                <a:ea typeface="Calibri"/>
                <a:cs typeface="Calibri"/>
                <a:sym typeface="Calibri"/>
              </a:rPr>
              <a:t>Quiet minutes that are mine — and help staying regular.</a:t>
            </a:r>
            <a:endParaRPr b="0" i="0" sz="850" u="none" cap="none" strike="noStrike">
              <a:solidFill>
                <a:schemeClr val="dk1"/>
              </a:solidFill>
              <a:latin typeface="Calibri"/>
              <a:ea typeface="Calibri"/>
              <a:cs typeface="Calibri"/>
              <a:sym typeface="Calibri"/>
            </a:endParaRPr>
          </a:p>
        </p:txBody>
      </p:sp>
      <p:sp>
        <p:nvSpPr>
          <p:cNvPr id="151" name="Google Shape;151;p19"/>
          <p:cNvSpPr/>
          <p:nvPr/>
        </p:nvSpPr>
        <p:spPr>
          <a:xfrm>
            <a:off x="6053328" y="1371600"/>
            <a:ext cx="2542032" cy="1627632"/>
          </a:xfrm>
          <a:prstGeom prst="roundRect">
            <a:avLst>
              <a:gd fmla="val 5618" name="adj"/>
            </a:avLst>
          </a:prstGeom>
          <a:solidFill>
            <a:srgbClr val="FFFFFF"/>
          </a:solidFill>
          <a:ln cap="flat" cmpd="sng" w="12700">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9"/>
          <p:cNvSpPr/>
          <p:nvPr/>
        </p:nvSpPr>
        <p:spPr>
          <a:xfrm>
            <a:off x="6217920" y="1536192"/>
            <a:ext cx="384048" cy="384048"/>
          </a:xfrm>
          <a:prstGeom prst="ellipse">
            <a:avLst/>
          </a:prstGeom>
          <a:solidFill>
            <a:srgbClr val="4A3F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9"/>
          <p:cNvSpPr/>
          <p:nvPr/>
        </p:nvSpPr>
        <p:spPr>
          <a:xfrm>
            <a:off x="6217920" y="153619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 sz="1600" u="none" cap="none" strike="noStrike">
                <a:solidFill>
                  <a:srgbClr val="FFFFFF"/>
                </a:solidFill>
                <a:latin typeface="Cambria"/>
                <a:ea typeface="Cambria"/>
                <a:cs typeface="Cambria"/>
                <a:sym typeface="Cambria"/>
              </a:rPr>
              <a:t>R</a:t>
            </a:r>
            <a:endParaRPr b="0" i="0" sz="1600" u="none" cap="none" strike="noStrike">
              <a:solidFill>
                <a:schemeClr val="dk1"/>
              </a:solidFill>
              <a:latin typeface="Calibri"/>
              <a:ea typeface="Calibri"/>
              <a:cs typeface="Calibri"/>
              <a:sym typeface="Calibri"/>
            </a:endParaRPr>
          </a:p>
        </p:txBody>
      </p:sp>
      <p:sp>
        <p:nvSpPr>
          <p:cNvPr id="154" name="Google Shape;154;p19"/>
          <p:cNvSpPr/>
          <p:nvPr/>
        </p:nvSpPr>
        <p:spPr>
          <a:xfrm>
            <a:off x="6693408" y="1536192"/>
            <a:ext cx="179222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250"/>
              <a:buFont typeface="Calibri"/>
              <a:buNone/>
            </a:pPr>
            <a:r>
              <a:rPr b="1" i="0" lang="en" sz="1250" u="none" cap="none" strike="noStrike">
                <a:solidFill>
                  <a:srgbClr val="211B45"/>
                </a:solidFill>
                <a:latin typeface="Calibri"/>
                <a:ea typeface="Calibri"/>
                <a:cs typeface="Calibri"/>
                <a:sym typeface="Calibri"/>
              </a:rPr>
              <a:t>Rohan, 20</a:t>
            </a:r>
            <a:endParaRPr b="0" i="0" sz="1250" u="none" cap="none" strike="noStrike">
              <a:solidFill>
                <a:schemeClr val="dk1"/>
              </a:solidFill>
              <a:latin typeface="Calibri"/>
              <a:ea typeface="Calibri"/>
              <a:cs typeface="Calibri"/>
              <a:sym typeface="Calibri"/>
            </a:endParaRPr>
          </a:p>
        </p:txBody>
      </p:sp>
      <p:sp>
        <p:nvSpPr>
          <p:cNvPr id="155" name="Google Shape;155;p19"/>
          <p:cNvSpPr/>
          <p:nvPr/>
        </p:nvSpPr>
        <p:spPr>
          <a:xfrm>
            <a:off x="6693408" y="1783080"/>
            <a:ext cx="179222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8FAD"/>
              </a:buClr>
              <a:buSzPts val="900"/>
              <a:buFont typeface="Calibri"/>
              <a:buNone/>
            </a:pPr>
            <a:r>
              <a:rPr b="0" i="0" lang="en" sz="900" u="none" cap="none" strike="noStrike">
                <a:solidFill>
                  <a:srgbClr val="938FAD"/>
                </a:solidFill>
                <a:latin typeface="Calibri"/>
                <a:ea typeface="Calibri"/>
                <a:cs typeface="Calibri"/>
                <a:sym typeface="Calibri"/>
              </a:rPr>
              <a:t>College student · Delhi</a:t>
            </a:r>
            <a:endParaRPr b="0" i="0" sz="900" u="none" cap="none" strike="noStrike">
              <a:solidFill>
                <a:schemeClr val="dk1"/>
              </a:solidFill>
              <a:latin typeface="Calibri"/>
              <a:ea typeface="Calibri"/>
              <a:cs typeface="Calibri"/>
              <a:sym typeface="Calibri"/>
            </a:endParaRPr>
          </a:p>
        </p:txBody>
      </p:sp>
      <p:sp>
        <p:nvSpPr>
          <p:cNvPr id="156" name="Google Shape;156;p19"/>
          <p:cNvSpPr/>
          <p:nvPr/>
        </p:nvSpPr>
        <p:spPr>
          <a:xfrm>
            <a:off x="6217920" y="2066544"/>
            <a:ext cx="2231136"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100"/>
              <a:buFont typeface="Cambria"/>
              <a:buNone/>
            </a:pPr>
            <a:r>
              <a:rPr b="0" i="1" lang="en" sz="1100" u="none" cap="none" strike="noStrike">
                <a:solidFill>
                  <a:srgbClr val="5C5680"/>
                </a:solidFill>
                <a:latin typeface="Cambria"/>
                <a:ea typeface="Cambria"/>
                <a:cs typeface="Cambria"/>
                <a:sym typeface="Cambria"/>
              </a:rPr>
              <a:t>Exam anxiety, constant comparison, restless focus.</a:t>
            </a:r>
            <a:endParaRPr b="0" i="0" sz="1100" u="none" cap="none" strike="noStrike">
              <a:solidFill>
                <a:schemeClr val="dk1"/>
              </a:solidFill>
              <a:latin typeface="Calibri"/>
              <a:ea typeface="Calibri"/>
              <a:cs typeface="Calibri"/>
              <a:sym typeface="Calibri"/>
            </a:endParaRPr>
          </a:p>
        </p:txBody>
      </p:sp>
      <p:sp>
        <p:nvSpPr>
          <p:cNvPr id="157" name="Google Shape;157;p19"/>
          <p:cNvSpPr/>
          <p:nvPr/>
        </p:nvSpPr>
        <p:spPr>
          <a:xfrm>
            <a:off x="6217920" y="2596896"/>
            <a:ext cx="2231136" cy="36576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A8530F"/>
              </a:buClr>
              <a:buSzPts val="850"/>
              <a:buFont typeface="Calibri"/>
              <a:buNone/>
            </a:pPr>
            <a:r>
              <a:rPr b="1" i="0" lang="en" sz="850" u="none" cap="none" strike="noStrike">
                <a:solidFill>
                  <a:srgbClr val="A8530F"/>
                </a:solidFill>
                <a:latin typeface="Calibri"/>
                <a:ea typeface="Calibri"/>
                <a:cs typeface="Calibri"/>
                <a:sym typeface="Calibri"/>
              </a:rPr>
              <a:t>WANTS  </a:t>
            </a:r>
            <a:r>
              <a:rPr b="0" i="0" lang="en" sz="950" u="none" cap="none" strike="noStrike">
                <a:solidFill>
                  <a:srgbClr val="211B45"/>
                </a:solidFill>
                <a:latin typeface="Calibri"/>
                <a:ea typeface="Calibri"/>
                <a:cs typeface="Calibri"/>
                <a:sym typeface="Calibri"/>
              </a:rPr>
              <a:t>Free help to focus and sleep.</a:t>
            </a:r>
            <a:endParaRPr b="0" i="0" sz="850" u="none" cap="none" strike="noStrike">
              <a:solidFill>
                <a:schemeClr val="dk1"/>
              </a:solidFill>
              <a:latin typeface="Calibri"/>
              <a:ea typeface="Calibri"/>
              <a:cs typeface="Calibri"/>
              <a:sym typeface="Calibri"/>
            </a:endParaRPr>
          </a:p>
        </p:txBody>
      </p:sp>
      <p:sp>
        <p:nvSpPr>
          <p:cNvPr id="158" name="Google Shape;158;p19"/>
          <p:cNvSpPr/>
          <p:nvPr/>
        </p:nvSpPr>
        <p:spPr>
          <a:xfrm>
            <a:off x="548640" y="3108960"/>
            <a:ext cx="2542032" cy="1627632"/>
          </a:xfrm>
          <a:prstGeom prst="roundRect">
            <a:avLst>
              <a:gd fmla="val 5618" name="adj"/>
            </a:avLst>
          </a:prstGeom>
          <a:solidFill>
            <a:srgbClr val="FFFFFF"/>
          </a:solidFill>
          <a:ln cap="flat" cmpd="sng" w="12700">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a:off x="713232" y="3273552"/>
            <a:ext cx="384048" cy="384048"/>
          </a:xfrm>
          <a:prstGeom prst="ellipse">
            <a:avLst/>
          </a:prstGeom>
          <a:solidFill>
            <a:srgbClr val="B583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a:off x="713232" y="32735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 sz="1600" u="none" cap="none" strike="noStrike">
                <a:solidFill>
                  <a:srgbClr val="FFFFFF"/>
                </a:solidFill>
                <a:latin typeface="Cambria"/>
                <a:ea typeface="Cambria"/>
                <a:cs typeface="Cambria"/>
                <a:sym typeface="Cambria"/>
              </a:rPr>
              <a:t>I</a:t>
            </a:r>
            <a:endParaRPr b="0" i="0" sz="1600" u="none" cap="none" strike="noStrike">
              <a:solidFill>
                <a:schemeClr val="dk1"/>
              </a:solidFill>
              <a:latin typeface="Calibri"/>
              <a:ea typeface="Calibri"/>
              <a:cs typeface="Calibri"/>
              <a:sym typeface="Calibri"/>
            </a:endParaRPr>
          </a:p>
        </p:txBody>
      </p:sp>
      <p:sp>
        <p:nvSpPr>
          <p:cNvPr id="161" name="Google Shape;161;p19"/>
          <p:cNvSpPr/>
          <p:nvPr/>
        </p:nvSpPr>
        <p:spPr>
          <a:xfrm>
            <a:off x="1188720" y="3273552"/>
            <a:ext cx="179222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250"/>
              <a:buFont typeface="Calibri"/>
              <a:buNone/>
            </a:pPr>
            <a:r>
              <a:rPr b="1" i="0" lang="en" sz="1250" u="none" cap="none" strike="noStrike">
                <a:solidFill>
                  <a:srgbClr val="211B45"/>
                </a:solidFill>
                <a:latin typeface="Calibri"/>
                <a:ea typeface="Calibri"/>
                <a:cs typeface="Calibri"/>
                <a:sym typeface="Calibri"/>
              </a:rPr>
              <a:t>Mr. Iyer, 63</a:t>
            </a:r>
            <a:endParaRPr b="0" i="0" sz="1250" u="none" cap="none" strike="noStrike">
              <a:solidFill>
                <a:schemeClr val="dk1"/>
              </a:solidFill>
              <a:latin typeface="Calibri"/>
              <a:ea typeface="Calibri"/>
              <a:cs typeface="Calibri"/>
              <a:sym typeface="Calibri"/>
            </a:endParaRPr>
          </a:p>
        </p:txBody>
      </p:sp>
      <p:sp>
        <p:nvSpPr>
          <p:cNvPr id="162" name="Google Shape;162;p19"/>
          <p:cNvSpPr/>
          <p:nvPr/>
        </p:nvSpPr>
        <p:spPr>
          <a:xfrm>
            <a:off x="1188720" y="3520440"/>
            <a:ext cx="179222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8FAD"/>
              </a:buClr>
              <a:buSzPts val="900"/>
              <a:buFont typeface="Calibri"/>
              <a:buNone/>
            </a:pPr>
            <a:r>
              <a:rPr b="0" i="0" lang="en" sz="900" u="none" cap="none" strike="noStrike">
                <a:solidFill>
                  <a:srgbClr val="938FAD"/>
                </a:solidFill>
                <a:latin typeface="Calibri"/>
                <a:ea typeface="Calibri"/>
                <a:cs typeface="Calibri"/>
                <a:sym typeface="Calibri"/>
              </a:rPr>
              <a:t>Retired · Chennai</a:t>
            </a:r>
            <a:endParaRPr b="0" i="0" sz="900" u="none" cap="none" strike="noStrike">
              <a:solidFill>
                <a:schemeClr val="dk1"/>
              </a:solidFill>
              <a:latin typeface="Calibri"/>
              <a:ea typeface="Calibri"/>
              <a:cs typeface="Calibri"/>
              <a:sym typeface="Calibri"/>
            </a:endParaRPr>
          </a:p>
        </p:txBody>
      </p:sp>
      <p:sp>
        <p:nvSpPr>
          <p:cNvPr id="163" name="Google Shape;163;p19"/>
          <p:cNvSpPr/>
          <p:nvPr/>
        </p:nvSpPr>
        <p:spPr>
          <a:xfrm>
            <a:off x="713232" y="3803904"/>
            <a:ext cx="2231136"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100"/>
              <a:buFont typeface="Cambria"/>
              <a:buNone/>
            </a:pPr>
            <a:r>
              <a:rPr b="0" i="1" lang="en" sz="1100" u="none" cap="none" strike="noStrike">
                <a:solidFill>
                  <a:srgbClr val="5C5680"/>
                </a:solidFill>
                <a:latin typeface="Cambria"/>
                <a:ea typeface="Cambria"/>
                <a:cs typeface="Cambria"/>
                <a:sym typeface="Cambria"/>
              </a:rPr>
              <a:t>Did the Happiness Program a decade ago; misses the Sangha.</a:t>
            </a:r>
            <a:endParaRPr b="0" i="0" sz="1100" u="none" cap="none" strike="noStrike">
              <a:solidFill>
                <a:schemeClr val="dk1"/>
              </a:solidFill>
              <a:latin typeface="Calibri"/>
              <a:ea typeface="Calibri"/>
              <a:cs typeface="Calibri"/>
              <a:sym typeface="Calibri"/>
            </a:endParaRPr>
          </a:p>
        </p:txBody>
      </p:sp>
      <p:sp>
        <p:nvSpPr>
          <p:cNvPr id="164" name="Google Shape;164;p19"/>
          <p:cNvSpPr/>
          <p:nvPr/>
        </p:nvSpPr>
        <p:spPr>
          <a:xfrm>
            <a:off x="713232" y="4334256"/>
            <a:ext cx="2231136" cy="36576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A8530F"/>
              </a:buClr>
              <a:buSzPts val="850"/>
              <a:buFont typeface="Calibri"/>
              <a:buNone/>
            </a:pPr>
            <a:r>
              <a:rPr b="1" i="0" lang="en" sz="850" u="none" cap="none" strike="noStrike">
                <a:solidFill>
                  <a:srgbClr val="A8530F"/>
                </a:solidFill>
                <a:latin typeface="Calibri"/>
                <a:ea typeface="Calibri"/>
                <a:cs typeface="Calibri"/>
                <a:sym typeface="Calibri"/>
              </a:rPr>
              <a:t>WANTS  </a:t>
            </a:r>
            <a:r>
              <a:rPr b="0" i="0" lang="en" sz="950" u="none" cap="none" strike="noStrike">
                <a:solidFill>
                  <a:srgbClr val="211B45"/>
                </a:solidFill>
                <a:latin typeface="Calibri"/>
                <a:ea typeface="Calibri"/>
                <a:cs typeface="Calibri"/>
                <a:sym typeface="Calibri"/>
              </a:rPr>
              <a:t>My practice — and community — back.</a:t>
            </a:r>
            <a:endParaRPr b="0" i="0" sz="850" u="none" cap="none" strike="noStrike">
              <a:solidFill>
                <a:schemeClr val="dk1"/>
              </a:solidFill>
              <a:latin typeface="Calibri"/>
              <a:ea typeface="Calibri"/>
              <a:cs typeface="Calibri"/>
              <a:sym typeface="Calibri"/>
            </a:endParaRPr>
          </a:p>
        </p:txBody>
      </p:sp>
      <p:sp>
        <p:nvSpPr>
          <p:cNvPr id="165" name="Google Shape;165;p19"/>
          <p:cNvSpPr/>
          <p:nvPr/>
        </p:nvSpPr>
        <p:spPr>
          <a:xfrm>
            <a:off x="3300984" y="3108960"/>
            <a:ext cx="2542032" cy="1627632"/>
          </a:xfrm>
          <a:prstGeom prst="roundRect">
            <a:avLst>
              <a:gd fmla="val 5618" name="adj"/>
            </a:avLst>
          </a:prstGeom>
          <a:solidFill>
            <a:srgbClr val="FFFFFF"/>
          </a:solidFill>
          <a:ln cap="flat" cmpd="sng" w="12700">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9"/>
          <p:cNvSpPr/>
          <p:nvPr/>
        </p:nvSpPr>
        <p:spPr>
          <a:xfrm>
            <a:off x="3465576" y="3273552"/>
            <a:ext cx="384048" cy="384048"/>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9"/>
          <p:cNvSpPr/>
          <p:nvPr/>
        </p:nvSpPr>
        <p:spPr>
          <a:xfrm>
            <a:off x="3465576" y="32735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 sz="1600" u="none" cap="none" strike="noStrike">
                <a:solidFill>
                  <a:srgbClr val="FFFFFF"/>
                </a:solidFill>
                <a:latin typeface="Cambria"/>
                <a:ea typeface="Cambria"/>
                <a:cs typeface="Cambria"/>
                <a:sym typeface="Cambria"/>
              </a:rPr>
              <a:t>M</a:t>
            </a:r>
            <a:endParaRPr b="0" i="0" sz="1600" u="none" cap="none" strike="noStrike">
              <a:solidFill>
                <a:schemeClr val="dk1"/>
              </a:solidFill>
              <a:latin typeface="Calibri"/>
              <a:ea typeface="Calibri"/>
              <a:cs typeface="Calibri"/>
              <a:sym typeface="Calibri"/>
            </a:endParaRPr>
          </a:p>
        </p:txBody>
      </p:sp>
      <p:sp>
        <p:nvSpPr>
          <p:cNvPr id="168" name="Google Shape;168;p19"/>
          <p:cNvSpPr/>
          <p:nvPr/>
        </p:nvSpPr>
        <p:spPr>
          <a:xfrm>
            <a:off x="3941064" y="3273552"/>
            <a:ext cx="179222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250"/>
              <a:buFont typeface="Calibri"/>
              <a:buNone/>
            </a:pPr>
            <a:r>
              <a:rPr b="1" i="0" lang="en" sz="1250" u="none" cap="none" strike="noStrike">
                <a:solidFill>
                  <a:srgbClr val="211B45"/>
                </a:solidFill>
                <a:latin typeface="Calibri"/>
                <a:ea typeface="Calibri"/>
                <a:cs typeface="Calibri"/>
                <a:sym typeface="Calibri"/>
              </a:rPr>
              <a:t>Meera, 35</a:t>
            </a:r>
            <a:endParaRPr b="0" i="0" sz="1250" u="none" cap="none" strike="noStrike">
              <a:solidFill>
                <a:schemeClr val="dk1"/>
              </a:solidFill>
              <a:latin typeface="Calibri"/>
              <a:ea typeface="Calibri"/>
              <a:cs typeface="Calibri"/>
              <a:sym typeface="Calibri"/>
            </a:endParaRPr>
          </a:p>
        </p:txBody>
      </p:sp>
      <p:sp>
        <p:nvSpPr>
          <p:cNvPr id="169" name="Google Shape;169;p19"/>
          <p:cNvSpPr/>
          <p:nvPr/>
        </p:nvSpPr>
        <p:spPr>
          <a:xfrm>
            <a:off x="3941064" y="3520440"/>
            <a:ext cx="179222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8FAD"/>
              </a:buClr>
              <a:buSzPts val="900"/>
              <a:buFont typeface="Calibri"/>
              <a:buNone/>
            </a:pPr>
            <a:r>
              <a:rPr b="0" i="0" lang="en" sz="900" u="none" cap="none" strike="noStrike">
                <a:solidFill>
                  <a:srgbClr val="938FAD"/>
                </a:solidFill>
                <a:latin typeface="Calibri"/>
                <a:ea typeface="Calibri"/>
                <a:cs typeface="Calibri"/>
                <a:sym typeface="Calibri"/>
              </a:rPr>
              <a:t>NRI professional · London</a:t>
            </a:r>
            <a:endParaRPr b="0" i="0" sz="900" u="none" cap="none" strike="noStrike">
              <a:solidFill>
                <a:schemeClr val="dk1"/>
              </a:solidFill>
              <a:latin typeface="Calibri"/>
              <a:ea typeface="Calibri"/>
              <a:cs typeface="Calibri"/>
              <a:sym typeface="Calibri"/>
            </a:endParaRPr>
          </a:p>
        </p:txBody>
      </p:sp>
      <p:sp>
        <p:nvSpPr>
          <p:cNvPr id="170" name="Google Shape;170;p19"/>
          <p:cNvSpPr/>
          <p:nvPr/>
        </p:nvSpPr>
        <p:spPr>
          <a:xfrm>
            <a:off x="3465576" y="3803904"/>
            <a:ext cx="2231136"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100"/>
              <a:buFont typeface="Cambria"/>
              <a:buNone/>
            </a:pPr>
            <a:r>
              <a:rPr b="0" i="1" lang="en" sz="1100" u="none" cap="none" strike="noStrike">
                <a:solidFill>
                  <a:srgbClr val="5C5680"/>
                </a:solidFill>
                <a:latin typeface="Cambria"/>
                <a:ea typeface="Cambria"/>
                <a:cs typeface="Cambria"/>
                <a:sym typeface="Cambria"/>
              </a:rPr>
              <a:t>Rootless far from home; time-zones make live hard.</a:t>
            </a:r>
            <a:endParaRPr b="0" i="0" sz="1100" u="none" cap="none" strike="noStrike">
              <a:solidFill>
                <a:schemeClr val="dk1"/>
              </a:solidFill>
              <a:latin typeface="Calibri"/>
              <a:ea typeface="Calibri"/>
              <a:cs typeface="Calibri"/>
              <a:sym typeface="Calibri"/>
            </a:endParaRPr>
          </a:p>
        </p:txBody>
      </p:sp>
      <p:sp>
        <p:nvSpPr>
          <p:cNvPr id="171" name="Google Shape;171;p19"/>
          <p:cNvSpPr/>
          <p:nvPr/>
        </p:nvSpPr>
        <p:spPr>
          <a:xfrm>
            <a:off x="3465576" y="4334256"/>
            <a:ext cx="2231136" cy="36576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A8530F"/>
              </a:buClr>
              <a:buSzPts val="850"/>
              <a:buFont typeface="Calibri"/>
              <a:buNone/>
            </a:pPr>
            <a:r>
              <a:rPr b="1" i="0" lang="en" sz="850" u="none" cap="none" strike="noStrike">
                <a:solidFill>
                  <a:srgbClr val="A8530F"/>
                </a:solidFill>
                <a:latin typeface="Calibri"/>
                <a:ea typeface="Calibri"/>
                <a:cs typeface="Calibri"/>
                <a:sym typeface="Calibri"/>
              </a:rPr>
              <a:t>WANTS  </a:t>
            </a:r>
            <a:r>
              <a:rPr b="0" i="0" lang="en" sz="950" u="none" cap="none" strike="noStrike">
                <a:solidFill>
                  <a:srgbClr val="211B45"/>
                </a:solidFill>
                <a:latin typeface="Calibri"/>
                <a:ea typeface="Calibri"/>
                <a:cs typeface="Calibri"/>
                <a:sym typeface="Calibri"/>
              </a:rPr>
              <a:t>Stay close to practice &amp; Sangha from afar.</a:t>
            </a:r>
            <a:endParaRPr b="0" i="0" sz="850" u="none" cap="none" strike="noStrike">
              <a:solidFill>
                <a:schemeClr val="dk1"/>
              </a:solidFill>
              <a:latin typeface="Calibri"/>
              <a:ea typeface="Calibri"/>
              <a:cs typeface="Calibri"/>
              <a:sym typeface="Calibri"/>
            </a:endParaRPr>
          </a:p>
        </p:txBody>
      </p:sp>
      <p:sp>
        <p:nvSpPr>
          <p:cNvPr id="172" name="Google Shape;172;p19"/>
          <p:cNvSpPr/>
          <p:nvPr/>
        </p:nvSpPr>
        <p:spPr>
          <a:xfrm>
            <a:off x="6053328" y="3108960"/>
            <a:ext cx="2542032" cy="1627632"/>
          </a:xfrm>
          <a:prstGeom prst="roundRect">
            <a:avLst>
              <a:gd fmla="val 5618" name="adj"/>
            </a:avLst>
          </a:prstGeom>
          <a:solidFill>
            <a:srgbClr val="FFFFFF"/>
          </a:solidFill>
          <a:ln cap="flat" cmpd="sng" w="12700">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9"/>
          <p:cNvSpPr/>
          <p:nvPr/>
        </p:nvSpPr>
        <p:spPr>
          <a:xfrm>
            <a:off x="6217920" y="3273552"/>
            <a:ext cx="384048" cy="384048"/>
          </a:xfrm>
          <a:prstGeom prst="ellipse">
            <a:avLst/>
          </a:prstGeom>
          <a:solidFill>
            <a:srgbClr val="4F8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9"/>
          <p:cNvSpPr/>
          <p:nvPr/>
        </p:nvSpPr>
        <p:spPr>
          <a:xfrm>
            <a:off x="6217920" y="32735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 sz="1600" u="none" cap="none" strike="noStrike">
                <a:solidFill>
                  <a:srgbClr val="FFFFFF"/>
                </a:solidFill>
                <a:latin typeface="Cambria"/>
                <a:ea typeface="Cambria"/>
                <a:cs typeface="Cambria"/>
                <a:sym typeface="Cambria"/>
              </a:rPr>
              <a:t>D</a:t>
            </a:r>
            <a:endParaRPr b="0" i="0" sz="1600" u="none" cap="none" strike="noStrike">
              <a:solidFill>
                <a:schemeClr val="dk1"/>
              </a:solidFill>
              <a:latin typeface="Calibri"/>
              <a:ea typeface="Calibri"/>
              <a:cs typeface="Calibri"/>
              <a:sym typeface="Calibri"/>
            </a:endParaRPr>
          </a:p>
        </p:txBody>
      </p:sp>
      <p:sp>
        <p:nvSpPr>
          <p:cNvPr id="175" name="Google Shape;175;p19"/>
          <p:cNvSpPr/>
          <p:nvPr/>
        </p:nvSpPr>
        <p:spPr>
          <a:xfrm>
            <a:off x="6693408" y="3273552"/>
            <a:ext cx="179222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250"/>
              <a:buFont typeface="Calibri"/>
              <a:buNone/>
            </a:pPr>
            <a:r>
              <a:rPr b="1" i="0" lang="en" sz="1250" u="none" cap="none" strike="noStrike">
                <a:solidFill>
                  <a:srgbClr val="211B45"/>
                </a:solidFill>
                <a:latin typeface="Calibri"/>
                <a:ea typeface="Calibri"/>
                <a:cs typeface="Calibri"/>
                <a:sym typeface="Calibri"/>
              </a:rPr>
              <a:t>David, 38</a:t>
            </a:r>
            <a:endParaRPr b="0" i="0" sz="1250" u="none" cap="none" strike="noStrike">
              <a:solidFill>
                <a:schemeClr val="dk1"/>
              </a:solidFill>
              <a:latin typeface="Calibri"/>
              <a:ea typeface="Calibri"/>
              <a:cs typeface="Calibri"/>
              <a:sym typeface="Calibri"/>
            </a:endParaRPr>
          </a:p>
        </p:txBody>
      </p:sp>
      <p:sp>
        <p:nvSpPr>
          <p:cNvPr id="176" name="Google Shape;176;p19"/>
          <p:cNvSpPr/>
          <p:nvPr/>
        </p:nvSpPr>
        <p:spPr>
          <a:xfrm>
            <a:off x="6693408" y="3520440"/>
            <a:ext cx="179222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8FAD"/>
              </a:buClr>
              <a:buSzPts val="900"/>
              <a:buFont typeface="Calibri"/>
              <a:buNone/>
            </a:pPr>
            <a:r>
              <a:rPr b="0" i="0" lang="en" sz="900" u="none" cap="none" strike="noStrike">
                <a:solidFill>
                  <a:srgbClr val="938FAD"/>
                </a:solidFill>
                <a:latin typeface="Calibri"/>
                <a:ea typeface="Calibri"/>
                <a:cs typeface="Calibri"/>
                <a:sym typeface="Calibri"/>
              </a:rPr>
              <a:t>Wellness-curious · New York</a:t>
            </a:r>
            <a:endParaRPr b="0" i="0" sz="900" u="none" cap="none" strike="noStrike">
              <a:solidFill>
                <a:schemeClr val="dk1"/>
              </a:solidFill>
              <a:latin typeface="Calibri"/>
              <a:ea typeface="Calibri"/>
              <a:cs typeface="Calibri"/>
              <a:sym typeface="Calibri"/>
            </a:endParaRPr>
          </a:p>
        </p:txBody>
      </p:sp>
      <p:sp>
        <p:nvSpPr>
          <p:cNvPr id="177" name="Google Shape;177;p19"/>
          <p:cNvSpPr/>
          <p:nvPr/>
        </p:nvSpPr>
        <p:spPr>
          <a:xfrm>
            <a:off x="6217920" y="3803904"/>
            <a:ext cx="2231136"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100"/>
              <a:buFont typeface="Cambria"/>
              <a:buNone/>
            </a:pPr>
            <a:r>
              <a:rPr b="0" i="1" lang="en" sz="1100" u="none" cap="none" strike="noStrike">
                <a:solidFill>
                  <a:srgbClr val="5C5680"/>
                </a:solidFill>
                <a:latin typeface="Cambria"/>
                <a:ea typeface="Cambria"/>
                <a:cs typeface="Cambria"/>
                <a:sym typeface="Cambria"/>
              </a:rPr>
              <a:t>Tried Calm &amp; Headspace; wants depth, not white noise.</a:t>
            </a:r>
            <a:endParaRPr b="0" i="0" sz="1100" u="none" cap="none" strike="noStrike">
              <a:solidFill>
                <a:schemeClr val="dk1"/>
              </a:solidFill>
              <a:latin typeface="Calibri"/>
              <a:ea typeface="Calibri"/>
              <a:cs typeface="Calibri"/>
              <a:sym typeface="Calibri"/>
            </a:endParaRPr>
          </a:p>
        </p:txBody>
      </p:sp>
      <p:sp>
        <p:nvSpPr>
          <p:cNvPr id="178" name="Google Shape;178;p19"/>
          <p:cNvSpPr/>
          <p:nvPr/>
        </p:nvSpPr>
        <p:spPr>
          <a:xfrm>
            <a:off x="6217920" y="4334256"/>
            <a:ext cx="2231136" cy="36576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A8530F"/>
              </a:buClr>
              <a:buSzPts val="850"/>
              <a:buFont typeface="Calibri"/>
              <a:buNone/>
            </a:pPr>
            <a:r>
              <a:rPr b="1" i="0" lang="en" sz="850" u="none" cap="none" strike="noStrike">
                <a:solidFill>
                  <a:srgbClr val="A8530F"/>
                </a:solidFill>
                <a:latin typeface="Calibri"/>
                <a:ea typeface="Calibri"/>
                <a:cs typeface="Calibri"/>
                <a:sym typeface="Calibri"/>
              </a:rPr>
              <a:t>WANTS  </a:t>
            </a:r>
            <a:r>
              <a:rPr b="0" i="0" lang="en" sz="950" u="none" cap="none" strike="noStrike">
                <a:solidFill>
                  <a:srgbClr val="211B45"/>
                </a:solidFill>
                <a:latin typeface="Calibri"/>
                <a:ea typeface="Calibri"/>
                <a:cs typeface="Calibri"/>
                <a:sym typeface="Calibri"/>
              </a:rPr>
              <a:t>A calmer mind with real depth.</a:t>
            </a:r>
            <a:endParaRPr b="0" i="0" sz="850" u="none" cap="none" strike="noStrike">
              <a:solidFill>
                <a:schemeClr val="dk1"/>
              </a:solidFill>
              <a:latin typeface="Calibri"/>
              <a:ea typeface="Calibri"/>
              <a:cs typeface="Calibri"/>
              <a:sym typeface="Calibri"/>
            </a:endParaRPr>
          </a:p>
        </p:txBody>
      </p:sp>
      <p:sp>
        <p:nvSpPr>
          <p:cNvPr id="179" name="Google Shape;179;p19"/>
          <p:cNvSpPr/>
          <p:nvPr/>
        </p:nvSpPr>
        <p:spPr>
          <a:xfrm>
            <a:off x="548640" y="4800600"/>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8FAD"/>
              </a:buClr>
              <a:buSzPts val="950"/>
              <a:buFont typeface="Calibri"/>
              <a:buNone/>
            </a:pPr>
            <a:r>
              <a:rPr b="0" i="1" lang="en" sz="950" u="none" cap="none" strike="noStrike">
                <a:solidFill>
                  <a:srgbClr val="938FAD"/>
                </a:solidFill>
                <a:latin typeface="Calibri"/>
                <a:ea typeface="Calibri"/>
                <a:cs typeface="Calibri"/>
                <a:sym typeface="Calibri"/>
              </a:rPr>
              <a:t>Representative personas — India-weighted, with two global seekers — to be validated against real user research.</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p20"/>
          <p:cNvSpPr/>
          <p:nvPr/>
        </p:nvSpPr>
        <p:spPr>
          <a:xfrm>
            <a:off x="548640" y="45720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THE CORE IDEA</a:t>
            </a:r>
            <a:endParaRPr b="0" i="0" sz="1100" u="none" cap="none" strike="noStrike">
              <a:solidFill>
                <a:schemeClr val="dk1"/>
              </a:solidFill>
              <a:latin typeface="Calibri"/>
              <a:ea typeface="Calibri"/>
              <a:cs typeface="Calibri"/>
              <a:sym typeface="Calibri"/>
            </a:endParaRPr>
          </a:p>
        </p:txBody>
      </p:sp>
      <p:sp>
        <p:nvSpPr>
          <p:cNvPr id="186" name="Google Shape;186;p20"/>
          <p:cNvSpPr/>
          <p:nvPr/>
        </p:nvSpPr>
        <p:spPr>
          <a:xfrm>
            <a:off x="512064" y="74980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900"/>
              <a:buFont typeface="Cambria"/>
              <a:buNone/>
            </a:pPr>
            <a:r>
              <a:rPr b="1" i="0" lang="en" sz="2900" u="none" cap="none" strike="noStrike">
                <a:solidFill>
                  <a:srgbClr val="211B45"/>
                </a:solidFill>
                <a:latin typeface="Cambria"/>
                <a:ea typeface="Cambria"/>
                <a:cs typeface="Cambria"/>
                <a:sym typeface="Cambria"/>
              </a:rPr>
              <a:t>A daily loop that gets easier every turn</a:t>
            </a:r>
            <a:endParaRPr b="0" i="0" sz="2900" u="none" cap="none" strike="noStrike">
              <a:solidFill>
                <a:schemeClr val="dk1"/>
              </a:solidFill>
              <a:latin typeface="Calibri"/>
              <a:ea typeface="Calibri"/>
              <a:cs typeface="Calibri"/>
              <a:sym typeface="Calibri"/>
            </a:endParaRPr>
          </a:p>
        </p:txBody>
      </p:sp>
      <p:sp>
        <p:nvSpPr>
          <p:cNvPr id="187" name="Google Shape;187;p20"/>
          <p:cNvSpPr/>
          <p:nvPr/>
        </p:nvSpPr>
        <p:spPr>
          <a:xfrm>
            <a:off x="566928" y="1874520"/>
            <a:ext cx="1783080" cy="1188720"/>
          </a:xfrm>
          <a:prstGeom prst="roundRect">
            <a:avLst>
              <a:gd fmla="val 9231" name="adj"/>
            </a:avLst>
          </a:prstGeom>
          <a:solidFill>
            <a:srgbClr val="F7E6D2"/>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0"/>
          <p:cNvSpPr/>
          <p:nvPr/>
        </p:nvSpPr>
        <p:spPr>
          <a:xfrm>
            <a:off x="566928" y="2093976"/>
            <a:ext cx="17830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30F"/>
              </a:buClr>
              <a:buSzPts val="1900"/>
              <a:buFont typeface="Cambria"/>
              <a:buNone/>
            </a:pPr>
            <a:r>
              <a:rPr b="1" i="0" lang="en" sz="1900" u="none" cap="none" strike="noStrike">
                <a:solidFill>
                  <a:srgbClr val="A8530F"/>
                </a:solidFill>
                <a:latin typeface="Cambria"/>
                <a:ea typeface="Cambria"/>
                <a:cs typeface="Cambria"/>
                <a:sym typeface="Cambria"/>
              </a:rPr>
              <a:t>Curate</a:t>
            </a:r>
            <a:endParaRPr b="0" i="0" sz="1900" u="none" cap="none" strike="noStrike">
              <a:solidFill>
                <a:schemeClr val="dk1"/>
              </a:solidFill>
              <a:latin typeface="Calibri"/>
              <a:ea typeface="Calibri"/>
              <a:cs typeface="Calibri"/>
              <a:sym typeface="Calibri"/>
            </a:endParaRPr>
          </a:p>
        </p:txBody>
      </p:sp>
      <p:sp>
        <p:nvSpPr>
          <p:cNvPr id="189" name="Google Shape;189;p20"/>
          <p:cNvSpPr/>
          <p:nvPr/>
        </p:nvSpPr>
        <p:spPr>
          <a:xfrm>
            <a:off x="676656" y="2496312"/>
            <a:ext cx="1563624"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5680"/>
              </a:buClr>
              <a:buSzPts val="1050"/>
              <a:buFont typeface="Calibri"/>
              <a:buNone/>
            </a:pPr>
            <a:r>
              <a:rPr b="0" i="0" lang="en" sz="1050" u="none" cap="none" strike="noStrike">
                <a:solidFill>
                  <a:srgbClr val="5C5680"/>
                </a:solidFill>
                <a:latin typeface="Calibri"/>
                <a:ea typeface="Calibri"/>
                <a:cs typeface="Calibri"/>
                <a:sym typeface="Calibri"/>
              </a:rPr>
              <a:t>the day’s practice, chosen for you</a:t>
            </a:r>
            <a:endParaRPr b="0" i="0" sz="1050" u="none" cap="none" strike="noStrike">
              <a:solidFill>
                <a:schemeClr val="dk1"/>
              </a:solidFill>
              <a:latin typeface="Calibri"/>
              <a:ea typeface="Calibri"/>
              <a:cs typeface="Calibri"/>
              <a:sym typeface="Calibri"/>
            </a:endParaRPr>
          </a:p>
        </p:txBody>
      </p:sp>
      <p:sp>
        <p:nvSpPr>
          <p:cNvPr id="190" name="Google Shape;190;p20"/>
          <p:cNvSpPr/>
          <p:nvPr/>
        </p:nvSpPr>
        <p:spPr>
          <a:xfrm>
            <a:off x="2359152" y="2258568"/>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2200"/>
              <a:buFont typeface="Calibri"/>
              <a:buNone/>
            </a:pPr>
            <a:r>
              <a:rPr b="1" i="0" lang="en" sz="2200" u="none" cap="none" strike="noStrike">
                <a:solidFill>
                  <a:srgbClr val="E07B2E"/>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91" name="Google Shape;191;p20"/>
          <p:cNvSpPr/>
          <p:nvPr/>
        </p:nvSpPr>
        <p:spPr>
          <a:xfrm>
            <a:off x="2679192" y="1874520"/>
            <a:ext cx="1783080" cy="1188720"/>
          </a:xfrm>
          <a:prstGeom prst="roundRect">
            <a:avLst>
              <a:gd fmla="val 9231" name="adj"/>
            </a:avLst>
          </a:prstGeom>
          <a:solidFill>
            <a:srgbClr val="E3EFEA"/>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0"/>
          <p:cNvSpPr/>
          <p:nvPr/>
        </p:nvSpPr>
        <p:spPr>
          <a:xfrm>
            <a:off x="2679192" y="2093976"/>
            <a:ext cx="17830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5C4D"/>
              </a:buClr>
              <a:buSzPts val="1900"/>
              <a:buFont typeface="Cambria"/>
              <a:buNone/>
            </a:pPr>
            <a:r>
              <a:rPr b="1" i="0" lang="en" sz="1900" u="none" cap="none" strike="noStrike">
                <a:solidFill>
                  <a:srgbClr val="2F5C4D"/>
                </a:solidFill>
                <a:latin typeface="Cambria"/>
                <a:ea typeface="Cambria"/>
                <a:cs typeface="Cambria"/>
                <a:sym typeface="Cambria"/>
              </a:rPr>
              <a:t>Practice</a:t>
            </a:r>
            <a:endParaRPr b="0" i="0" sz="1900" u="none" cap="none" strike="noStrike">
              <a:solidFill>
                <a:schemeClr val="dk1"/>
              </a:solidFill>
              <a:latin typeface="Calibri"/>
              <a:ea typeface="Calibri"/>
              <a:cs typeface="Calibri"/>
              <a:sym typeface="Calibri"/>
            </a:endParaRPr>
          </a:p>
        </p:txBody>
      </p:sp>
      <p:sp>
        <p:nvSpPr>
          <p:cNvPr id="193" name="Google Shape;193;p20"/>
          <p:cNvSpPr/>
          <p:nvPr/>
        </p:nvSpPr>
        <p:spPr>
          <a:xfrm>
            <a:off x="2788920" y="2496312"/>
            <a:ext cx="1563624"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5680"/>
              </a:buClr>
              <a:buSzPts val="1050"/>
              <a:buFont typeface="Calibri"/>
              <a:buNone/>
            </a:pPr>
            <a:r>
              <a:rPr b="0" i="0" lang="en" sz="1050" u="none" cap="none" strike="noStrike">
                <a:solidFill>
                  <a:srgbClr val="5C5680"/>
                </a:solidFill>
                <a:latin typeface="Calibri"/>
                <a:ea typeface="Calibri"/>
                <a:cs typeface="Calibri"/>
                <a:sym typeface="Calibri"/>
              </a:rPr>
              <a:t>the meditation, breath or wisdom</a:t>
            </a:r>
            <a:endParaRPr b="0" i="0" sz="1050" u="none" cap="none" strike="noStrike">
              <a:solidFill>
                <a:schemeClr val="dk1"/>
              </a:solidFill>
              <a:latin typeface="Calibri"/>
              <a:ea typeface="Calibri"/>
              <a:cs typeface="Calibri"/>
              <a:sym typeface="Calibri"/>
            </a:endParaRPr>
          </a:p>
        </p:txBody>
      </p:sp>
      <p:sp>
        <p:nvSpPr>
          <p:cNvPr id="194" name="Google Shape;194;p20"/>
          <p:cNvSpPr/>
          <p:nvPr/>
        </p:nvSpPr>
        <p:spPr>
          <a:xfrm>
            <a:off x="4471416" y="2258568"/>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2200"/>
              <a:buFont typeface="Calibri"/>
              <a:buNone/>
            </a:pPr>
            <a:r>
              <a:rPr b="1" i="0" lang="en" sz="2200" u="none" cap="none" strike="noStrike">
                <a:solidFill>
                  <a:srgbClr val="E07B2E"/>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95" name="Google Shape;195;p20"/>
          <p:cNvSpPr/>
          <p:nvPr/>
        </p:nvSpPr>
        <p:spPr>
          <a:xfrm>
            <a:off x="4791456" y="1874520"/>
            <a:ext cx="1783080" cy="1188720"/>
          </a:xfrm>
          <a:prstGeom prst="roundRect">
            <a:avLst>
              <a:gd fmla="val 9231" name="adj"/>
            </a:avLst>
          </a:prstGeom>
          <a:solidFill>
            <a:srgbClr val="E7E3F3"/>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0"/>
          <p:cNvSpPr/>
          <p:nvPr/>
        </p:nvSpPr>
        <p:spPr>
          <a:xfrm>
            <a:off x="4791456" y="2093976"/>
            <a:ext cx="17830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2C72"/>
              </a:buClr>
              <a:buSzPts val="1900"/>
              <a:buFont typeface="Cambria"/>
              <a:buNone/>
            </a:pPr>
            <a:r>
              <a:rPr b="1" i="0" lang="en" sz="1900" u="none" cap="none" strike="noStrike">
                <a:solidFill>
                  <a:srgbClr val="372C72"/>
                </a:solidFill>
                <a:latin typeface="Cambria"/>
                <a:ea typeface="Cambria"/>
                <a:cs typeface="Cambria"/>
                <a:sym typeface="Cambria"/>
              </a:rPr>
              <a:t>Reward</a:t>
            </a:r>
            <a:endParaRPr b="0" i="0" sz="1900" u="none" cap="none" strike="noStrike">
              <a:solidFill>
                <a:schemeClr val="dk1"/>
              </a:solidFill>
              <a:latin typeface="Calibri"/>
              <a:ea typeface="Calibri"/>
              <a:cs typeface="Calibri"/>
              <a:sym typeface="Calibri"/>
            </a:endParaRPr>
          </a:p>
        </p:txBody>
      </p:sp>
      <p:sp>
        <p:nvSpPr>
          <p:cNvPr id="197" name="Google Shape;197;p20"/>
          <p:cNvSpPr/>
          <p:nvPr/>
        </p:nvSpPr>
        <p:spPr>
          <a:xfrm>
            <a:off x="4901184" y="2496312"/>
            <a:ext cx="1563624"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5680"/>
              </a:buClr>
              <a:buSzPts val="1050"/>
              <a:buFont typeface="Calibri"/>
              <a:buNone/>
            </a:pPr>
            <a:r>
              <a:rPr b="0" i="0" lang="en" sz="1050" u="none" cap="none" strike="noStrike">
                <a:solidFill>
                  <a:srgbClr val="5C5680"/>
                </a:solidFill>
                <a:latin typeface="Calibri"/>
                <a:ea typeface="Calibri"/>
                <a:cs typeface="Calibri"/>
                <a:sym typeface="Calibri"/>
              </a:rPr>
              <a:t>feel the calm; see your progress</a:t>
            </a:r>
            <a:endParaRPr b="0" i="0" sz="1050" u="none" cap="none" strike="noStrike">
              <a:solidFill>
                <a:schemeClr val="dk1"/>
              </a:solidFill>
              <a:latin typeface="Calibri"/>
              <a:ea typeface="Calibri"/>
              <a:cs typeface="Calibri"/>
              <a:sym typeface="Calibri"/>
            </a:endParaRPr>
          </a:p>
        </p:txBody>
      </p:sp>
      <p:sp>
        <p:nvSpPr>
          <p:cNvPr id="198" name="Google Shape;198;p20"/>
          <p:cNvSpPr/>
          <p:nvPr/>
        </p:nvSpPr>
        <p:spPr>
          <a:xfrm>
            <a:off x="6583680" y="2258568"/>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2200"/>
              <a:buFont typeface="Calibri"/>
              <a:buNone/>
            </a:pPr>
            <a:r>
              <a:rPr b="1" i="0" lang="en" sz="2200" u="none" cap="none" strike="noStrike">
                <a:solidFill>
                  <a:srgbClr val="E07B2E"/>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99" name="Google Shape;199;p20"/>
          <p:cNvSpPr/>
          <p:nvPr/>
        </p:nvSpPr>
        <p:spPr>
          <a:xfrm>
            <a:off x="6903720" y="1874520"/>
            <a:ext cx="1783080" cy="1188720"/>
          </a:xfrm>
          <a:prstGeom prst="roundRect">
            <a:avLst>
              <a:gd fmla="val 9231" name="adj"/>
            </a:avLst>
          </a:prstGeom>
          <a:solidFill>
            <a:srgbClr val="F7E6D2"/>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0"/>
          <p:cNvSpPr/>
          <p:nvPr/>
        </p:nvSpPr>
        <p:spPr>
          <a:xfrm>
            <a:off x="6903720" y="2093976"/>
            <a:ext cx="17830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30F"/>
              </a:buClr>
              <a:buSzPts val="1900"/>
              <a:buFont typeface="Cambria"/>
              <a:buNone/>
            </a:pPr>
            <a:r>
              <a:rPr b="1" i="0" lang="en" sz="1900" u="none" cap="none" strike="noStrike">
                <a:solidFill>
                  <a:srgbClr val="A8530F"/>
                </a:solidFill>
                <a:latin typeface="Cambria"/>
                <a:ea typeface="Cambria"/>
                <a:cs typeface="Cambria"/>
                <a:sym typeface="Cambria"/>
              </a:rPr>
              <a:t>Belong</a:t>
            </a:r>
            <a:endParaRPr b="0" i="0" sz="1900" u="none" cap="none" strike="noStrike">
              <a:solidFill>
                <a:schemeClr val="dk1"/>
              </a:solidFill>
              <a:latin typeface="Calibri"/>
              <a:ea typeface="Calibri"/>
              <a:cs typeface="Calibri"/>
              <a:sym typeface="Calibri"/>
            </a:endParaRPr>
          </a:p>
        </p:txBody>
      </p:sp>
      <p:sp>
        <p:nvSpPr>
          <p:cNvPr id="201" name="Google Shape;201;p20"/>
          <p:cNvSpPr/>
          <p:nvPr/>
        </p:nvSpPr>
        <p:spPr>
          <a:xfrm>
            <a:off x="7013448" y="2496312"/>
            <a:ext cx="1563624"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5680"/>
              </a:buClr>
              <a:buSzPts val="1050"/>
              <a:buFont typeface="Calibri"/>
              <a:buNone/>
            </a:pPr>
            <a:r>
              <a:rPr b="0" i="0" lang="en" sz="1050" u="none" cap="none" strike="noStrike">
                <a:solidFill>
                  <a:srgbClr val="5C5680"/>
                </a:solidFill>
                <a:latin typeface="Calibri"/>
                <a:ea typeface="Calibri"/>
                <a:cs typeface="Calibri"/>
                <a:sym typeface="Calibri"/>
              </a:rPr>
              <a:t>practise alongside the Sangha</a:t>
            </a:r>
            <a:endParaRPr b="0" i="0" sz="1050" u="none" cap="none" strike="noStrike">
              <a:solidFill>
                <a:schemeClr val="dk1"/>
              </a:solidFill>
              <a:latin typeface="Calibri"/>
              <a:ea typeface="Calibri"/>
              <a:cs typeface="Calibri"/>
              <a:sym typeface="Calibri"/>
            </a:endParaRPr>
          </a:p>
        </p:txBody>
      </p:sp>
      <p:cxnSp>
        <p:nvCxnSpPr>
          <p:cNvPr id="202" name="Google Shape;202;p20"/>
          <p:cNvCxnSpPr/>
          <p:nvPr/>
        </p:nvCxnSpPr>
        <p:spPr>
          <a:xfrm>
            <a:off x="7772400" y="3063240"/>
            <a:ext cx="0" cy="502920"/>
          </a:xfrm>
          <a:prstGeom prst="straightConnector1">
            <a:avLst/>
          </a:prstGeom>
          <a:noFill/>
          <a:ln cap="flat" cmpd="sng" w="25400">
            <a:solidFill>
              <a:srgbClr val="E0A94B"/>
            </a:solidFill>
            <a:prstDash val="solid"/>
            <a:round/>
            <a:headEnd len="sm" w="sm" type="none"/>
            <a:tailEnd len="sm" w="sm" type="none"/>
          </a:ln>
        </p:spPr>
      </p:cxnSp>
      <p:cxnSp>
        <p:nvCxnSpPr>
          <p:cNvPr id="203" name="Google Shape;203;p20"/>
          <p:cNvCxnSpPr/>
          <p:nvPr/>
        </p:nvCxnSpPr>
        <p:spPr>
          <a:xfrm>
            <a:off x="1463040" y="3566160"/>
            <a:ext cx="6309360" cy="0"/>
          </a:xfrm>
          <a:prstGeom prst="straightConnector1">
            <a:avLst/>
          </a:prstGeom>
          <a:noFill/>
          <a:ln cap="flat" cmpd="sng" w="25400">
            <a:solidFill>
              <a:srgbClr val="E0A94B"/>
            </a:solidFill>
            <a:prstDash val="solid"/>
            <a:round/>
            <a:headEnd len="sm" w="sm" type="none"/>
            <a:tailEnd len="sm" w="sm" type="none"/>
          </a:ln>
        </p:spPr>
      </p:cxnSp>
      <p:cxnSp>
        <p:nvCxnSpPr>
          <p:cNvPr id="204" name="Google Shape;204;p20"/>
          <p:cNvCxnSpPr/>
          <p:nvPr/>
        </p:nvCxnSpPr>
        <p:spPr>
          <a:xfrm>
            <a:off x="1463040" y="3063240"/>
            <a:ext cx="0" cy="502920"/>
          </a:xfrm>
          <a:prstGeom prst="straightConnector1">
            <a:avLst/>
          </a:prstGeom>
          <a:noFill/>
          <a:ln cap="flat" cmpd="sng" w="25400">
            <a:solidFill>
              <a:srgbClr val="E0A94B"/>
            </a:solidFill>
            <a:prstDash val="solid"/>
            <a:round/>
            <a:headEnd len="sm" w="sm" type="none"/>
            <a:tailEnd len="sm" w="sm" type="none"/>
          </a:ln>
        </p:spPr>
      </p:cxnSp>
      <p:sp>
        <p:nvSpPr>
          <p:cNvPr id="205" name="Google Shape;205;p20"/>
          <p:cNvSpPr/>
          <p:nvPr/>
        </p:nvSpPr>
        <p:spPr>
          <a:xfrm>
            <a:off x="1298448" y="2944368"/>
            <a:ext cx="32918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A94B"/>
              </a:buClr>
              <a:buSzPts val="1800"/>
              <a:buFont typeface="Calibri"/>
              <a:buNone/>
            </a:pPr>
            <a:r>
              <a:rPr b="1" i="0" lang="en" sz="1800" u="none" cap="none" strike="noStrike">
                <a:solidFill>
                  <a:srgbClr val="E0A94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06" name="Google Shape;206;p20"/>
          <p:cNvSpPr/>
          <p:nvPr/>
        </p:nvSpPr>
        <p:spPr>
          <a:xfrm>
            <a:off x="1463040" y="3749040"/>
            <a:ext cx="63093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5680"/>
              </a:buClr>
              <a:buSzPts val="1200"/>
              <a:buFont typeface="Calibri"/>
              <a:buNone/>
            </a:pPr>
            <a:r>
              <a:rPr b="0" i="1" lang="en" sz="1200" u="none" cap="none" strike="noStrike">
                <a:solidFill>
                  <a:srgbClr val="5C5680"/>
                </a:solidFill>
                <a:latin typeface="Calibri"/>
                <a:ea typeface="Calibri"/>
                <a:cs typeface="Calibri"/>
                <a:sym typeface="Calibri"/>
              </a:rPr>
              <a:t>Every turn deepens the next: more practice → a wiser daily suggestion → a stronger habit → a closer Sangha → more practice.</a:t>
            </a:r>
            <a:endParaRPr b="0" i="0" sz="1200" u="none" cap="none" strike="noStrike">
              <a:solidFill>
                <a:schemeClr val="dk1"/>
              </a:solidFill>
              <a:latin typeface="Calibri"/>
              <a:ea typeface="Calibri"/>
              <a:cs typeface="Calibri"/>
              <a:sym typeface="Calibri"/>
            </a:endParaRPr>
          </a:p>
        </p:txBody>
      </p:sp>
      <p:sp>
        <p:nvSpPr>
          <p:cNvPr id="207" name="Google Shape;207;p20"/>
          <p:cNvSpPr/>
          <p:nvPr/>
        </p:nvSpPr>
        <p:spPr>
          <a:xfrm>
            <a:off x="1463040" y="4160520"/>
            <a:ext cx="63093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30F"/>
              </a:buClr>
              <a:buSzPts val="1150"/>
              <a:buFont typeface="Calibri"/>
              <a:buNone/>
            </a:pPr>
            <a:r>
              <a:rPr b="1" i="0" lang="en" sz="1150" u="none" cap="none" strike="noStrike">
                <a:solidFill>
                  <a:srgbClr val="A8530F"/>
                </a:solidFill>
                <a:latin typeface="Calibri"/>
                <a:ea typeface="Calibri"/>
                <a:cs typeface="Calibri"/>
                <a:sym typeface="Calibri"/>
              </a:rPr>
              <a:t>This is the engine of the mission: a habit that holds, and quietly compounds.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21"/>
          <p:cNvSpPr/>
          <p:nvPr/>
        </p:nvSpPr>
        <p:spPr>
          <a:xfrm>
            <a:off x="548640" y="45720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THE JOURNEY</a:t>
            </a:r>
            <a:endParaRPr b="0" i="0" sz="1100" u="none" cap="none" strike="noStrike">
              <a:solidFill>
                <a:schemeClr val="dk1"/>
              </a:solidFill>
              <a:latin typeface="Calibri"/>
              <a:ea typeface="Calibri"/>
              <a:cs typeface="Calibri"/>
              <a:sym typeface="Calibri"/>
            </a:endParaRPr>
          </a:p>
        </p:txBody>
      </p:sp>
      <p:sp>
        <p:nvSpPr>
          <p:cNvPr id="214" name="Google Shape;214;p21"/>
          <p:cNvSpPr/>
          <p:nvPr/>
        </p:nvSpPr>
        <p:spPr>
          <a:xfrm>
            <a:off x="512064" y="74980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700"/>
              <a:buFont typeface="Cambria"/>
              <a:buNone/>
            </a:pPr>
            <a:r>
              <a:rPr b="1" i="0" lang="en" sz="2700" u="none" cap="none" strike="noStrike">
                <a:solidFill>
                  <a:srgbClr val="211B45"/>
                </a:solidFill>
                <a:latin typeface="Cambria"/>
                <a:ea typeface="Cambria"/>
                <a:cs typeface="Cambria"/>
                <a:sym typeface="Cambria"/>
              </a:rPr>
              <a:t>From a free first breath to a lifelong practice</a:t>
            </a:r>
            <a:endParaRPr b="0" i="0" sz="2700" u="none" cap="none" strike="noStrike">
              <a:solidFill>
                <a:schemeClr val="dk1"/>
              </a:solidFill>
              <a:latin typeface="Calibri"/>
              <a:ea typeface="Calibri"/>
              <a:cs typeface="Calibri"/>
              <a:sym typeface="Calibri"/>
            </a:endParaRPr>
          </a:p>
        </p:txBody>
      </p:sp>
      <p:sp>
        <p:nvSpPr>
          <p:cNvPr id="215" name="Google Shape;215;p21"/>
          <p:cNvSpPr/>
          <p:nvPr/>
        </p:nvSpPr>
        <p:spPr>
          <a:xfrm>
            <a:off x="640080" y="1627632"/>
            <a:ext cx="5669280" cy="676656"/>
          </a:xfrm>
          <a:prstGeom prst="roundRect">
            <a:avLst>
              <a:gd fmla="val 10811" name="adj"/>
            </a:avLst>
          </a:prstGeom>
          <a:solidFill>
            <a:srgbClr val="938FAD"/>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1"/>
          <p:cNvSpPr/>
          <p:nvPr/>
        </p:nvSpPr>
        <p:spPr>
          <a:xfrm>
            <a:off x="822960" y="1691640"/>
            <a:ext cx="5394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1" i="0" lang="en" sz="1350" u="none" cap="none" strike="noStrike">
                <a:solidFill>
                  <a:srgbClr val="FFFFFF"/>
                </a:solidFill>
                <a:latin typeface="Calibri"/>
                <a:ea typeface="Calibri"/>
                <a:cs typeface="Calibri"/>
                <a:sym typeface="Calibri"/>
              </a:rPr>
              <a:t>A free daily habit</a:t>
            </a:r>
            <a:endParaRPr b="0" i="0" sz="1350" u="none" cap="none" strike="noStrike">
              <a:solidFill>
                <a:schemeClr val="dk1"/>
              </a:solidFill>
              <a:latin typeface="Calibri"/>
              <a:ea typeface="Calibri"/>
              <a:cs typeface="Calibri"/>
              <a:sym typeface="Calibri"/>
            </a:endParaRPr>
          </a:p>
        </p:txBody>
      </p:sp>
      <p:sp>
        <p:nvSpPr>
          <p:cNvPr id="217" name="Google Shape;217;p21"/>
          <p:cNvSpPr/>
          <p:nvPr/>
        </p:nvSpPr>
        <p:spPr>
          <a:xfrm>
            <a:off x="822960" y="1984248"/>
            <a:ext cx="5394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 sz="1000" u="none" cap="none" strike="noStrike">
                <a:solidFill>
                  <a:srgbClr val="FFFFFF"/>
                </a:solidFill>
                <a:latin typeface="Calibri"/>
                <a:ea typeface="Calibri"/>
                <a:cs typeface="Calibri"/>
                <a:sym typeface="Calibri"/>
              </a:rPr>
              <a:t>wisdom + a guided practice, for everyone</a:t>
            </a:r>
            <a:endParaRPr b="0" i="0" sz="1000" u="none" cap="none" strike="noStrike">
              <a:solidFill>
                <a:schemeClr val="dk1"/>
              </a:solidFill>
              <a:latin typeface="Calibri"/>
              <a:ea typeface="Calibri"/>
              <a:cs typeface="Calibri"/>
              <a:sym typeface="Calibri"/>
            </a:endParaRPr>
          </a:p>
        </p:txBody>
      </p:sp>
      <p:sp>
        <p:nvSpPr>
          <p:cNvPr id="218" name="Google Shape;218;p21"/>
          <p:cNvSpPr/>
          <p:nvPr/>
        </p:nvSpPr>
        <p:spPr>
          <a:xfrm>
            <a:off x="1280160" y="2432304"/>
            <a:ext cx="4389120" cy="676656"/>
          </a:xfrm>
          <a:prstGeom prst="roundRect">
            <a:avLst>
              <a:gd fmla="val 10811" name="adj"/>
            </a:avLst>
          </a:prstGeom>
          <a:solidFill>
            <a:srgbClr val="4F8A77"/>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1"/>
          <p:cNvSpPr/>
          <p:nvPr/>
        </p:nvSpPr>
        <p:spPr>
          <a:xfrm>
            <a:off x="1463040" y="2496312"/>
            <a:ext cx="4114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1" i="0" lang="en" sz="1350" u="none" cap="none" strike="noStrike">
                <a:solidFill>
                  <a:srgbClr val="FFFFFF"/>
                </a:solidFill>
                <a:latin typeface="Calibri"/>
                <a:ea typeface="Calibri"/>
                <a:cs typeface="Calibri"/>
                <a:sym typeface="Calibri"/>
              </a:rPr>
              <a:t>Daily practitioners</a:t>
            </a:r>
            <a:endParaRPr b="0" i="0" sz="1350" u="none" cap="none" strike="noStrike">
              <a:solidFill>
                <a:schemeClr val="dk1"/>
              </a:solidFill>
              <a:latin typeface="Calibri"/>
              <a:ea typeface="Calibri"/>
              <a:cs typeface="Calibri"/>
              <a:sym typeface="Calibri"/>
            </a:endParaRPr>
          </a:p>
        </p:txBody>
      </p:sp>
      <p:sp>
        <p:nvSpPr>
          <p:cNvPr id="220" name="Google Shape;220;p21"/>
          <p:cNvSpPr/>
          <p:nvPr/>
        </p:nvSpPr>
        <p:spPr>
          <a:xfrm>
            <a:off x="1463040" y="278892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 sz="1000" u="none" cap="none" strike="noStrike">
                <a:solidFill>
                  <a:srgbClr val="FFFFFF"/>
                </a:solidFill>
                <a:latin typeface="Calibri"/>
                <a:ea typeface="Calibri"/>
                <a:cs typeface="Calibri"/>
                <a:sym typeface="Calibri"/>
              </a:rPr>
              <a:t>streaks, journeys, a living Sangha</a:t>
            </a:r>
            <a:endParaRPr b="0" i="0" sz="1000" u="none" cap="none" strike="noStrike">
              <a:solidFill>
                <a:schemeClr val="dk1"/>
              </a:solidFill>
              <a:latin typeface="Calibri"/>
              <a:ea typeface="Calibri"/>
              <a:cs typeface="Calibri"/>
              <a:sym typeface="Calibri"/>
            </a:endParaRPr>
          </a:p>
        </p:txBody>
      </p:sp>
      <p:sp>
        <p:nvSpPr>
          <p:cNvPr id="221" name="Google Shape;221;p21"/>
          <p:cNvSpPr/>
          <p:nvPr/>
        </p:nvSpPr>
        <p:spPr>
          <a:xfrm>
            <a:off x="1920240" y="3236976"/>
            <a:ext cx="3108960" cy="676656"/>
          </a:xfrm>
          <a:prstGeom prst="roundRect">
            <a:avLst>
              <a:gd fmla="val 10811" name="adj"/>
            </a:avLst>
          </a:prstGeom>
          <a:solidFill>
            <a:srgbClr val="E0A94B"/>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1"/>
          <p:cNvSpPr/>
          <p:nvPr/>
        </p:nvSpPr>
        <p:spPr>
          <a:xfrm>
            <a:off x="2103120" y="3300984"/>
            <a:ext cx="2834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1" i="0" lang="en" sz="1350" u="none" cap="none" strike="noStrike">
                <a:solidFill>
                  <a:srgbClr val="FFFFFF"/>
                </a:solidFill>
                <a:latin typeface="Calibri"/>
                <a:ea typeface="Calibri"/>
                <a:cs typeface="Calibri"/>
                <a:sym typeface="Calibri"/>
              </a:rPr>
              <a:t>Prime members</a:t>
            </a:r>
            <a:endParaRPr b="0" i="0" sz="1350" u="none" cap="none" strike="noStrike">
              <a:solidFill>
                <a:schemeClr val="dk1"/>
              </a:solidFill>
              <a:latin typeface="Calibri"/>
              <a:ea typeface="Calibri"/>
              <a:cs typeface="Calibri"/>
              <a:sym typeface="Calibri"/>
            </a:endParaRPr>
          </a:p>
        </p:txBody>
      </p:sp>
      <p:sp>
        <p:nvSpPr>
          <p:cNvPr id="223" name="Google Shape;223;p21"/>
          <p:cNvSpPr/>
          <p:nvPr/>
        </p:nvSpPr>
        <p:spPr>
          <a:xfrm>
            <a:off x="2103120" y="3593592"/>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 sz="1000" u="none" cap="none" strike="noStrike">
                <a:solidFill>
                  <a:srgbClr val="FFFFFF"/>
                </a:solidFill>
                <a:latin typeface="Calibri"/>
                <a:ea typeface="Calibri"/>
                <a:cs typeface="Calibri"/>
                <a:sym typeface="Calibri"/>
              </a:rPr>
              <a:t>the full library + member benefits</a:t>
            </a:r>
            <a:endParaRPr b="0" i="0" sz="1000" u="none" cap="none" strike="noStrike">
              <a:solidFill>
                <a:schemeClr val="dk1"/>
              </a:solidFill>
              <a:latin typeface="Calibri"/>
              <a:ea typeface="Calibri"/>
              <a:cs typeface="Calibri"/>
              <a:sym typeface="Calibri"/>
            </a:endParaRPr>
          </a:p>
        </p:txBody>
      </p:sp>
      <p:sp>
        <p:nvSpPr>
          <p:cNvPr id="224" name="Google Shape;224;p21"/>
          <p:cNvSpPr/>
          <p:nvPr/>
        </p:nvSpPr>
        <p:spPr>
          <a:xfrm>
            <a:off x="2560320" y="4041648"/>
            <a:ext cx="1828800" cy="676656"/>
          </a:xfrm>
          <a:prstGeom prst="roundRect">
            <a:avLst>
              <a:gd fmla="val 10811" name="adj"/>
            </a:avLst>
          </a:prstGeom>
          <a:solidFill>
            <a:srgbClr val="E07B2E"/>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1"/>
          <p:cNvSpPr/>
          <p:nvPr/>
        </p:nvSpPr>
        <p:spPr>
          <a:xfrm>
            <a:off x="2743200" y="4105656"/>
            <a:ext cx="15544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1" i="0" lang="en" sz="1350" u="none" cap="none" strike="noStrike">
                <a:solidFill>
                  <a:srgbClr val="FFFFFF"/>
                </a:solidFill>
                <a:latin typeface="Calibri"/>
                <a:ea typeface="Calibri"/>
                <a:cs typeface="Calibri"/>
                <a:sym typeface="Calibri"/>
              </a:rPr>
              <a:t>Course &amp; retreat</a:t>
            </a:r>
            <a:endParaRPr b="0" i="0" sz="1350" u="none" cap="none" strike="noStrike">
              <a:solidFill>
                <a:schemeClr val="dk1"/>
              </a:solidFill>
              <a:latin typeface="Calibri"/>
              <a:ea typeface="Calibri"/>
              <a:cs typeface="Calibri"/>
              <a:sym typeface="Calibri"/>
            </a:endParaRPr>
          </a:p>
        </p:txBody>
      </p:sp>
      <p:sp>
        <p:nvSpPr>
          <p:cNvPr id="226" name="Google Shape;226;p21"/>
          <p:cNvSpPr/>
          <p:nvPr/>
        </p:nvSpPr>
        <p:spPr>
          <a:xfrm>
            <a:off x="2743200" y="4398264"/>
            <a:ext cx="1554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 sz="1000" u="none" cap="none" strike="noStrike">
                <a:solidFill>
                  <a:srgbClr val="FFFFFF"/>
                </a:solidFill>
                <a:latin typeface="Calibri"/>
                <a:ea typeface="Calibri"/>
                <a:cs typeface="Calibri"/>
                <a:sym typeface="Calibri"/>
              </a:rPr>
              <a:t>SKY, Sahaj, Happiness, Silence</a:t>
            </a:r>
            <a:endParaRPr b="0" i="0" sz="1000" u="none" cap="none" strike="noStrike">
              <a:solidFill>
                <a:schemeClr val="dk1"/>
              </a:solidFill>
              <a:latin typeface="Calibri"/>
              <a:ea typeface="Calibri"/>
              <a:cs typeface="Calibri"/>
              <a:sym typeface="Calibri"/>
            </a:endParaRPr>
          </a:p>
        </p:txBody>
      </p:sp>
      <p:sp>
        <p:nvSpPr>
          <p:cNvPr id="227" name="Google Shape;227;p21"/>
          <p:cNvSpPr/>
          <p:nvPr/>
        </p:nvSpPr>
        <p:spPr>
          <a:xfrm>
            <a:off x="6812280" y="1627632"/>
            <a:ext cx="1828800" cy="1371600"/>
          </a:xfrm>
          <a:prstGeom prst="roundRect">
            <a:avLst>
              <a:gd fmla="val 6667" name="adj"/>
            </a:avLst>
          </a:prstGeom>
          <a:solidFill>
            <a:srgbClr val="FBF6EE"/>
          </a:solidFill>
          <a:ln cap="flat" cmpd="sng" w="12700">
            <a:solidFill>
              <a:srgbClr val="E6E1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1"/>
          <p:cNvSpPr/>
          <p:nvPr/>
        </p:nvSpPr>
        <p:spPr>
          <a:xfrm>
            <a:off x="6967728" y="1755648"/>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It flows both ways</a:t>
            </a:r>
            <a:endParaRPr b="0" i="0" sz="1100" u="none" cap="none" strike="noStrike">
              <a:solidFill>
                <a:schemeClr val="dk1"/>
              </a:solidFill>
              <a:latin typeface="Calibri"/>
              <a:ea typeface="Calibri"/>
              <a:cs typeface="Calibri"/>
              <a:sym typeface="Calibri"/>
            </a:endParaRPr>
          </a:p>
        </p:txBody>
      </p:sp>
      <p:sp>
        <p:nvSpPr>
          <p:cNvPr id="229" name="Google Shape;229;p21"/>
          <p:cNvSpPr/>
          <p:nvPr/>
        </p:nvSpPr>
        <p:spPr>
          <a:xfrm>
            <a:off x="6967728" y="2011680"/>
            <a:ext cx="1554480" cy="96012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5C5680"/>
              </a:buClr>
              <a:buSzPts val="1000"/>
              <a:buFont typeface="Calibri"/>
              <a:buNone/>
            </a:pPr>
            <a:r>
              <a:rPr b="0" i="0" lang="en" sz="1000" u="none" cap="none" strike="noStrike">
                <a:solidFill>
                  <a:srgbClr val="5C5680"/>
                </a:solidFill>
                <a:latin typeface="Calibri"/>
                <a:ea typeface="Calibri"/>
                <a:cs typeface="Calibri"/>
                <a:sym typeface="Calibri"/>
              </a:rPr>
              <a:t>A course brings someone into the daily habit; the daily habit makes them ready for the next course. Sahaj guides them gently, never pushes.</a:t>
            </a:r>
            <a:endParaRPr b="0" i="0" sz="1000" u="none" cap="none" strike="noStrike">
              <a:solidFill>
                <a:schemeClr val="dk1"/>
              </a:solidFill>
              <a:latin typeface="Calibri"/>
              <a:ea typeface="Calibri"/>
              <a:cs typeface="Calibri"/>
              <a:sym typeface="Calibri"/>
            </a:endParaRPr>
          </a:p>
        </p:txBody>
      </p:sp>
      <p:pic>
        <p:nvPicPr>
          <p:cNvPr descr="shots/onboard.png" id="230" name="Google Shape;230;p21"/>
          <p:cNvPicPr preferRelativeResize="0"/>
          <p:nvPr/>
        </p:nvPicPr>
        <p:blipFill rotWithShape="1">
          <a:blip r:embed="rId3">
            <a:alphaModFix/>
          </a:blip>
          <a:srcRect b="0" l="0" r="0" t="0"/>
          <a:stretch/>
        </p:blipFill>
        <p:spPr>
          <a:xfrm>
            <a:off x="6903720" y="3154680"/>
            <a:ext cx="844163" cy="178308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5" name="Shape 235"/>
        <p:cNvGrpSpPr/>
        <p:nvPr/>
      </p:nvGrpSpPr>
      <p:grpSpPr>
        <a:xfrm>
          <a:off x="0" y="0"/>
          <a:ext cx="0" cy="0"/>
          <a:chOff x="0" y="0"/>
          <a:chExt cx="0" cy="0"/>
        </a:xfrm>
      </p:grpSpPr>
      <p:sp>
        <p:nvSpPr>
          <p:cNvPr id="236" name="Google Shape;236;p22"/>
          <p:cNvSpPr/>
          <p:nvPr/>
        </p:nvSpPr>
        <p:spPr>
          <a:xfrm>
            <a:off x="548640" y="41148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THE APP, END TO END</a:t>
            </a:r>
            <a:endParaRPr b="0" i="0" sz="1100" u="none" cap="none" strike="noStrike">
              <a:solidFill>
                <a:schemeClr val="dk1"/>
              </a:solidFill>
              <a:latin typeface="Calibri"/>
              <a:ea typeface="Calibri"/>
              <a:cs typeface="Calibri"/>
              <a:sym typeface="Calibri"/>
            </a:endParaRPr>
          </a:p>
        </p:txBody>
      </p:sp>
      <p:sp>
        <p:nvSpPr>
          <p:cNvPr id="237" name="Google Shape;237;p22"/>
          <p:cNvSpPr/>
          <p:nvPr/>
        </p:nvSpPr>
        <p:spPr>
          <a:xfrm>
            <a:off x="512064" y="70408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800"/>
              <a:buFont typeface="Cambria"/>
              <a:buNone/>
            </a:pPr>
            <a:r>
              <a:rPr b="1" i="0" lang="en" sz="2800" u="none" cap="none" strike="noStrike">
                <a:solidFill>
                  <a:srgbClr val="211B45"/>
                </a:solidFill>
                <a:latin typeface="Cambria"/>
                <a:ea typeface="Cambria"/>
                <a:cs typeface="Cambria"/>
                <a:sym typeface="Cambria"/>
              </a:rPr>
              <a:t>Wisdom in; a personalised practice out</a:t>
            </a:r>
            <a:endParaRPr b="0" i="0" sz="2800" u="none" cap="none" strike="noStrike">
              <a:solidFill>
                <a:schemeClr val="dk1"/>
              </a:solidFill>
              <a:latin typeface="Calibri"/>
              <a:ea typeface="Calibri"/>
              <a:cs typeface="Calibri"/>
              <a:sym typeface="Calibri"/>
            </a:endParaRPr>
          </a:p>
        </p:txBody>
      </p:sp>
      <p:sp>
        <p:nvSpPr>
          <p:cNvPr id="238" name="Google Shape;238;p22"/>
          <p:cNvSpPr/>
          <p:nvPr/>
        </p:nvSpPr>
        <p:spPr>
          <a:xfrm>
            <a:off x="502920" y="1691640"/>
            <a:ext cx="1828800" cy="1554480"/>
          </a:xfrm>
          <a:prstGeom prst="roundRect">
            <a:avLst>
              <a:gd fmla="val 7059" name="adj"/>
            </a:avLst>
          </a:prstGeom>
          <a:solidFill>
            <a:srgbClr val="F7E6D2"/>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2"/>
          <p:cNvSpPr/>
          <p:nvPr/>
        </p:nvSpPr>
        <p:spPr>
          <a:xfrm>
            <a:off x="594360" y="1874520"/>
            <a:ext cx="16459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30F"/>
              </a:buClr>
              <a:buSzPts val="1500"/>
              <a:buFont typeface="Cambria"/>
              <a:buNone/>
            </a:pPr>
            <a:r>
              <a:rPr b="1" i="0" lang="en" sz="1500" u="none" cap="none" strike="noStrike">
                <a:solidFill>
                  <a:srgbClr val="A8530F"/>
                </a:solidFill>
                <a:latin typeface="Cambria"/>
                <a:ea typeface="Cambria"/>
                <a:cs typeface="Cambria"/>
                <a:sym typeface="Cambria"/>
              </a:rPr>
              <a:t>Wisdom &amp; content</a:t>
            </a:r>
            <a:endParaRPr b="0" i="0" sz="1500" u="none" cap="none" strike="noStrike">
              <a:solidFill>
                <a:schemeClr val="dk1"/>
              </a:solidFill>
              <a:latin typeface="Calibri"/>
              <a:ea typeface="Calibri"/>
              <a:cs typeface="Calibri"/>
              <a:sym typeface="Calibri"/>
            </a:endParaRPr>
          </a:p>
        </p:txBody>
      </p:sp>
      <p:sp>
        <p:nvSpPr>
          <p:cNvPr id="240" name="Google Shape;240;p22"/>
          <p:cNvSpPr/>
          <p:nvPr/>
        </p:nvSpPr>
        <p:spPr>
          <a:xfrm>
            <a:off x="612648" y="2468880"/>
            <a:ext cx="1609344" cy="685800"/>
          </a:xfrm>
          <a:prstGeom prst="rect">
            <a:avLst/>
          </a:prstGeom>
          <a:noFill/>
          <a:ln>
            <a:noFill/>
          </a:ln>
        </p:spPr>
        <p:txBody>
          <a:bodyPr anchorCtr="0" anchor="ctr" bIns="0" lIns="0" spcFirstLastPara="1" rIns="0" wrap="square" tIns="0">
            <a:noAutofit/>
          </a:bodyPr>
          <a:lstStyle/>
          <a:p>
            <a:pPr indent="0" lvl="0" marL="0" marR="0" rtl="0" algn="ctr">
              <a:lnSpc>
                <a:spcPct val="102000"/>
              </a:lnSpc>
              <a:spcBef>
                <a:spcPts val="0"/>
              </a:spcBef>
              <a:spcAft>
                <a:spcPts val="0"/>
              </a:spcAft>
              <a:buClr>
                <a:srgbClr val="5C5680"/>
              </a:buClr>
              <a:buSzPts val="1000"/>
              <a:buFont typeface="Calibri"/>
              <a:buNone/>
            </a:pPr>
            <a:r>
              <a:rPr b="0" i="0" lang="en" sz="1000" u="none" cap="none" strike="noStrike">
                <a:solidFill>
                  <a:srgbClr val="5C5680"/>
                </a:solidFill>
                <a:latin typeface="Calibri"/>
                <a:ea typeface="Calibri"/>
                <a:cs typeface="Calibri"/>
                <a:sym typeface="Calibri"/>
              </a:rPr>
              <a:t>Gurudev’s talks, SKY, meditations, chants, courses</a:t>
            </a:r>
            <a:endParaRPr b="0" i="0" sz="1000" u="none" cap="none" strike="noStrike">
              <a:solidFill>
                <a:schemeClr val="dk1"/>
              </a:solidFill>
              <a:latin typeface="Calibri"/>
              <a:ea typeface="Calibri"/>
              <a:cs typeface="Calibri"/>
              <a:sym typeface="Calibri"/>
            </a:endParaRPr>
          </a:p>
        </p:txBody>
      </p:sp>
      <p:sp>
        <p:nvSpPr>
          <p:cNvPr id="241" name="Google Shape;241;p22"/>
          <p:cNvSpPr/>
          <p:nvPr/>
        </p:nvSpPr>
        <p:spPr>
          <a:xfrm>
            <a:off x="2331720" y="23317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2000"/>
              <a:buFont typeface="Calibri"/>
              <a:buNone/>
            </a:pPr>
            <a:r>
              <a:rPr b="1" i="0" lang="en" sz="2000" u="none" cap="none" strike="noStrike">
                <a:solidFill>
                  <a:srgbClr val="E07B2E"/>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242" name="Google Shape;242;p22"/>
          <p:cNvSpPr/>
          <p:nvPr/>
        </p:nvSpPr>
        <p:spPr>
          <a:xfrm>
            <a:off x="2606040" y="1691640"/>
            <a:ext cx="1828800" cy="1554480"/>
          </a:xfrm>
          <a:prstGeom prst="roundRect">
            <a:avLst>
              <a:gd fmla="val 7059" name="adj"/>
            </a:avLst>
          </a:prstGeom>
          <a:solidFill>
            <a:srgbClr val="FAF0DA"/>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2"/>
          <p:cNvSpPr/>
          <p:nvPr/>
        </p:nvSpPr>
        <p:spPr>
          <a:xfrm>
            <a:off x="2697480" y="1874520"/>
            <a:ext cx="16459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5832F"/>
              </a:buClr>
              <a:buSzPts val="1500"/>
              <a:buFont typeface="Cambria"/>
              <a:buNone/>
            </a:pPr>
            <a:r>
              <a:rPr b="1" i="0" lang="en" sz="1500" u="none" cap="none" strike="noStrike">
                <a:solidFill>
                  <a:srgbClr val="B5832F"/>
                </a:solidFill>
                <a:latin typeface="Cambria"/>
                <a:ea typeface="Cambria"/>
                <a:cs typeface="Cambria"/>
                <a:sym typeface="Cambria"/>
              </a:rPr>
              <a:t>Curate &amp; personalise</a:t>
            </a:r>
            <a:endParaRPr b="0" i="0" sz="1500" u="none" cap="none" strike="noStrike">
              <a:solidFill>
                <a:schemeClr val="dk1"/>
              </a:solidFill>
              <a:latin typeface="Calibri"/>
              <a:ea typeface="Calibri"/>
              <a:cs typeface="Calibri"/>
              <a:sym typeface="Calibri"/>
            </a:endParaRPr>
          </a:p>
        </p:txBody>
      </p:sp>
      <p:sp>
        <p:nvSpPr>
          <p:cNvPr id="244" name="Google Shape;244;p22"/>
          <p:cNvSpPr/>
          <p:nvPr/>
        </p:nvSpPr>
        <p:spPr>
          <a:xfrm>
            <a:off x="2715768" y="2468880"/>
            <a:ext cx="1609344" cy="685800"/>
          </a:xfrm>
          <a:prstGeom prst="rect">
            <a:avLst/>
          </a:prstGeom>
          <a:noFill/>
          <a:ln>
            <a:noFill/>
          </a:ln>
        </p:spPr>
        <p:txBody>
          <a:bodyPr anchorCtr="0" anchor="ctr" bIns="0" lIns="0" spcFirstLastPara="1" rIns="0" wrap="square" tIns="0">
            <a:noAutofit/>
          </a:bodyPr>
          <a:lstStyle/>
          <a:p>
            <a:pPr indent="0" lvl="0" marL="0" marR="0" rtl="0" algn="ctr">
              <a:lnSpc>
                <a:spcPct val="102000"/>
              </a:lnSpc>
              <a:spcBef>
                <a:spcPts val="0"/>
              </a:spcBef>
              <a:spcAft>
                <a:spcPts val="0"/>
              </a:spcAft>
              <a:buClr>
                <a:srgbClr val="5C5680"/>
              </a:buClr>
              <a:buSzPts val="1000"/>
              <a:buFont typeface="Calibri"/>
              <a:buNone/>
            </a:pPr>
            <a:r>
              <a:rPr b="0" i="0" lang="en" sz="1000" u="none" cap="none" strike="noStrike">
                <a:solidFill>
                  <a:srgbClr val="5C5680"/>
                </a:solidFill>
                <a:latin typeface="Calibri"/>
                <a:ea typeface="Calibri"/>
                <a:cs typeface="Calibri"/>
                <a:sym typeface="Calibri"/>
              </a:rPr>
              <a:t>Sahaj + recommendations + journeys</a:t>
            </a:r>
            <a:endParaRPr b="0" i="0" sz="1000" u="none" cap="none" strike="noStrike">
              <a:solidFill>
                <a:schemeClr val="dk1"/>
              </a:solidFill>
              <a:latin typeface="Calibri"/>
              <a:ea typeface="Calibri"/>
              <a:cs typeface="Calibri"/>
              <a:sym typeface="Calibri"/>
            </a:endParaRPr>
          </a:p>
        </p:txBody>
      </p:sp>
      <p:sp>
        <p:nvSpPr>
          <p:cNvPr id="245" name="Google Shape;245;p22"/>
          <p:cNvSpPr/>
          <p:nvPr/>
        </p:nvSpPr>
        <p:spPr>
          <a:xfrm>
            <a:off x="4434840" y="23317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2000"/>
              <a:buFont typeface="Calibri"/>
              <a:buNone/>
            </a:pPr>
            <a:r>
              <a:rPr b="1" i="0" lang="en" sz="2000" u="none" cap="none" strike="noStrike">
                <a:solidFill>
                  <a:srgbClr val="E07B2E"/>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246" name="Google Shape;246;p22"/>
          <p:cNvSpPr/>
          <p:nvPr/>
        </p:nvSpPr>
        <p:spPr>
          <a:xfrm>
            <a:off x="4709160" y="1691640"/>
            <a:ext cx="1828800" cy="1554480"/>
          </a:xfrm>
          <a:prstGeom prst="roundRect">
            <a:avLst>
              <a:gd fmla="val 7059" name="adj"/>
            </a:avLst>
          </a:prstGeom>
          <a:solidFill>
            <a:srgbClr val="E3EFEA"/>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2"/>
          <p:cNvSpPr/>
          <p:nvPr/>
        </p:nvSpPr>
        <p:spPr>
          <a:xfrm>
            <a:off x="4800600" y="1874520"/>
            <a:ext cx="16459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5C4D"/>
              </a:buClr>
              <a:buSzPts val="1500"/>
              <a:buFont typeface="Cambria"/>
              <a:buNone/>
            </a:pPr>
            <a:r>
              <a:rPr b="1" i="0" lang="en" sz="1500" u="none" cap="none" strike="noStrike">
                <a:solidFill>
                  <a:srgbClr val="2F5C4D"/>
                </a:solidFill>
                <a:latin typeface="Cambria"/>
                <a:ea typeface="Cambria"/>
                <a:cs typeface="Cambria"/>
                <a:sym typeface="Cambria"/>
              </a:rPr>
              <a:t>Five experiences</a:t>
            </a:r>
            <a:endParaRPr b="0" i="0" sz="1500" u="none" cap="none" strike="noStrike">
              <a:solidFill>
                <a:schemeClr val="dk1"/>
              </a:solidFill>
              <a:latin typeface="Calibri"/>
              <a:ea typeface="Calibri"/>
              <a:cs typeface="Calibri"/>
              <a:sym typeface="Calibri"/>
            </a:endParaRPr>
          </a:p>
        </p:txBody>
      </p:sp>
      <p:sp>
        <p:nvSpPr>
          <p:cNvPr id="248" name="Google Shape;248;p22"/>
          <p:cNvSpPr/>
          <p:nvPr/>
        </p:nvSpPr>
        <p:spPr>
          <a:xfrm>
            <a:off x="4818888" y="2468880"/>
            <a:ext cx="1609344" cy="685800"/>
          </a:xfrm>
          <a:prstGeom prst="rect">
            <a:avLst/>
          </a:prstGeom>
          <a:noFill/>
          <a:ln>
            <a:noFill/>
          </a:ln>
        </p:spPr>
        <p:txBody>
          <a:bodyPr anchorCtr="0" anchor="ctr" bIns="0" lIns="0" spcFirstLastPara="1" rIns="0" wrap="square" tIns="0">
            <a:noAutofit/>
          </a:bodyPr>
          <a:lstStyle/>
          <a:p>
            <a:pPr indent="0" lvl="0" marL="0" marR="0" rtl="0" algn="ctr">
              <a:lnSpc>
                <a:spcPct val="102000"/>
              </a:lnSpc>
              <a:spcBef>
                <a:spcPts val="0"/>
              </a:spcBef>
              <a:spcAft>
                <a:spcPts val="0"/>
              </a:spcAft>
              <a:buClr>
                <a:srgbClr val="5C5680"/>
              </a:buClr>
              <a:buSzPts val="1000"/>
              <a:buFont typeface="Calibri"/>
              <a:buNone/>
            </a:pPr>
            <a:r>
              <a:rPr b="0" i="0" lang="en" sz="1000" u="none" cap="none" strike="noStrike">
                <a:solidFill>
                  <a:srgbClr val="5C5680"/>
                </a:solidFill>
                <a:latin typeface="Calibri"/>
                <a:ea typeface="Calibri"/>
                <a:cs typeface="Calibri"/>
                <a:sym typeface="Calibri"/>
              </a:rPr>
              <a:t>Today · Explore · Ask · Live · You</a:t>
            </a:r>
            <a:endParaRPr b="0" i="0" sz="1000" u="none" cap="none" strike="noStrike">
              <a:solidFill>
                <a:schemeClr val="dk1"/>
              </a:solidFill>
              <a:latin typeface="Calibri"/>
              <a:ea typeface="Calibri"/>
              <a:cs typeface="Calibri"/>
              <a:sym typeface="Calibri"/>
            </a:endParaRPr>
          </a:p>
        </p:txBody>
      </p:sp>
      <p:sp>
        <p:nvSpPr>
          <p:cNvPr id="249" name="Google Shape;249;p22"/>
          <p:cNvSpPr/>
          <p:nvPr/>
        </p:nvSpPr>
        <p:spPr>
          <a:xfrm>
            <a:off x="6537960" y="23317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2000"/>
              <a:buFont typeface="Calibri"/>
              <a:buNone/>
            </a:pPr>
            <a:r>
              <a:rPr b="1" i="0" lang="en" sz="2000" u="none" cap="none" strike="noStrike">
                <a:solidFill>
                  <a:srgbClr val="E07B2E"/>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250" name="Google Shape;250;p22"/>
          <p:cNvSpPr/>
          <p:nvPr/>
        </p:nvSpPr>
        <p:spPr>
          <a:xfrm>
            <a:off x="6812280" y="1691640"/>
            <a:ext cx="1828800" cy="1554480"/>
          </a:xfrm>
          <a:prstGeom prst="roundRect">
            <a:avLst>
              <a:gd fmla="val 7059" name="adj"/>
            </a:avLst>
          </a:prstGeom>
          <a:solidFill>
            <a:srgbClr val="E7E3F3"/>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2"/>
          <p:cNvSpPr/>
          <p:nvPr/>
        </p:nvSpPr>
        <p:spPr>
          <a:xfrm>
            <a:off x="6903720" y="1874520"/>
            <a:ext cx="16459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2C72"/>
              </a:buClr>
              <a:buSzPts val="1500"/>
              <a:buFont typeface="Cambria"/>
              <a:buNone/>
            </a:pPr>
            <a:r>
              <a:rPr b="1" i="0" lang="en" sz="1500" u="none" cap="none" strike="noStrike">
                <a:solidFill>
                  <a:srgbClr val="372C72"/>
                </a:solidFill>
                <a:latin typeface="Cambria"/>
                <a:ea typeface="Cambria"/>
                <a:cs typeface="Cambria"/>
                <a:sym typeface="Cambria"/>
              </a:rPr>
              <a:t>Outcomes</a:t>
            </a:r>
            <a:endParaRPr b="0" i="0" sz="1500" u="none" cap="none" strike="noStrike">
              <a:solidFill>
                <a:schemeClr val="dk1"/>
              </a:solidFill>
              <a:latin typeface="Calibri"/>
              <a:ea typeface="Calibri"/>
              <a:cs typeface="Calibri"/>
              <a:sym typeface="Calibri"/>
            </a:endParaRPr>
          </a:p>
        </p:txBody>
      </p:sp>
      <p:sp>
        <p:nvSpPr>
          <p:cNvPr id="252" name="Google Shape;252;p22"/>
          <p:cNvSpPr/>
          <p:nvPr/>
        </p:nvSpPr>
        <p:spPr>
          <a:xfrm>
            <a:off x="6922008" y="2468880"/>
            <a:ext cx="1609344" cy="685800"/>
          </a:xfrm>
          <a:prstGeom prst="rect">
            <a:avLst/>
          </a:prstGeom>
          <a:noFill/>
          <a:ln>
            <a:noFill/>
          </a:ln>
        </p:spPr>
        <p:txBody>
          <a:bodyPr anchorCtr="0" anchor="ctr" bIns="0" lIns="0" spcFirstLastPara="1" rIns="0" wrap="square" tIns="0">
            <a:noAutofit/>
          </a:bodyPr>
          <a:lstStyle/>
          <a:p>
            <a:pPr indent="0" lvl="0" marL="0" marR="0" rtl="0" algn="ctr">
              <a:lnSpc>
                <a:spcPct val="102000"/>
              </a:lnSpc>
              <a:spcBef>
                <a:spcPts val="0"/>
              </a:spcBef>
              <a:spcAft>
                <a:spcPts val="0"/>
              </a:spcAft>
              <a:buClr>
                <a:srgbClr val="5C5680"/>
              </a:buClr>
              <a:buSzPts val="1000"/>
              <a:buFont typeface="Calibri"/>
              <a:buNone/>
            </a:pPr>
            <a:r>
              <a:rPr b="0" i="0" lang="en" sz="1000" u="none" cap="none" strike="noStrike">
                <a:solidFill>
                  <a:srgbClr val="5C5680"/>
                </a:solidFill>
                <a:latin typeface="Calibri"/>
                <a:ea typeface="Calibri"/>
                <a:cs typeface="Calibri"/>
                <a:sym typeface="Calibri"/>
              </a:rPr>
              <a:t>a held habit · deeper practice · belonging</a:t>
            </a:r>
            <a:endParaRPr b="0" i="0" sz="1000" u="none" cap="none" strike="noStrike">
              <a:solidFill>
                <a:schemeClr val="dk1"/>
              </a:solidFill>
              <a:latin typeface="Calibri"/>
              <a:ea typeface="Calibri"/>
              <a:cs typeface="Calibri"/>
              <a:sym typeface="Calibri"/>
            </a:endParaRPr>
          </a:p>
        </p:txBody>
      </p:sp>
      <p:cxnSp>
        <p:nvCxnSpPr>
          <p:cNvPr id="253" name="Google Shape;253;p22"/>
          <p:cNvCxnSpPr/>
          <p:nvPr/>
        </p:nvCxnSpPr>
        <p:spPr>
          <a:xfrm>
            <a:off x="7726680" y="3291840"/>
            <a:ext cx="0" cy="777240"/>
          </a:xfrm>
          <a:prstGeom prst="straightConnector1">
            <a:avLst/>
          </a:prstGeom>
          <a:noFill/>
          <a:ln cap="flat" cmpd="sng" w="25400">
            <a:solidFill>
              <a:srgbClr val="E0A94B"/>
            </a:solidFill>
            <a:prstDash val="solid"/>
            <a:round/>
            <a:headEnd len="sm" w="sm" type="none"/>
            <a:tailEnd len="sm" w="sm" type="none"/>
          </a:ln>
        </p:spPr>
      </p:cxnSp>
      <p:cxnSp>
        <p:nvCxnSpPr>
          <p:cNvPr id="254" name="Google Shape;254;p22"/>
          <p:cNvCxnSpPr/>
          <p:nvPr/>
        </p:nvCxnSpPr>
        <p:spPr>
          <a:xfrm>
            <a:off x="1417320" y="4069080"/>
            <a:ext cx="6309360" cy="0"/>
          </a:xfrm>
          <a:prstGeom prst="straightConnector1">
            <a:avLst/>
          </a:prstGeom>
          <a:noFill/>
          <a:ln cap="flat" cmpd="sng" w="25400">
            <a:solidFill>
              <a:srgbClr val="E0A94B"/>
            </a:solidFill>
            <a:prstDash val="solid"/>
            <a:round/>
            <a:headEnd len="sm" w="sm" type="none"/>
            <a:tailEnd len="sm" w="sm" type="none"/>
          </a:ln>
        </p:spPr>
      </p:cxnSp>
      <p:cxnSp>
        <p:nvCxnSpPr>
          <p:cNvPr id="255" name="Google Shape;255;p22"/>
          <p:cNvCxnSpPr/>
          <p:nvPr/>
        </p:nvCxnSpPr>
        <p:spPr>
          <a:xfrm>
            <a:off x="1417320" y="3291840"/>
            <a:ext cx="0" cy="777240"/>
          </a:xfrm>
          <a:prstGeom prst="straightConnector1">
            <a:avLst/>
          </a:prstGeom>
          <a:noFill/>
          <a:ln cap="flat" cmpd="sng" w="25400">
            <a:solidFill>
              <a:srgbClr val="E0A94B"/>
            </a:solidFill>
            <a:prstDash val="solid"/>
            <a:round/>
            <a:headEnd len="sm" w="sm" type="none"/>
            <a:tailEnd len="sm" w="sm" type="none"/>
          </a:ln>
        </p:spPr>
      </p:cxnSp>
      <p:sp>
        <p:nvSpPr>
          <p:cNvPr id="256" name="Google Shape;256;p22"/>
          <p:cNvSpPr/>
          <p:nvPr/>
        </p:nvSpPr>
        <p:spPr>
          <a:xfrm>
            <a:off x="1252728" y="3182112"/>
            <a:ext cx="32918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A94B"/>
              </a:buClr>
              <a:buSzPts val="1700"/>
              <a:buFont typeface="Calibri"/>
              <a:buNone/>
            </a:pPr>
            <a:r>
              <a:rPr b="1" i="0" lang="en" sz="1700" u="none" cap="none" strike="noStrike">
                <a:solidFill>
                  <a:srgbClr val="E0A94B"/>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57" name="Google Shape;257;p22"/>
          <p:cNvSpPr/>
          <p:nvPr/>
        </p:nvSpPr>
        <p:spPr>
          <a:xfrm>
            <a:off x="1463040" y="4206240"/>
            <a:ext cx="68580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5680"/>
              </a:buClr>
              <a:buSzPts val="1150"/>
              <a:buFont typeface="Calibri"/>
              <a:buNone/>
            </a:pPr>
            <a:r>
              <a:rPr b="0" i="1" lang="en" sz="1150" u="none" cap="none" strike="noStrike">
                <a:solidFill>
                  <a:srgbClr val="5C5680"/>
                </a:solidFill>
                <a:latin typeface="Calibri"/>
                <a:ea typeface="Calibri"/>
                <a:cs typeface="Calibri"/>
                <a:sym typeface="Calibri"/>
              </a:rPr>
              <a:t>Each practice teaches the app what serves this person better tomorrow — the same intelligence that powers Today, gently improving with every session.</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2" name="Shape 262"/>
        <p:cNvGrpSpPr/>
        <p:nvPr/>
      </p:nvGrpSpPr>
      <p:grpSpPr>
        <a:xfrm>
          <a:off x="0" y="0"/>
          <a:ext cx="0" cy="0"/>
          <a:chOff x="0" y="0"/>
          <a:chExt cx="0" cy="0"/>
        </a:xfrm>
      </p:grpSpPr>
      <p:sp>
        <p:nvSpPr>
          <p:cNvPr id="263" name="Google Shape;263;p23"/>
          <p:cNvSpPr/>
          <p:nvPr/>
        </p:nvSpPr>
        <p:spPr>
          <a:xfrm>
            <a:off x="548640" y="41148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THE PRODUCT</a:t>
            </a:r>
            <a:endParaRPr b="0" i="0" sz="1100" u="none" cap="none" strike="noStrike">
              <a:solidFill>
                <a:schemeClr val="dk1"/>
              </a:solidFill>
              <a:latin typeface="Calibri"/>
              <a:ea typeface="Calibri"/>
              <a:cs typeface="Calibri"/>
              <a:sym typeface="Calibri"/>
            </a:endParaRPr>
          </a:p>
        </p:txBody>
      </p:sp>
      <p:sp>
        <p:nvSpPr>
          <p:cNvPr id="264" name="Google Shape;264;p23"/>
          <p:cNvSpPr/>
          <p:nvPr/>
        </p:nvSpPr>
        <p:spPr>
          <a:xfrm>
            <a:off x="512064" y="70408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900"/>
              <a:buFont typeface="Cambria"/>
              <a:buNone/>
            </a:pPr>
            <a:r>
              <a:rPr b="1" i="0" lang="en" sz="2900" u="none" cap="none" strike="noStrike">
                <a:solidFill>
                  <a:srgbClr val="211B45"/>
                </a:solidFill>
                <a:latin typeface="Cambria"/>
                <a:ea typeface="Cambria"/>
                <a:cs typeface="Cambria"/>
                <a:sym typeface="Cambria"/>
              </a:rPr>
              <a:t>What we are building</a:t>
            </a:r>
            <a:endParaRPr b="0" i="0" sz="2900" u="none" cap="none" strike="noStrike">
              <a:solidFill>
                <a:schemeClr val="dk1"/>
              </a:solidFill>
              <a:latin typeface="Calibri"/>
              <a:ea typeface="Calibri"/>
              <a:cs typeface="Calibri"/>
              <a:sym typeface="Calibri"/>
            </a:endParaRPr>
          </a:p>
        </p:txBody>
      </p:sp>
      <p:sp>
        <p:nvSpPr>
          <p:cNvPr id="265" name="Google Shape;265;p23"/>
          <p:cNvSpPr/>
          <p:nvPr/>
        </p:nvSpPr>
        <p:spPr>
          <a:xfrm>
            <a:off x="548640" y="141732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050"/>
              <a:buFont typeface="Calibri"/>
              <a:buNone/>
            </a:pPr>
            <a:r>
              <a:rPr b="1" i="0" lang="en" sz="1050" u="none" cap="none" strike="noStrike">
                <a:solidFill>
                  <a:srgbClr val="A8530F"/>
                </a:solidFill>
                <a:latin typeface="Calibri"/>
                <a:ea typeface="Calibri"/>
                <a:cs typeface="Calibri"/>
                <a:sym typeface="Calibri"/>
              </a:rPr>
              <a:t>FIVE EXPERIENCES</a:t>
            </a:r>
            <a:endParaRPr b="0" i="0" sz="1050" u="none" cap="none" strike="noStrike">
              <a:solidFill>
                <a:schemeClr val="dk1"/>
              </a:solidFill>
              <a:latin typeface="Calibri"/>
              <a:ea typeface="Calibri"/>
              <a:cs typeface="Calibri"/>
              <a:sym typeface="Calibri"/>
            </a:endParaRPr>
          </a:p>
        </p:txBody>
      </p:sp>
      <p:sp>
        <p:nvSpPr>
          <p:cNvPr id="266" name="Google Shape;266;p23"/>
          <p:cNvSpPr/>
          <p:nvPr/>
        </p:nvSpPr>
        <p:spPr>
          <a:xfrm>
            <a:off x="566928" y="1737360"/>
            <a:ext cx="310896" cy="310896"/>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3"/>
          <p:cNvSpPr/>
          <p:nvPr/>
        </p:nvSpPr>
        <p:spPr>
          <a:xfrm>
            <a:off x="566928" y="172821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268" name="Google Shape;268;p23"/>
          <p:cNvSpPr/>
          <p:nvPr/>
        </p:nvSpPr>
        <p:spPr>
          <a:xfrm>
            <a:off x="1051560" y="1700784"/>
            <a:ext cx="4023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1" i="0" lang="en" sz="1350" u="none" cap="none" strike="noStrike">
                <a:solidFill>
                  <a:srgbClr val="211B45"/>
                </a:solidFill>
                <a:latin typeface="Calibri"/>
                <a:ea typeface="Calibri"/>
                <a:cs typeface="Calibri"/>
                <a:sym typeface="Calibri"/>
              </a:rPr>
              <a:t>Today  </a:t>
            </a:r>
            <a:r>
              <a:rPr b="0" i="0" lang="en" sz="1200" u="none" cap="none" strike="noStrike">
                <a:solidFill>
                  <a:srgbClr val="5C5680"/>
                </a:solidFill>
                <a:latin typeface="Calibri"/>
                <a:ea typeface="Calibri"/>
                <a:cs typeface="Calibri"/>
                <a:sym typeface="Calibri"/>
              </a:rPr>
              <a:t>one practice, chosen for you</a:t>
            </a:r>
            <a:endParaRPr b="0" i="0" sz="1350" u="none" cap="none" strike="noStrike">
              <a:solidFill>
                <a:schemeClr val="dk1"/>
              </a:solidFill>
              <a:latin typeface="Calibri"/>
              <a:ea typeface="Calibri"/>
              <a:cs typeface="Calibri"/>
              <a:sym typeface="Calibri"/>
            </a:endParaRPr>
          </a:p>
        </p:txBody>
      </p:sp>
      <p:sp>
        <p:nvSpPr>
          <p:cNvPr id="269" name="Google Shape;269;p23"/>
          <p:cNvSpPr/>
          <p:nvPr/>
        </p:nvSpPr>
        <p:spPr>
          <a:xfrm>
            <a:off x="566928" y="2240280"/>
            <a:ext cx="310896" cy="310896"/>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3"/>
          <p:cNvSpPr/>
          <p:nvPr/>
        </p:nvSpPr>
        <p:spPr>
          <a:xfrm>
            <a:off x="566928" y="223113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71" name="Google Shape;271;p23"/>
          <p:cNvSpPr/>
          <p:nvPr/>
        </p:nvSpPr>
        <p:spPr>
          <a:xfrm>
            <a:off x="1051560" y="2203704"/>
            <a:ext cx="4023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1" i="0" lang="en" sz="1350" u="none" cap="none" strike="noStrike">
                <a:solidFill>
                  <a:srgbClr val="211B45"/>
                </a:solidFill>
                <a:latin typeface="Calibri"/>
                <a:ea typeface="Calibri"/>
                <a:cs typeface="Calibri"/>
                <a:sym typeface="Calibri"/>
              </a:rPr>
              <a:t>Explore  </a:t>
            </a:r>
            <a:r>
              <a:rPr b="0" i="0" lang="en" sz="1200" u="none" cap="none" strike="noStrike">
                <a:solidFill>
                  <a:srgbClr val="5C5680"/>
                </a:solidFill>
                <a:latin typeface="Calibri"/>
                <a:ea typeface="Calibri"/>
                <a:cs typeface="Calibri"/>
                <a:sym typeface="Calibri"/>
              </a:rPr>
              <a:t>the library: Body · Mind · Spirit</a:t>
            </a:r>
            <a:endParaRPr b="0" i="0" sz="1350" u="none" cap="none" strike="noStrike">
              <a:solidFill>
                <a:schemeClr val="dk1"/>
              </a:solidFill>
              <a:latin typeface="Calibri"/>
              <a:ea typeface="Calibri"/>
              <a:cs typeface="Calibri"/>
              <a:sym typeface="Calibri"/>
            </a:endParaRPr>
          </a:p>
        </p:txBody>
      </p:sp>
      <p:sp>
        <p:nvSpPr>
          <p:cNvPr id="272" name="Google Shape;272;p23"/>
          <p:cNvSpPr/>
          <p:nvPr/>
        </p:nvSpPr>
        <p:spPr>
          <a:xfrm>
            <a:off x="566928" y="2743200"/>
            <a:ext cx="310896" cy="310896"/>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3"/>
          <p:cNvSpPr/>
          <p:nvPr/>
        </p:nvSpPr>
        <p:spPr>
          <a:xfrm>
            <a:off x="566928" y="273405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74" name="Google Shape;274;p23"/>
          <p:cNvSpPr/>
          <p:nvPr/>
        </p:nvSpPr>
        <p:spPr>
          <a:xfrm>
            <a:off x="1051560" y="2706624"/>
            <a:ext cx="4023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1" i="0" lang="en" sz="1350" u="none" cap="none" strike="noStrike">
                <a:solidFill>
                  <a:srgbClr val="211B45"/>
                </a:solidFill>
                <a:latin typeface="Calibri"/>
                <a:ea typeface="Calibri"/>
                <a:cs typeface="Calibri"/>
                <a:sym typeface="Calibri"/>
              </a:rPr>
              <a:t>Ask · Sahaj  </a:t>
            </a:r>
            <a:r>
              <a:rPr b="0" i="0" lang="en" sz="1200" u="none" cap="none" strike="noStrike">
                <a:solidFill>
                  <a:srgbClr val="5C5680"/>
                </a:solidFill>
                <a:latin typeface="Calibri"/>
                <a:ea typeface="Calibri"/>
                <a:cs typeface="Calibri"/>
                <a:sym typeface="Calibri"/>
              </a:rPr>
              <a:t>your guide to the right practice</a:t>
            </a:r>
            <a:endParaRPr b="0" i="0" sz="1350" u="none" cap="none" strike="noStrike">
              <a:solidFill>
                <a:schemeClr val="dk1"/>
              </a:solidFill>
              <a:latin typeface="Calibri"/>
              <a:ea typeface="Calibri"/>
              <a:cs typeface="Calibri"/>
              <a:sym typeface="Calibri"/>
            </a:endParaRPr>
          </a:p>
        </p:txBody>
      </p:sp>
      <p:sp>
        <p:nvSpPr>
          <p:cNvPr id="275" name="Google Shape;275;p23"/>
          <p:cNvSpPr/>
          <p:nvPr/>
        </p:nvSpPr>
        <p:spPr>
          <a:xfrm>
            <a:off x="566928" y="3246120"/>
            <a:ext cx="310896" cy="310896"/>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3"/>
          <p:cNvSpPr/>
          <p:nvPr/>
        </p:nvSpPr>
        <p:spPr>
          <a:xfrm>
            <a:off x="566928" y="323697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277" name="Google Shape;277;p23"/>
          <p:cNvSpPr/>
          <p:nvPr/>
        </p:nvSpPr>
        <p:spPr>
          <a:xfrm>
            <a:off x="1051560" y="3209544"/>
            <a:ext cx="4023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1" i="0" lang="en" sz="1350" u="none" cap="none" strike="noStrike">
                <a:solidFill>
                  <a:srgbClr val="211B45"/>
                </a:solidFill>
                <a:latin typeface="Calibri"/>
                <a:ea typeface="Calibri"/>
                <a:cs typeface="Calibri"/>
                <a:sym typeface="Calibri"/>
              </a:rPr>
              <a:t>Live  </a:t>
            </a:r>
            <a:r>
              <a:rPr b="0" i="0" lang="en" sz="1200" u="none" cap="none" strike="noStrike">
                <a:solidFill>
                  <a:srgbClr val="5C5680"/>
                </a:solidFill>
                <a:latin typeface="Calibri"/>
                <a:ea typeface="Calibri"/>
                <a:cs typeface="Calibri"/>
                <a:sym typeface="Calibri"/>
              </a:rPr>
              <a:t>group meditations &amp; the Sangha</a:t>
            </a:r>
            <a:endParaRPr b="0" i="0" sz="1350" u="none" cap="none" strike="noStrike">
              <a:solidFill>
                <a:schemeClr val="dk1"/>
              </a:solidFill>
              <a:latin typeface="Calibri"/>
              <a:ea typeface="Calibri"/>
              <a:cs typeface="Calibri"/>
              <a:sym typeface="Calibri"/>
            </a:endParaRPr>
          </a:p>
        </p:txBody>
      </p:sp>
      <p:sp>
        <p:nvSpPr>
          <p:cNvPr id="278" name="Google Shape;278;p23"/>
          <p:cNvSpPr/>
          <p:nvPr/>
        </p:nvSpPr>
        <p:spPr>
          <a:xfrm>
            <a:off x="566928" y="3749040"/>
            <a:ext cx="310896" cy="310896"/>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3"/>
          <p:cNvSpPr/>
          <p:nvPr/>
        </p:nvSpPr>
        <p:spPr>
          <a:xfrm>
            <a:off x="566928" y="373989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280" name="Google Shape;280;p23"/>
          <p:cNvSpPr/>
          <p:nvPr/>
        </p:nvSpPr>
        <p:spPr>
          <a:xfrm>
            <a:off x="1051560" y="3712464"/>
            <a:ext cx="4023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1" i="0" lang="en" sz="1350" u="none" cap="none" strike="noStrike">
                <a:solidFill>
                  <a:srgbClr val="211B45"/>
                </a:solidFill>
                <a:latin typeface="Calibri"/>
                <a:ea typeface="Calibri"/>
                <a:cs typeface="Calibri"/>
                <a:sym typeface="Calibri"/>
              </a:rPr>
              <a:t>You  </a:t>
            </a:r>
            <a:r>
              <a:rPr b="0" i="0" lang="en" sz="1200" u="none" cap="none" strike="noStrike">
                <a:solidFill>
                  <a:srgbClr val="5C5680"/>
                </a:solidFill>
                <a:latin typeface="Calibri"/>
                <a:ea typeface="Calibri"/>
                <a:cs typeface="Calibri"/>
                <a:sym typeface="Calibri"/>
              </a:rPr>
              <a:t>your journey, progress &amp; rewards</a:t>
            </a:r>
            <a:endParaRPr b="0" i="0" sz="1350" u="none" cap="none" strike="noStrike">
              <a:solidFill>
                <a:schemeClr val="dk1"/>
              </a:solidFill>
              <a:latin typeface="Calibri"/>
              <a:ea typeface="Calibri"/>
              <a:cs typeface="Calibri"/>
              <a:sym typeface="Calibri"/>
            </a:endParaRPr>
          </a:p>
        </p:txBody>
      </p:sp>
      <p:sp>
        <p:nvSpPr>
          <p:cNvPr id="281" name="Google Shape;281;p23"/>
          <p:cNvSpPr/>
          <p:nvPr/>
        </p:nvSpPr>
        <p:spPr>
          <a:xfrm>
            <a:off x="5440680" y="141732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C4D"/>
              </a:buClr>
              <a:buSzPts val="1050"/>
              <a:buFont typeface="Calibri"/>
              <a:buNone/>
            </a:pPr>
            <a:r>
              <a:rPr b="1" i="0" lang="en" sz="1050" u="none" cap="none" strike="noStrike">
                <a:solidFill>
                  <a:srgbClr val="2F5C4D"/>
                </a:solidFill>
                <a:latin typeface="Calibri"/>
                <a:ea typeface="Calibri"/>
                <a:cs typeface="Calibri"/>
                <a:sym typeface="Calibri"/>
              </a:rPr>
              <a:t>THE INTELLIGENCE BEHIND IT</a:t>
            </a:r>
            <a:endParaRPr b="0" i="0" sz="1050" u="none" cap="none" strike="noStrike">
              <a:solidFill>
                <a:schemeClr val="dk1"/>
              </a:solidFill>
              <a:latin typeface="Calibri"/>
              <a:ea typeface="Calibri"/>
              <a:cs typeface="Calibri"/>
              <a:sym typeface="Calibri"/>
            </a:endParaRPr>
          </a:p>
        </p:txBody>
      </p:sp>
      <p:sp>
        <p:nvSpPr>
          <p:cNvPr id="282" name="Google Shape;282;p23"/>
          <p:cNvSpPr/>
          <p:nvPr/>
        </p:nvSpPr>
        <p:spPr>
          <a:xfrm>
            <a:off x="5458968" y="1737360"/>
            <a:ext cx="310896" cy="310896"/>
          </a:xfrm>
          <a:prstGeom prst="ellipse">
            <a:avLst/>
          </a:prstGeom>
          <a:solidFill>
            <a:srgbClr val="4F8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3"/>
          <p:cNvSpPr/>
          <p:nvPr/>
        </p:nvSpPr>
        <p:spPr>
          <a:xfrm>
            <a:off x="5458968" y="172821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284" name="Google Shape;284;p23"/>
          <p:cNvSpPr/>
          <p:nvPr/>
        </p:nvSpPr>
        <p:spPr>
          <a:xfrm>
            <a:off x="5943600" y="1700784"/>
            <a:ext cx="31089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1" i="0" lang="en" sz="1350" u="none" cap="none" strike="noStrike">
                <a:solidFill>
                  <a:srgbClr val="211B45"/>
                </a:solidFill>
                <a:latin typeface="Calibri"/>
                <a:ea typeface="Calibri"/>
                <a:cs typeface="Calibri"/>
                <a:sym typeface="Calibri"/>
              </a:rPr>
              <a:t>Curation engine  </a:t>
            </a:r>
            <a:r>
              <a:rPr b="0" i="0" lang="en" sz="1150" u="none" cap="none" strike="noStrike">
                <a:solidFill>
                  <a:srgbClr val="5C5680"/>
                </a:solidFill>
                <a:latin typeface="Calibri"/>
                <a:ea typeface="Calibri"/>
                <a:cs typeface="Calibri"/>
                <a:sym typeface="Calibri"/>
              </a:rPr>
              <a:t>picks the right daily practice</a:t>
            </a:r>
            <a:endParaRPr b="0" i="0" sz="1350" u="none" cap="none" strike="noStrike">
              <a:solidFill>
                <a:schemeClr val="dk1"/>
              </a:solidFill>
              <a:latin typeface="Calibri"/>
              <a:ea typeface="Calibri"/>
              <a:cs typeface="Calibri"/>
              <a:sym typeface="Calibri"/>
            </a:endParaRPr>
          </a:p>
        </p:txBody>
      </p:sp>
      <p:sp>
        <p:nvSpPr>
          <p:cNvPr id="285" name="Google Shape;285;p23"/>
          <p:cNvSpPr/>
          <p:nvPr/>
        </p:nvSpPr>
        <p:spPr>
          <a:xfrm>
            <a:off x="5458968" y="2240280"/>
            <a:ext cx="310896" cy="310896"/>
          </a:xfrm>
          <a:prstGeom prst="ellipse">
            <a:avLst/>
          </a:prstGeom>
          <a:solidFill>
            <a:srgbClr val="4F8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3"/>
          <p:cNvSpPr/>
          <p:nvPr/>
        </p:nvSpPr>
        <p:spPr>
          <a:xfrm>
            <a:off x="5458968" y="223113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7</a:t>
            </a:r>
            <a:endParaRPr b="0" i="0" sz="1300" u="none" cap="none" strike="noStrike">
              <a:solidFill>
                <a:schemeClr val="dk1"/>
              </a:solidFill>
              <a:latin typeface="Calibri"/>
              <a:ea typeface="Calibri"/>
              <a:cs typeface="Calibri"/>
              <a:sym typeface="Calibri"/>
            </a:endParaRPr>
          </a:p>
        </p:txBody>
      </p:sp>
      <p:sp>
        <p:nvSpPr>
          <p:cNvPr id="287" name="Google Shape;287;p23"/>
          <p:cNvSpPr/>
          <p:nvPr/>
        </p:nvSpPr>
        <p:spPr>
          <a:xfrm>
            <a:off x="5943600" y="2203704"/>
            <a:ext cx="31089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1" i="0" lang="en" sz="1350" u="none" cap="none" strike="noStrike">
                <a:solidFill>
                  <a:srgbClr val="211B45"/>
                </a:solidFill>
                <a:latin typeface="Calibri"/>
                <a:ea typeface="Calibri"/>
                <a:cs typeface="Calibri"/>
                <a:sym typeface="Calibri"/>
              </a:rPr>
              <a:t>Journey builder  </a:t>
            </a:r>
            <a:r>
              <a:rPr b="0" i="0" lang="en" sz="1150" u="none" cap="none" strike="noStrike">
                <a:solidFill>
                  <a:srgbClr val="5C5680"/>
                </a:solidFill>
                <a:latin typeface="Calibri"/>
                <a:ea typeface="Calibri"/>
                <a:cs typeface="Calibri"/>
                <a:sym typeface="Calibri"/>
              </a:rPr>
              <a:t>sequences a path that deepens</a:t>
            </a:r>
            <a:endParaRPr b="0" i="0" sz="1350" u="none" cap="none" strike="noStrike">
              <a:solidFill>
                <a:schemeClr val="dk1"/>
              </a:solidFill>
              <a:latin typeface="Calibri"/>
              <a:ea typeface="Calibri"/>
              <a:cs typeface="Calibri"/>
              <a:sym typeface="Calibri"/>
            </a:endParaRPr>
          </a:p>
        </p:txBody>
      </p:sp>
      <p:sp>
        <p:nvSpPr>
          <p:cNvPr id="288" name="Google Shape;288;p23"/>
          <p:cNvSpPr/>
          <p:nvPr/>
        </p:nvSpPr>
        <p:spPr>
          <a:xfrm>
            <a:off x="5458968" y="2743200"/>
            <a:ext cx="310896" cy="310896"/>
          </a:xfrm>
          <a:prstGeom prst="ellipse">
            <a:avLst/>
          </a:prstGeom>
          <a:solidFill>
            <a:srgbClr val="4F8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3"/>
          <p:cNvSpPr/>
          <p:nvPr/>
        </p:nvSpPr>
        <p:spPr>
          <a:xfrm>
            <a:off x="5458968" y="273405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8</a:t>
            </a:r>
            <a:endParaRPr b="0" i="0" sz="1300" u="none" cap="none" strike="noStrike">
              <a:solidFill>
                <a:schemeClr val="dk1"/>
              </a:solidFill>
              <a:latin typeface="Calibri"/>
              <a:ea typeface="Calibri"/>
              <a:cs typeface="Calibri"/>
              <a:sym typeface="Calibri"/>
            </a:endParaRPr>
          </a:p>
        </p:txBody>
      </p:sp>
      <p:sp>
        <p:nvSpPr>
          <p:cNvPr id="290" name="Google Shape;290;p23"/>
          <p:cNvSpPr/>
          <p:nvPr/>
        </p:nvSpPr>
        <p:spPr>
          <a:xfrm>
            <a:off x="5943600" y="2706624"/>
            <a:ext cx="31089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1" i="0" lang="en" sz="1350" u="none" cap="none" strike="noStrike">
                <a:solidFill>
                  <a:srgbClr val="211B45"/>
                </a:solidFill>
                <a:latin typeface="Calibri"/>
                <a:ea typeface="Calibri"/>
                <a:cs typeface="Calibri"/>
                <a:sym typeface="Calibri"/>
              </a:rPr>
              <a:t>Sahaj guide  </a:t>
            </a:r>
            <a:r>
              <a:rPr b="0" i="0" lang="en" sz="1150" u="none" cap="none" strike="noStrike">
                <a:solidFill>
                  <a:srgbClr val="5C5680"/>
                </a:solidFill>
                <a:latin typeface="Calibri"/>
                <a:ea typeface="Calibri"/>
                <a:cs typeface="Calibri"/>
                <a:sym typeface="Calibri"/>
              </a:rPr>
              <a:t>surfaces Gurudev’s teachings, points to teachers</a:t>
            </a:r>
            <a:endParaRPr b="0" i="0" sz="1350" u="none" cap="none" strike="noStrike">
              <a:solidFill>
                <a:schemeClr val="dk1"/>
              </a:solidFill>
              <a:latin typeface="Calibri"/>
              <a:ea typeface="Calibri"/>
              <a:cs typeface="Calibri"/>
              <a:sym typeface="Calibri"/>
            </a:endParaRPr>
          </a:p>
        </p:txBody>
      </p:sp>
      <p:sp>
        <p:nvSpPr>
          <p:cNvPr id="291" name="Google Shape;291;p23"/>
          <p:cNvSpPr/>
          <p:nvPr/>
        </p:nvSpPr>
        <p:spPr>
          <a:xfrm>
            <a:off x="5458968" y="3246120"/>
            <a:ext cx="310896" cy="310896"/>
          </a:xfrm>
          <a:prstGeom prst="ellipse">
            <a:avLst/>
          </a:prstGeom>
          <a:solidFill>
            <a:srgbClr val="4F8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3"/>
          <p:cNvSpPr/>
          <p:nvPr/>
        </p:nvSpPr>
        <p:spPr>
          <a:xfrm>
            <a:off x="5458968" y="323697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9</a:t>
            </a:r>
            <a:endParaRPr b="0" i="0" sz="1300" u="none" cap="none" strike="noStrike">
              <a:solidFill>
                <a:schemeClr val="dk1"/>
              </a:solidFill>
              <a:latin typeface="Calibri"/>
              <a:ea typeface="Calibri"/>
              <a:cs typeface="Calibri"/>
              <a:sym typeface="Calibri"/>
            </a:endParaRPr>
          </a:p>
        </p:txBody>
      </p:sp>
      <p:sp>
        <p:nvSpPr>
          <p:cNvPr id="293" name="Google Shape;293;p23"/>
          <p:cNvSpPr/>
          <p:nvPr/>
        </p:nvSpPr>
        <p:spPr>
          <a:xfrm>
            <a:off x="5943600" y="3209544"/>
            <a:ext cx="31089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1" i="0" lang="en" sz="1350" u="none" cap="none" strike="noStrike">
                <a:solidFill>
                  <a:srgbClr val="211B45"/>
                </a:solidFill>
                <a:latin typeface="Calibri"/>
                <a:ea typeface="Calibri"/>
                <a:cs typeface="Calibri"/>
                <a:sym typeface="Calibri"/>
              </a:rPr>
              <a:t>Reflection loop  </a:t>
            </a:r>
            <a:r>
              <a:rPr b="0" i="0" lang="en" sz="1150" u="none" cap="none" strike="noStrike">
                <a:solidFill>
                  <a:srgbClr val="5C5680"/>
                </a:solidFill>
                <a:latin typeface="Calibri"/>
                <a:ea typeface="Calibri"/>
                <a:cs typeface="Calibri"/>
                <a:sym typeface="Calibri"/>
              </a:rPr>
              <a:t>mood, notes &amp; gentle nudges</a:t>
            </a:r>
            <a:endParaRPr b="0" i="0" sz="1350" u="none" cap="none" strike="noStrike">
              <a:solidFill>
                <a:schemeClr val="dk1"/>
              </a:solidFill>
              <a:latin typeface="Calibri"/>
              <a:ea typeface="Calibri"/>
              <a:cs typeface="Calibri"/>
              <a:sym typeface="Calibri"/>
            </a:endParaRPr>
          </a:p>
        </p:txBody>
      </p:sp>
      <p:sp>
        <p:nvSpPr>
          <p:cNvPr id="294" name="Google Shape;294;p23"/>
          <p:cNvSpPr/>
          <p:nvPr/>
        </p:nvSpPr>
        <p:spPr>
          <a:xfrm>
            <a:off x="5458968" y="3749040"/>
            <a:ext cx="310896" cy="310896"/>
          </a:xfrm>
          <a:prstGeom prst="ellipse">
            <a:avLst/>
          </a:prstGeom>
          <a:solidFill>
            <a:srgbClr val="4F8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3"/>
          <p:cNvSpPr/>
          <p:nvPr/>
        </p:nvSpPr>
        <p:spPr>
          <a:xfrm>
            <a:off x="5458968" y="373989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10</a:t>
            </a:r>
            <a:endParaRPr b="0" i="0" sz="1300" u="none" cap="none" strike="noStrike">
              <a:solidFill>
                <a:schemeClr val="dk1"/>
              </a:solidFill>
              <a:latin typeface="Calibri"/>
              <a:ea typeface="Calibri"/>
              <a:cs typeface="Calibri"/>
              <a:sym typeface="Calibri"/>
            </a:endParaRPr>
          </a:p>
        </p:txBody>
      </p:sp>
      <p:sp>
        <p:nvSpPr>
          <p:cNvPr id="296" name="Google Shape;296;p23"/>
          <p:cNvSpPr/>
          <p:nvPr/>
        </p:nvSpPr>
        <p:spPr>
          <a:xfrm>
            <a:off x="5943600" y="3712464"/>
            <a:ext cx="31089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50"/>
              <a:buFont typeface="Calibri"/>
              <a:buNone/>
            </a:pPr>
            <a:r>
              <a:rPr b="1" i="0" lang="en" sz="1350" u="none" cap="none" strike="noStrike">
                <a:solidFill>
                  <a:srgbClr val="211B45"/>
                </a:solidFill>
                <a:latin typeface="Calibri"/>
                <a:ea typeface="Calibri"/>
                <a:cs typeface="Calibri"/>
                <a:sym typeface="Calibri"/>
              </a:rPr>
              <a:t>Content tagging  </a:t>
            </a:r>
            <a:r>
              <a:rPr b="0" i="0" lang="en" sz="1150" u="none" cap="none" strike="noStrike">
                <a:solidFill>
                  <a:srgbClr val="5C5680"/>
                </a:solidFill>
                <a:latin typeface="Calibri"/>
                <a:ea typeface="Calibri"/>
                <a:cs typeface="Calibri"/>
                <a:sym typeface="Calibri"/>
              </a:rPr>
              <a:t>organises a vast library by need</a:t>
            </a:r>
            <a:endParaRPr b="0" i="0" sz="1350" u="none" cap="none" strike="noStrike">
              <a:solidFill>
                <a:schemeClr val="dk1"/>
              </a:solidFill>
              <a:latin typeface="Calibri"/>
              <a:ea typeface="Calibri"/>
              <a:cs typeface="Calibri"/>
              <a:sym typeface="Calibri"/>
            </a:endParaRPr>
          </a:p>
        </p:txBody>
      </p:sp>
      <p:sp>
        <p:nvSpPr>
          <p:cNvPr id="297" name="Google Shape;297;p23"/>
          <p:cNvSpPr/>
          <p:nvPr/>
        </p:nvSpPr>
        <p:spPr>
          <a:xfrm>
            <a:off x="548640" y="4343400"/>
            <a:ext cx="8046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8FAD"/>
              </a:buClr>
              <a:buSzPts val="1150"/>
              <a:buFont typeface="Calibri"/>
              <a:buNone/>
            </a:pPr>
            <a:r>
              <a:rPr b="0" i="1" lang="en" sz="1150" u="none" cap="none" strike="noStrike">
                <a:solidFill>
                  <a:srgbClr val="938FAD"/>
                </a:solidFill>
                <a:latin typeface="Calibri"/>
                <a:ea typeface="Calibri"/>
                <a:cs typeface="Calibri"/>
                <a:sym typeface="Calibri"/>
              </a:rPr>
              <a:t>Sahaj never replaces a teacher or Gurudev’s wisdom — it points to the authentic source, and to the right course.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sp>
        <p:nvSpPr>
          <p:cNvPr id="303" name="Google Shape;303;p24"/>
          <p:cNvSpPr/>
          <p:nvPr/>
        </p:nvSpPr>
        <p:spPr>
          <a:xfrm>
            <a:off x="548640" y="45720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SEQUENCING</a:t>
            </a:r>
            <a:endParaRPr b="0" i="0" sz="1100" u="none" cap="none" strike="noStrike">
              <a:solidFill>
                <a:schemeClr val="dk1"/>
              </a:solidFill>
              <a:latin typeface="Calibri"/>
              <a:ea typeface="Calibri"/>
              <a:cs typeface="Calibri"/>
              <a:sym typeface="Calibri"/>
            </a:endParaRPr>
          </a:p>
        </p:txBody>
      </p:sp>
      <p:sp>
        <p:nvSpPr>
          <p:cNvPr id="304" name="Google Shape;304;p24"/>
          <p:cNvSpPr/>
          <p:nvPr/>
        </p:nvSpPr>
        <p:spPr>
          <a:xfrm>
            <a:off x="512064" y="74980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900"/>
              <a:buFont typeface="Cambria"/>
              <a:buNone/>
            </a:pPr>
            <a:r>
              <a:rPr b="1" i="0" lang="en" sz="2900" u="none" cap="none" strike="noStrike">
                <a:solidFill>
                  <a:srgbClr val="211B45"/>
                </a:solidFill>
                <a:latin typeface="Cambria"/>
                <a:ea typeface="Cambria"/>
                <a:cs typeface="Cambria"/>
                <a:sym typeface="Cambria"/>
              </a:rPr>
              <a:t>Earn the daily habit first</a:t>
            </a:r>
            <a:endParaRPr b="0" i="0" sz="2900" u="none" cap="none" strike="noStrike">
              <a:solidFill>
                <a:schemeClr val="dk1"/>
              </a:solidFill>
              <a:latin typeface="Calibri"/>
              <a:ea typeface="Calibri"/>
              <a:cs typeface="Calibri"/>
              <a:sym typeface="Calibri"/>
            </a:endParaRPr>
          </a:p>
        </p:txBody>
      </p:sp>
      <p:sp>
        <p:nvSpPr>
          <p:cNvPr id="305" name="Google Shape;305;p24"/>
          <p:cNvSpPr/>
          <p:nvPr/>
        </p:nvSpPr>
        <p:spPr>
          <a:xfrm>
            <a:off x="548640" y="1554480"/>
            <a:ext cx="8046720" cy="640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C5680"/>
              </a:buClr>
              <a:buSzPts val="1350"/>
              <a:buFont typeface="Calibri"/>
              <a:buNone/>
            </a:pPr>
            <a:r>
              <a:rPr b="0" i="0" lang="en" sz="1350" u="none" cap="none" strike="noStrike">
                <a:solidFill>
                  <a:srgbClr val="5C5680"/>
                </a:solidFill>
                <a:latin typeface="Calibri"/>
                <a:ea typeface="Calibri"/>
                <a:cs typeface="Calibri"/>
                <a:sym typeface="Calibri"/>
              </a:rPr>
              <a:t>The habit is the multiplier. Nothing deeper — trust, a course, a sustained mission — happens without it. So Phase 1 spends everything on one thing: a daily practice worth returning to.</a:t>
            </a:r>
            <a:endParaRPr b="0" i="0" sz="1350" u="none" cap="none" strike="noStrike">
              <a:solidFill>
                <a:schemeClr val="dk1"/>
              </a:solidFill>
              <a:latin typeface="Calibri"/>
              <a:ea typeface="Calibri"/>
              <a:cs typeface="Calibri"/>
              <a:sym typeface="Calibri"/>
            </a:endParaRPr>
          </a:p>
        </p:txBody>
      </p:sp>
      <p:sp>
        <p:nvSpPr>
          <p:cNvPr id="306" name="Google Shape;306;p24"/>
          <p:cNvSpPr/>
          <p:nvPr/>
        </p:nvSpPr>
        <p:spPr>
          <a:xfrm>
            <a:off x="457200" y="2514600"/>
            <a:ext cx="1517904" cy="914400"/>
          </a:xfrm>
          <a:prstGeom prst="roundRect">
            <a:avLst>
              <a:gd fmla="val 10000" name="adj"/>
            </a:avLst>
          </a:prstGeom>
          <a:solidFill>
            <a:srgbClr val="F7E6D2"/>
          </a:solidFill>
          <a:ln cap="flat" cmpd="sng" w="9525">
            <a:solidFill>
              <a:srgbClr val="E6E1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4"/>
          <p:cNvSpPr/>
          <p:nvPr/>
        </p:nvSpPr>
        <p:spPr>
          <a:xfrm>
            <a:off x="530352" y="2606040"/>
            <a:ext cx="13716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30F"/>
              </a:buClr>
              <a:buSzPts val="1150"/>
              <a:buFont typeface="Calibri"/>
              <a:buNone/>
            </a:pPr>
            <a:r>
              <a:rPr b="1" i="0" lang="en" sz="1150" u="none" cap="none" strike="noStrike">
                <a:solidFill>
                  <a:srgbClr val="A8530F"/>
                </a:solidFill>
                <a:latin typeface="Calibri"/>
                <a:ea typeface="Calibri"/>
                <a:cs typeface="Calibri"/>
                <a:sym typeface="Calibri"/>
              </a:rPr>
              <a:t>A daily habit</a:t>
            </a:r>
            <a:endParaRPr b="0" i="0" sz="1150" u="none" cap="none" strike="noStrike">
              <a:solidFill>
                <a:schemeClr val="dk1"/>
              </a:solidFill>
              <a:latin typeface="Calibri"/>
              <a:ea typeface="Calibri"/>
              <a:cs typeface="Calibri"/>
              <a:sym typeface="Calibri"/>
            </a:endParaRPr>
          </a:p>
        </p:txBody>
      </p:sp>
      <p:sp>
        <p:nvSpPr>
          <p:cNvPr id="308" name="Google Shape;308;p24"/>
          <p:cNvSpPr/>
          <p:nvPr/>
        </p:nvSpPr>
        <p:spPr>
          <a:xfrm>
            <a:off x="1956816" y="27889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1800"/>
              <a:buFont typeface="Calibri"/>
              <a:buNone/>
            </a:pPr>
            <a:r>
              <a:rPr b="1" i="0" lang="en" sz="1800" u="none" cap="none" strike="noStrike">
                <a:solidFill>
                  <a:srgbClr val="E07B2E"/>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09" name="Google Shape;309;p24"/>
          <p:cNvSpPr/>
          <p:nvPr/>
        </p:nvSpPr>
        <p:spPr>
          <a:xfrm>
            <a:off x="2084832" y="2514600"/>
            <a:ext cx="1517904" cy="914400"/>
          </a:xfrm>
          <a:prstGeom prst="roundRect">
            <a:avLst>
              <a:gd fmla="val 10000" name="adj"/>
            </a:avLst>
          </a:prstGeom>
          <a:solidFill>
            <a:srgbClr val="E3EFEA"/>
          </a:solidFill>
          <a:ln cap="flat" cmpd="sng" w="9525">
            <a:solidFill>
              <a:srgbClr val="E6E1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4"/>
          <p:cNvSpPr/>
          <p:nvPr/>
        </p:nvSpPr>
        <p:spPr>
          <a:xfrm>
            <a:off x="2157984" y="2606040"/>
            <a:ext cx="13716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5C4D"/>
              </a:buClr>
              <a:buSzPts val="1150"/>
              <a:buFont typeface="Calibri"/>
              <a:buNone/>
            </a:pPr>
            <a:r>
              <a:rPr b="1" i="0" lang="en" sz="1150" u="none" cap="none" strike="noStrike">
                <a:solidFill>
                  <a:srgbClr val="2F5C4D"/>
                </a:solidFill>
                <a:latin typeface="Calibri"/>
                <a:ea typeface="Calibri"/>
                <a:cs typeface="Calibri"/>
                <a:sym typeface="Calibri"/>
              </a:rPr>
              <a:t>Trust in the app</a:t>
            </a:r>
            <a:endParaRPr b="0" i="0" sz="1150" u="none" cap="none" strike="noStrike">
              <a:solidFill>
                <a:schemeClr val="dk1"/>
              </a:solidFill>
              <a:latin typeface="Calibri"/>
              <a:ea typeface="Calibri"/>
              <a:cs typeface="Calibri"/>
              <a:sym typeface="Calibri"/>
            </a:endParaRPr>
          </a:p>
        </p:txBody>
      </p:sp>
      <p:sp>
        <p:nvSpPr>
          <p:cNvPr id="311" name="Google Shape;311;p24"/>
          <p:cNvSpPr/>
          <p:nvPr/>
        </p:nvSpPr>
        <p:spPr>
          <a:xfrm>
            <a:off x="3584448" y="27889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1800"/>
              <a:buFont typeface="Calibri"/>
              <a:buNone/>
            </a:pPr>
            <a:r>
              <a:rPr b="1" i="0" lang="en" sz="1800" u="none" cap="none" strike="noStrike">
                <a:solidFill>
                  <a:srgbClr val="E07B2E"/>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12" name="Google Shape;312;p24"/>
          <p:cNvSpPr/>
          <p:nvPr/>
        </p:nvSpPr>
        <p:spPr>
          <a:xfrm>
            <a:off x="3712464" y="2514600"/>
            <a:ext cx="1517904" cy="914400"/>
          </a:xfrm>
          <a:prstGeom prst="roundRect">
            <a:avLst>
              <a:gd fmla="val 10000" name="adj"/>
            </a:avLst>
          </a:prstGeom>
          <a:solidFill>
            <a:srgbClr val="FAF0DA"/>
          </a:solidFill>
          <a:ln cap="flat" cmpd="sng" w="9525">
            <a:solidFill>
              <a:srgbClr val="E6E1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4"/>
          <p:cNvSpPr/>
          <p:nvPr/>
        </p:nvSpPr>
        <p:spPr>
          <a:xfrm>
            <a:off x="3785616" y="2606040"/>
            <a:ext cx="13716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5832F"/>
              </a:buClr>
              <a:buSzPts val="1150"/>
              <a:buFont typeface="Calibri"/>
              <a:buNone/>
            </a:pPr>
            <a:r>
              <a:rPr b="1" i="0" lang="en" sz="1150" u="none" cap="none" strike="noStrike">
                <a:solidFill>
                  <a:srgbClr val="B5832F"/>
                </a:solidFill>
                <a:latin typeface="Calibri"/>
                <a:ea typeface="Calibri"/>
                <a:cs typeface="Calibri"/>
                <a:sym typeface="Calibri"/>
              </a:rPr>
              <a:t>Readiness for a course</a:t>
            </a:r>
            <a:endParaRPr b="0" i="0" sz="1150" u="none" cap="none" strike="noStrike">
              <a:solidFill>
                <a:schemeClr val="dk1"/>
              </a:solidFill>
              <a:latin typeface="Calibri"/>
              <a:ea typeface="Calibri"/>
              <a:cs typeface="Calibri"/>
              <a:sym typeface="Calibri"/>
            </a:endParaRPr>
          </a:p>
        </p:txBody>
      </p:sp>
      <p:sp>
        <p:nvSpPr>
          <p:cNvPr id="314" name="Google Shape;314;p24"/>
          <p:cNvSpPr/>
          <p:nvPr/>
        </p:nvSpPr>
        <p:spPr>
          <a:xfrm>
            <a:off x="5212080" y="27889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1800"/>
              <a:buFont typeface="Calibri"/>
              <a:buNone/>
            </a:pPr>
            <a:r>
              <a:rPr b="1" i="0" lang="en" sz="1800" u="none" cap="none" strike="noStrike">
                <a:solidFill>
                  <a:srgbClr val="E07B2E"/>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15" name="Google Shape;315;p24"/>
          <p:cNvSpPr/>
          <p:nvPr/>
        </p:nvSpPr>
        <p:spPr>
          <a:xfrm>
            <a:off x="5340096" y="2514600"/>
            <a:ext cx="1517904" cy="914400"/>
          </a:xfrm>
          <a:prstGeom prst="roundRect">
            <a:avLst>
              <a:gd fmla="val 10000" name="adj"/>
            </a:avLst>
          </a:prstGeom>
          <a:solidFill>
            <a:srgbClr val="F7E6D2"/>
          </a:solidFill>
          <a:ln cap="flat" cmpd="sng" w="9525">
            <a:solidFill>
              <a:srgbClr val="E6E1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4"/>
          <p:cNvSpPr/>
          <p:nvPr/>
        </p:nvSpPr>
        <p:spPr>
          <a:xfrm>
            <a:off x="5413248" y="2606040"/>
            <a:ext cx="13716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30F"/>
              </a:buClr>
              <a:buSzPts val="1150"/>
              <a:buFont typeface="Calibri"/>
              <a:buNone/>
            </a:pPr>
            <a:r>
              <a:rPr b="1" i="0" lang="en" sz="1150" u="none" cap="none" strike="noStrike">
                <a:solidFill>
                  <a:srgbClr val="A8530F"/>
                </a:solidFill>
                <a:latin typeface="Calibri"/>
                <a:ea typeface="Calibri"/>
                <a:cs typeface="Calibri"/>
                <a:sym typeface="Calibri"/>
              </a:rPr>
              <a:t>Course enrolment</a:t>
            </a:r>
            <a:endParaRPr b="0" i="0" sz="1150" u="none" cap="none" strike="noStrike">
              <a:solidFill>
                <a:schemeClr val="dk1"/>
              </a:solidFill>
              <a:latin typeface="Calibri"/>
              <a:ea typeface="Calibri"/>
              <a:cs typeface="Calibri"/>
              <a:sym typeface="Calibri"/>
            </a:endParaRPr>
          </a:p>
        </p:txBody>
      </p:sp>
      <p:sp>
        <p:nvSpPr>
          <p:cNvPr id="317" name="Google Shape;317;p24"/>
          <p:cNvSpPr/>
          <p:nvPr/>
        </p:nvSpPr>
        <p:spPr>
          <a:xfrm>
            <a:off x="6839712" y="27889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1800"/>
              <a:buFont typeface="Calibri"/>
              <a:buNone/>
            </a:pPr>
            <a:r>
              <a:rPr b="1" i="0" lang="en" sz="1800" u="none" cap="none" strike="noStrike">
                <a:solidFill>
                  <a:srgbClr val="E07B2E"/>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18" name="Google Shape;318;p24"/>
          <p:cNvSpPr/>
          <p:nvPr/>
        </p:nvSpPr>
        <p:spPr>
          <a:xfrm>
            <a:off x="6967728" y="2514600"/>
            <a:ext cx="1517904" cy="914400"/>
          </a:xfrm>
          <a:prstGeom prst="roundRect">
            <a:avLst>
              <a:gd fmla="val 10000" name="adj"/>
            </a:avLst>
          </a:prstGeom>
          <a:solidFill>
            <a:srgbClr val="E7E3F3"/>
          </a:solidFill>
          <a:ln cap="flat" cmpd="sng" w="9525">
            <a:solidFill>
              <a:srgbClr val="E6E1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4"/>
          <p:cNvSpPr/>
          <p:nvPr/>
        </p:nvSpPr>
        <p:spPr>
          <a:xfrm>
            <a:off x="7040880" y="2606040"/>
            <a:ext cx="13716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2C72"/>
              </a:buClr>
              <a:buSzPts val="1150"/>
              <a:buFont typeface="Calibri"/>
              <a:buNone/>
            </a:pPr>
            <a:r>
              <a:rPr b="1" i="0" lang="en" sz="1150" u="none" cap="none" strike="noStrike">
                <a:solidFill>
                  <a:srgbClr val="372C72"/>
                </a:solidFill>
                <a:latin typeface="Calibri"/>
                <a:ea typeface="Calibri"/>
                <a:cs typeface="Calibri"/>
                <a:sym typeface="Calibri"/>
              </a:rPr>
              <a:t>A self-sustaining mission</a:t>
            </a:r>
            <a:endParaRPr b="0" i="0" sz="1150" u="none" cap="none" strike="noStrike">
              <a:solidFill>
                <a:schemeClr val="dk1"/>
              </a:solidFill>
              <a:latin typeface="Calibri"/>
              <a:ea typeface="Calibri"/>
              <a:cs typeface="Calibri"/>
              <a:sym typeface="Calibri"/>
            </a:endParaRPr>
          </a:p>
        </p:txBody>
      </p:sp>
      <p:sp>
        <p:nvSpPr>
          <p:cNvPr id="320" name="Google Shape;320;p24"/>
          <p:cNvSpPr/>
          <p:nvPr/>
        </p:nvSpPr>
        <p:spPr>
          <a:xfrm>
            <a:off x="548640" y="3703320"/>
            <a:ext cx="8046720" cy="640080"/>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5C5680"/>
              </a:buClr>
              <a:buSzPts val="1200"/>
              <a:buFont typeface="Calibri"/>
              <a:buNone/>
            </a:pPr>
            <a:r>
              <a:rPr b="0" i="1" lang="en" sz="1200" u="none" cap="none" strike="noStrike">
                <a:solidFill>
                  <a:srgbClr val="5C5680"/>
                </a:solidFill>
                <a:latin typeface="Calibri"/>
                <a:ea typeface="Calibri"/>
                <a:cs typeface="Calibri"/>
                <a:sym typeface="Calibri"/>
              </a:rPr>
              <a:t>Read the other way: every rupee a course earns funds more content, more reach, and more people who never pay a paisa — the free habit that starts the whole journey.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25"/>
          <p:cNvSpPr/>
          <p:nvPr/>
        </p:nvSpPr>
        <p:spPr>
          <a:xfrm>
            <a:off x="548640" y="41148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WHAT WE HEARD</a:t>
            </a:r>
            <a:endParaRPr b="0" i="0" sz="1100" u="none" cap="none" strike="noStrike">
              <a:solidFill>
                <a:schemeClr val="dk1"/>
              </a:solidFill>
              <a:latin typeface="Calibri"/>
              <a:ea typeface="Calibri"/>
              <a:cs typeface="Calibri"/>
              <a:sym typeface="Calibri"/>
            </a:endParaRPr>
          </a:p>
        </p:txBody>
      </p:sp>
      <p:sp>
        <p:nvSpPr>
          <p:cNvPr id="327" name="Google Shape;327;p25"/>
          <p:cNvSpPr/>
          <p:nvPr/>
        </p:nvSpPr>
        <p:spPr>
          <a:xfrm>
            <a:off x="512064" y="70408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700"/>
              <a:buFont typeface="Cambria"/>
              <a:buNone/>
            </a:pPr>
            <a:r>
              <a:rPr b="1" i="0" lang="en" sz="2700" u="none" cap="none" strike="noStrike">
                <a:solidFill>
                  <a:srgbClr val="211B45"/>
                </a:solidFill>
                <a:latin typeface="Cambria"/>
                <a:ea typeface="Cambria"/>
                <a:cs typeface="Cambria"/>
                <a:sym typeface="Cambria"/>
              </a:rPr>
              <a:t>The moment — and what people asked for</a:t>
            </a:r>
            <a:endParaRPr b="0" i="0" sz="2700" u="none" cap="none" strike="noStrike">
              <a:solidFill>
                <a:schemeClr val="dk1"/>
              </a:solidFill>
              <a:latin typeface="Calibri"/>
              <a:ea typeface="Calibri"/>
              <a:cs typeface="Calibri"/>
              <a:sym typeface="Calibri"/>
            </a:endParaRPr>
          </a:p>
        </p:txBody>
      </p:sp>
      <p:sp>
        <p:nvSpPr>
          <p:cNvPr id="328" name="Google Shape;328;p25"/>
          <p:cNvSpPr/>
          <p:nvPr/>
        </p:nvSpPr>
        <p:spPr>
          <a:xfrm>
            <a:off x="566928" y="1508760"/>
            <a:ext cx="4297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500"/>
              <a:buFont typeface="Cambria"/>
              <a:buNone/>
            </a:pPr>
            <a:r>
              <a:rPr b="1" i="1" lang="en" sz="1500" u="none" cap="none" strike="noStrike">
                <a:solidFill>
                  <a:srgbClr val="A8530F"/>
                </a:solidFill>
                <a:latin typeface="Cambria"/>
                <a:ea typeface="Cambria"/>
                <a:cs typeface="Cambria"/>
                <a:sym typeface="Cambria"/>
              </a:rPr>
              <a:t>“Just tell me what to do.”</a:t>
            </a:r>
            <a:endParaRPr b="0" i="0" sz="1500" u="none" cap="none" strike="noStrike">
              <a:solidFill>
                <a:schemeClr val="dk1"/>
              </a:solidFill>
              <a:latin typeface="Calibri"/>
              <a:ea typeface="Calibri"/>
              <a:cs typeface="Calibri"/>
              <a:sym typeface="Calibri"/>
            </a:endParaRPr>
          </a:p>
        </p:txBody>
      </p:sp>
      <p:sp>
        <p:nvSpPr>
          <p:cNvPr id="329" name="Google Shape;329;p25"/>
          <p:cNvSpPr/>
          <p:nvPr/>
        </p:nvSpPr>
        <p:spPr>
          <a:xfrm>
            <a:off x="566928" y="1874520"/>
            <a:ext cx="4297680" cy="4114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150"/>
              <a:buFont typeface="Calibri"/>
              <a:buNone/>
            </a:pPr>
            <a:r>
              <a:rPr b="0" i="0" lang="en" sz="1150" u="none" cap="none" strike="noStrike">
                <a:solidFill>
                  <a:srgbClr val="5C5680"/>
                </a:solidFill>
                <a:latin typeface="Calibri"/>
                <a:ea typeface="Calibri"/>
                <a:cs typeface="Calibri"/>
                <a:sym typeface="Calibri"/>
              </a:rPr>
              <a:t>People want to be guided, not handed a library to sort through.</a:t>
            </a:r>
            <a:endParaRPr b="0" i="0" sz="1150" u="none" cap="none" strike="noStrike">
              <a:solidFill>
                <a:schemeClr val="dk1"/>
              </a:solidFill>
              <a:latin typeface="Calibri"/>
              <a:ea typeface="Calibri"/>
              <a:cs typeface="Calibri"/>
              <a:sym typeface="Calibri"/>
            </a:endParaRPr>
          </a:p>
        </p:txBody>
      </p:sp>
      <p:sp>
        <p:nvSpPr>
          <p:cNvPr id="330" name="Google Shape;330;p25"/>
          <p:cNvSpPr/>
          <p:nvPr/>
        </p:nvSpPr>
        <p:spPr>
          <a:xfrm>
            <a:off x="566928" y="2350008"/>
            <a:ext cx="4297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500"/>
              <a:buFont typeface="Cambria"/>
              <a:buNone/>
            </a:pPr>
            <a:r>
              <a:rPr b="1" i="1" lang="en" sz="1500" u="none" cap="none" strike="noStrike">
                <a:solidFill>
                  <a:srgbClr val="A8530F"/>
                </a:solidFill>
                <a:latin typeface="Cambria"/>
                <a:ea typeface="Cambria"/>
                <a:cs typeface="Cambria"/>
                <a:sym typeface="Cambria"/>
              </a:rPr>
              <a:t>“Make it easy to keep going.”</a:t>
            </a:r>
            <a:endParaRPr b="0" i="0" sz="1500" u="none" cap="none" strike="noStrike">
              <a:solidFill>
                <a:schemeClr val="dk1"/>
              </a:solidFill>
              <a:latin typeface="Calibri"/>
              <a:ea typeface="Calibri"/>
              <a:cs typeface="Calibri"/>
              <a:sym typeface="Calibri"/>
            </a:endParaRPr>
          </a:p>
        </p:txBody>
      </p:sp>
      <p:sp>
        <p:nvSpPr>
          <p:cNvPr id="331" name="Google Shape;331;p25"/>
          <p:cNvSpPr/>
          <p:nvPr/>
        </p:nvSpPr>
        <p:spPr>
          <a:xfrm>
            <a:off x="566928" y="2715768"/>
            <a:ext cx="4297680" cy="4114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150"/>
              <a:buFont typeface="Calibri"/>
              <a:buNone/>
            </a:pPr>
            <a:r>
              <a:rPr b="0" i="0" lang="en" sz="1150" u="none" cap="none" strike="noStrike">
                <a:solidFill>
                  <a:srgbClr val="5C5680"/>
                </a:solidFill>
                <a:latin typeface="Calibri"/>
                <a:ea typeface="Calibri"/>
                <a:cs typeface="Calibri"/>
                <a:sym typeface="Calibri"/>
              </a:rPr>
              <a:t>A gentle habit, reminders, and proof it’s working — that’s what holds people.</a:t>
            </a:r>
            <a:endParaRPr b="0" i="0" sz="1150" u="none" cap="none" strike="noStrike">
              <a:solidFill>
                <a:schemeClr val="dk1"/>
              </a:solidFill>
              <a:latin typeface="Calibri"/>
              <a:ea typeface="Calibri"/>
              <a:cs typeface="Calibri"/>
              <a:sym typeface="Calibri"/>
            </a:endParaRPr>
          </a:p>
        </p:txBody>
      </p:sp>
      <p:sp>
        <p:nvSpPr>
          <p:cNvPr id="332" name="Google Shape;332;p25"/>
          <p:cNvSpPr/>
          <p:nvPr/>
        </p:nvSpPr>
        <p:spPr>
          <a:xfrm>
            <a:off x="566928" y="3191256"/>
            <a:ext cx="4297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500"/>
              <a:buFont typeface="Cambria"/>
              <a:buNone/>
            </a:pPr>
            <a:r>
              <a:rPr b="1" i="1" lang="en" sz="1500" u="none" cap="none" strike="noStrike">
                <a:solidFill>
                  <a:srgbClr val="A8530F"/>
                </a:solidFill>
                <a:latin typeface="Cambria"/>
                <a:ea typeface="Cambria"/>
                <a:cs typeface="Cambria"/>
                <a:sym typeface="Cambria"/>
              </a:rPr>
              <a:t>“I want it to mean something.”</a:t>
            </a:r>
            <a:endParaRPr b="0" i="0" sz="1500" u="none" cap="none" strike="noStrike">
              <a:solidFill>
                <a:schemeClr val="dk1"/>
              </a:solidFill>
              <a:latin typeface="Calibri"/>
              <a:ea typeface="Calibri"/>
              <a:cs typeface="Calibri"/>
              <a:sym typeface="Calibri"/>
            </a:endParaRPr>
          </a:p>
        </p:txBody>
      </p:sp>
      <p:sp>
        <p:nvSpPr>
          <p:cNvPr id="333" name="Google Shape;333;p25"/>
          <p:cNvSpPr/>
          <p:nvPr/>
        </p:nvSpPr>
        <p:spPr>
          <a:xfrm>
            <a:off x="566928" y="3557016"/>
            <a:ext cx="4297680" cy="4114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150"/>
              <a:buFont typeface="Calibri"/>
              <a:buNone/>
            </a:pPr>
            <a:r>
              <a:rPr b="0" i="0" lang="en" sz="1150" u="none" cap="none" strike="noStrike">
                <a:solidFill>
                  <a:srgbClr val="5C5680"/>
                </a:solidFill>
                <a:latin typeface="Calibri"/>
                <a:ea typeface="Calibri"/>
                <a:cs typeface="Calibri"/>
                <a:sym typeface="Calibri"/>
              </a:rPr>
              <a:t>Calm is the door; depth and belonging are why they stay.</a:t>
            </a:r>
            <a:endParaRPr b="0" i="0" sz="1150" u="none" cap="none" strike="noStrike">
              <a:solidFill>
                <a:schemeClr val="dk1"/>
              </a:solidFill>
              <a:latin typeface="Calibri"/>
              <a:ea typeface="Calibri"/>
              <a:cs typeface="Calibri"/>
              <a:sym typeface="Calibri"/>
            </a:endParaRPr>
          </a:p>
        </p:txBody>
      </p:sp>
      <p:sp>
        <p:nvSpPr>
          <p:cNvPr id="334" name="Google Shape;334;p25"/>
          <p:cNvSpPr/>
          <p:nvPr/>
        </p:nvSpPr>
        <p:spPr>
          <a:xfrm>
            <a:off x="566928" y="4032504"/>
            <a:ext cx="4297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500"/>
              <a:buFont typeface="Cambria"/>
              <a:buNone/>
            </a:pPr>
            <a:r>
              <a:rPr b="1" i="1" lang="en" sz="1500" u="none" cap="none" strike="noStrike">
                <a:solidFill>
                  <a:srgbClr val="A8530F"/>
                </a:solidFill>
                <a:latin typeface="Cambria"/>
                <a:ea typeface="Cambria"/>
                <a:cs typeface="Cambria"/>
                <a:sym typeface="Cambria"/>
              </a:rPr>
              <a:t>“Don’t make it feel like a shop.”</a:t>
            </a:r>
            <a:endParaRPr b="0" i="0" sz="1500" u="none" cap="none" strike="noStrike">
              <a:solidFill>
                <a:schemeClr val="dk1"/>
              </a:solidFill>
              <a:latin typeface="Calibri"/>
              <a:ea typeface="Calibri"/>
              <a:cs typeface="Calibri"/>
              <a:sym typeface="Calibri"/>
            </a:endParaRPr>
          </a:p>
        </p:txBody>
      </p:sp>
      <p:sp>
        <p:nvSpPr>
          <p:cNvPr id="335" name="Google Shape;335;p25"/>
          <p:cNvSpPr/>
          <p:nvPr/>
        </p:nvSpPr>
        <p:spPr>
          <a:xfrm>
            <a:off x="566928" y="4398264"/>
            <a:ext cx="4297680" cy="4114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150"/>
              <a:buFont typeface="Calibri"/>
              <a:buNone/>
            </a:pPr>
            <a:r>
              <a:rPr b="0" i="0" lang="en" sz="1150" u="none" cap="none" strike="noStrike">
                <a:solidFill>
                  <a:srgbClr val="5C5680"/>
                </a:solidFill>
                <a:latin typeface="Calibri"/>
                <a:ea typeface="Calibri"/>
                <a:cs typeface="Calibri"/>
                <a:sym typeface="Calibri"/>
              </a:rPr>
              <a:t>Trust first. The practice must never feel sold.</a:t>
            </a:r>
            <a:endParaRPr b="0" i="0" sz="1150" u="none" cap="none" strike="noStrike">
              <a:solidFill>
                <a:schemeClr val="dk1"/>
              </a:solidFill>
              <a:latin typeface="Calibri"/>
              <a:ea typeface="Calibri"/>
              <a:cs typeface="Calibri"/>
              <a:sym typeface="Calibri"/>
            </a:endParaRPr>
          </a:p>
        </p:txBody>
      </p:sp>
      <p:sp>
        <p:nvSpPr>
          <p:cNvPr id="336" name="Google Shape;336;p25"/>
          <p:cNvSpPr/>
          <p:nvPr/>
        </p:nvSpPr>
        <p:spPr>
          <a:xfrm>
            <a:off x="5257800" y="1463040"/>
            <a:ext cx="3337560" cy="3200400"/>
          </a:xfrm>
          <a:prstGeom prst="roundRect">
            <a:avLst>
              <a:gd fmla="val 3429" name="adj"/>
            </a:avLst>
          </a:prstGeom>
          <a:solidFill>
            <a:srgbClr val="FBF6EE"/>
          </a:solidFill>
          <a:ln cap="flat" cmpd="sng" w="12700">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5"/>
          <p:cNvSpPr/>
          <p:nvPr/>
        </p:nvSpPr>
        <p:spPr>
          <a:xfrm>
            <a:off x="5440680" y="1627632"/>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C4D"/>
              </a:buClr>
              <a:buSzPts val="1050"/>
              <a:buFont typeface="Calibri"/>
              <a:buNone/>
            </a:pPr>
            <a:r>
              <a:rPr b="1" i="0" lang="en" sz="1050" u="none" cap="none" strike="noStrike">
                <a:solidFill>
                  <a:srgbClr val="2F5C4D"/>
                </a:solidFill>
                <a:latin typeface="Calibri"/>
                <a:ea typeface="Calibri"/>
                <a:cs typeface="Calibri"/>
                <a:sym typeface="Calibri"/>
              </a:rPr>
              <a:t>THE CLIMATE</a:t>
            </a:r>
            <a:endParaRPr b="0" i="0" sz="1050" u="none" cap="none" strike="noStrike">
              <a:solidFill>
                <a:schemeClr val="dk1"/>
              </a:solidFill>
              <a:latin typeface="Calibri"/>
              <a:ea typeface="Calibri"/>
              <a:cs typeface="Calibri"/>
              <a:sym typeface="Calibri"/>
            </a:endParaRPr>
          </a:p>
        </p:txBody>
      </p:sp>
      <p:sp>
        <p:nvSpPr>
          <p:cNvPr id="338" name="Google Shape;338;p25"/>
          <p:cNvSpPr/>
          <p:nvPr/>
        </p:nvSpPr>
        <p:spPr>
          <a:xfrm>
            <a:off x="5440680" y="1965960"/>
            <a:ext cx="2971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00"/>
              <a:buFont typeface="Calibri"/>
              <a:buNone/>
            </a:pPr>
            <a:r>
              <a:rPr b="1" i="0" lang="en" sz="1300" u="none" cap="none" strike="noStrike">
                <a:solidFill>
                  <a:srgbClr val="211B45"/>
                </a:solidFill>
                <a:latin typeface="Calibri"/>
                <a:ea typeface="Calibri"/>
                <a:cs typeface="Calibri"/>
                <a:sym typeface="Calibri"/>
              </a:rPr>
              <a:t>A stress epidemic</a:t>
            </a:r>
            <a:endParaRPr b="0" i="0" sz="1300" u="none" cap="none" strike="noStrike">
              <a:solidFill>
                <a:schemeClr val="dk1"/>
              </a:solidFill>
              <a:latin typeface="Calibri"/>
              <a:ea typeface="Calibri"/>
              <a:cs typeface="Calibri"/>
              <a:sym typeface="Calibri"/>
            </a:endParaRPr>
          </a:p>
        </p:txBody>
      </p:sp>
      <p:sp>
        <p:nvSpPr>
          <p:cNvPr id="339" name="Google Shape;339;p25"/>
          <p:cNvSpPr/>
          <p:nvPr/>
        </p:nvSpPr>
        <p:spPr>
          <a:xfrm>
            <a:off x="5440680" y="2258568"/>
            <a:ext cx="3017520" cy="5486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100"/>
              <a:buFont typeface="Calibri"/>
              <a:buNone/>
            </a:pPr>
            <a:r>
              <a:rPr b="0" i="0" lang="en" sz="1100" u="none" cap="none" strike="noStrike">
                <a:solidFill>
                  <a:srgbClr val="5C5680"/>
                </a:solidFill>
                <a:latin typeface="Calibri"/>
                <a:ea typeface="Calibri"/>
                <a:cs typeface="Calibri"/>
                <a:sym typeface="Calibri"/>
              </a:rPr>
              <a:t>more people than ever are seeking calm, sleep and meaning</a:t>
            </a:r>
            <a:endParaRPr b="0" i="0" sz="1100" u="none" cap="none" strike="noStrike">
              <a:solidFill>
                <a:schemeClr val="dk1"/>
              </a:solidFill>
              <a:latin typeface="Calibri"/>
              <a:ea typeface="Calibri"/>
              <a:cs typeface="Calibri"/>
              <a:sym typeface="Calibri"/>
            </a:endParaRPr>
          </a:p>
        </p:txBody>
      </p:sp>
      <p:sp>
        <p:nvSpPr>
          <p:cNvPr id="340" name="Google Shape;340;p25"/>
          <p:cNvSpPr/>
          <p:nvPr/>
        </p:nvSpPr>
        <p:spPr>
          <a:xfrm>
            <a:off x="5440680" y="2880360"/>
            <a:ext cx="2971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00"/>
              <a:buFont typeface="Calibri"/>
              <a:buNone/>
            </a:pPr>
            <a:r>
              <a:rPr b="1" i="0" lang="en" sz="1300" u="none" cap="none" strike="noStrike">
                <a:solidFill>
                  <a:srgbClr val="211B45"/>
                </a:solidFill>
                <a:latin typeface="Calibri"/>
                <a:ea typeface="Calibri"/>
                <a:cs typeface="Calibri"/>
                <a:sym typeface="Calibri"/>
              </a:rPr>
              <a:t>A guided-wellness market</a:t>
            </a:r>
            <a:endParaRPr b="0" i="0" sz="1300" u="none" cap="none" strike="noStrike">
              <a:solidFill>
                <a:schemeClr val="dk1"/>
              </a:solidFill>
              <a:latin typeface="Calibri"/>
              <a:ea typeface="Calibri"/>
              <a:cs typeface="Calibri"/>
              <a:sym typeface="Calibri"/>
            </a:endParaRPr>
          </a:p>
        </p:txBody>
      </p:sp>
      <p:sp>
        <p:nvSpPr>
          <p:cNvPr id="341" name="Google Shape;341;p25"/>
          <p:cNvSpPr/>
          <p:nvPr/>
        </p:nvSpPr>
        <p:spPr>
          <a:xfrm>
            <a:off x="5440680" y="3172968"/>
            <a:ext cx="3017520" cy="5486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100"/>
              <a:buFont typeface="Calibri"/>
              <a:buNone/>
            </a:pPr>
            <a:r>
              <a:rPr b="0" i="0" lang="en" sz="1100" u="none" cap="none" strike="noStrike">
                <a:solidFill>
                  <a:srgbClr val="5C5680"/>
                </a:solidFill>
                <a:latin typeface="Calibri"/>
                <a:ea typeface="Calibri"/>
                <a:cs typeface="Calibri"/>
                <a:sym typeface="Calibri"/>
              </a:rPr>
              <a:t>growing fast worldwide, and under-served in India</a:t>
            </a:r>
            <a:endParaRPr b="0" i="0" sz="1100" u="none" cap="none" strike="noStrike">
              <a:solidFill>
                <a:schemeClr val="dk1"/>
              </a:solidFill>
              <a:latin typeface="Calibri"/>
              <a:ea typeface="Calibri"/>
              <a:cs typeface="Calibri"/>
              <a:sym typeface="Calibri"/>
            </a:endParaRPr>
          </a:p>
        </p:txBody>
      </p:sp>
      <p:sp>
        <p:nvSpPr>
          <p:cNvPr id="342" name="Google Shape;342;p25"/>
          <p:cNvSpPr/>
          <p:nvPr/>
        </p:nvSpPr>
        <p:spPr>
          <a:xfrm>
            <a:off x="5440680" y="3794760"/>
            <a:ext cx="2971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00"/>
              <a:buFont typeface="Calibri"/>
              <a:buNone/>
            </a:pPr>
            <a:r>
              <a:rPr b="1" i="0" lang="en" sz="1300" u="none" cap="none" strike="noStrike">
                <a:solidFill>
                  <a:srgbClr val="211B45"/>
                </a:solidFill>
                <a:latin typeface="Calibri"/>
                <a:ea typeface="Calibri"/>
                <a:cs typeface="Calibri"/>
                <a:sym typeface="Calibri"/>
              </a:rPr>
              <a:t>AOL’s unfair hand</a:t>
            </a:r>
            <a:endParaRPr b="0" i="0" sz="1300" u="none" cap="none" strike="noStrike">
              <a:solidFill>
                <a:schemeClr val="dk1"/>
              </a:solidFill>
              <a:latin typeface="Calibri"/>
              <a:ea typeface="Calibri"/>
              <a:cs typeface="Calibri"/>
              <a:sym typeface="Calibri"/>
            </a:endParaRPr>
          </a:p>
        </p:txBody>
      </p:sp>
      <p:sp>
        <p:nvSpPr>
          <p:cNvPr id="343" name="Google Shape;343;p25"/>
          <p:cNvSpPr/>
          <p:nvPr/>
        </p:nvSpPr>
        <p:spPr>
          <a:xfrm>
            <a:off x="5440680" y="4087368"/>
            <a:ext cx="3017520" cy="5486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100"/>
              <a:buFont typeface="Calibri"/>
              <a:buNone/>
            </a:pPr>
            <a:r>
              <a:rPr b="0" i="0" lang="en" sz="1100" u="none" cap="none" strike="noStrike">
                <a:solidFill>
                  <a:srgbClr val="5C5680"/>
                </a:solidFill>
                <a:latin typeface="Calibri"/>
                <a:ea typeface="Calibri"/>
                <a:cs typeface="Calibri"/>
                <a:sym typeface="Calibri"/>
              </a:rPr>
              <a:t>1M+ graduates · the SKY breath · a global Sangha · Gurudev’s wisdom</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8" name="Shape 348"/>
        <p:cNvGrpSpPr/>
        <p:nvPr/>
      </p:nvGrpSpPr>
      <p:grpSpPr>
        <a:xfrm>
          <a:off x="0" y="0"/>
          <a:ext cx="0" cy="0"/>
          <a:chOff x="0" y="0"/>
          <a:chExt cx="0" cy="0"/>
        </a:xfrm>
      </p:grpSpPr>
      <p:sp>
        <p:nvSpPr>
          <p:cNvPr id="349" name="Google Shape;349;p26"/>
          <p:cNvSpPr/>
          <p:nvPr/>
        </p:nvSpPr>
        <p:spPr>
          <a:xfrm>
            <a:off x="548640" y="36576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PRIORITIES</a:t>
            </a:r>
            <a:endParaRPr b="0" i="0" sz="1100" u="none" cap="none" strike="noStrike">
              <a:solidFill>
                <a:schemeClr val="dk1"/>
              </a:solidFill>
              <a:latin typeface="Calibri"/>
              <a:ea typeface="Calibri"/>
              <a:cs typeface="Calibri"/>
              <a:sym typeface="Calibri"/>
            </a:endParaRPr>
          </a:p>
        </p:txBody>
      </p:sp>
      <p:sp>
        <p:nvSpPr>
          <p:cNvPr id="350" name="Google Shape;350;p26"/>
          <p:cNvSpPr/>
          <p:nvPr/>
        </p:nvSpPr>
        <p:spPr>
          <a:xfrm>
            <a:off x="512064" y="65836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900"/>
              <a:buFont typeface="Cambria"/>
              <a:buNone/>
            </a:pPr>
            <a:r>
              <a:rPr b="1" i="0" lang="en" sz="2900" u="none" cap="none" strike="noStrike">
                <a:solidFill>
                  <a:srgbClr val="211B45"/>
                </a:solidFill>
                <a:latin typeface="Cambria"/>
                <a:ea typeface="Cambria"/>
                <a:cs typeface="Cambria"/>
                <a:sym typeface="Cambria"/>
              </a:rPr>
              <a:t>Value vs effort</a:t>
            </a:r>
            <a:endParaRPr b="0" i="0" sz="2900" u="none" cap="none" strike="noStrike">
              <a:solidFill>
                <a:schemeClr val="dk1"/>
              </a:solidFill>
              <a:latin typeface="Calibri"/>
              <a:ea typeface="Calibri"/>
              <a:cs typeface="Calibri"/>
              <a:sym typeface="Calibri"/>
            </a:endParaRPr>
          </a:p>
        </p:txBody>
      </p:sp>
      <p:sp>
        <p:nvSpPr>
          <p:cNvPr id="351" name="Google Shape;351;p26"/>
          <p:cNvSpPr/>
          <p:nvPr/>
        </p:nvSpPr>
        <p:spPr>
          <a:xfrm>
            <a:off x="1554480" y="1417320"/>
            <a:ext cx="6400800" cy="3200400"/>
          </a:xfrm>
          <a:prstGeom prst="rect">
            <a:avLst/>
          </a:prstGeom>
          <a:solidFill>
            <a:srgbClr val="FBF6EE"/>
          </a:solidFill>
          <a:ln cap="flat" cmpd="sng" w="12700">
            <a:solidFill>
              <a:srgbClr val="E6E1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2" name="Google Shape;352;p26"/>
          <p:cNvCxnSpPr/>
          <p:nvPr/>
        </p:nvCxnSpPr>
        <p:spPr>
          <a:xfrm>
            <a:off x="4754880" y="1417320"/>
            <a:ext cx="0" cy="3200400"/>
          </a:xfrm>
          <a:prstGeom prst="straightConnector1">
            <a:avLst/>
          </a:prstGeom>
          <a:noFill/>
          <a:ln cap="flat" cmpd="sng" w="12700">
            <a:solidFill>
              <a:srgbClr val="938FAD"/>
            </a:solidFill>
            <a:prstDash val="dash"/>
            <a:round/>
            <a:headEnd len="sm" w="sm" type="none"/>
            <a:tailEnd len="sm" w="sm" type="none"/>
          </a:ln>
        </p:spPr>
      </p:cxnSp>
      <p:cxnSp>
        <p:nvCxnSpPr>
          <p:cNvPr id="353" name="Google Shape;353;p26"/>
          <p:cNvCxnSpPr/>
          <p:nvPr/>
        </p:nvCxnSpPr>
        <p:spPr>
          <a:xfrm>
            <a:off x="1554480" y="3017520"/>
            <a:ext cx="6400800" cy="0"/>
          </a:xfrm>
          <a:prstGeom prst="straightConnector1">
            <a:avLst/>
          </a:prstGeom>
          <a:noFill/>
          <a:ln cap="flat" cmpd="sng" w="12700">
            <a:solidFill>
              <a:srgbClr val="938FAD"/>
            </a:solidFill>
            <a:prstDash val="dash"/>
            <a:round/>
            <a:headEnd len="sm" w="sm" type="none"/>
            <a:tailEnd len="sm" w="sm" type="none"/>
          </a:ln>
        </p:spPr>
      </p:cxnSp>
      <p:sp>
        <p:nvSpPr>
          <p:cNvPr id="354" name="Google Shape;354;p26"/>
          <p:cNvSpPr/>
          <p:nvPr/>
        </p:nvSpPr>
        <p:spPr>
          <a:xfrm>
            <a:off x="1554480" y="1161288"/>
            <a:ext cx="64008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8FAD"/>
              </a:buClr>
              <a:buSzPts val="1000"/>
              <a:buFont typeface="Calibri"/>
              <a:buNone/>
            </a:pPr>
            <a:r>
              <a:rPr b="1" i="0" lang="en" sz="1000" u="none" cap="none" strike="noStrike">
                <a:solidFill>
                  <a:srgbClr val="938FAD"/>
                </a:solidFill>
                <a:latin typeface="Calibri"/>
                <a:ea typeface="Calibri"/>
                <a:cs typeface="Calibri"/>
                <a:sym typeface="Calibri"/>
              </a:rPr>
              <a:t>HIGH VALUE</a:t>
            </a:r>
            <a:endParaRPr b="0" i="0" sz="1000" u="none" cap="none" strike="noStrike">
              <a:solidFill>
                <a:schemeClr val="dk1"/>
              </a:solidFill>
              <a:latin typeface="Calibri"/>
              <a:ea typeface="Calibri"/>
              <a:cs typeface="Calibri"/>
              <a:sym typeface="Calibri"/>
            </a:endParaRPr>
          </a:p>
        </p:txBody>
      </p:sp>
      <p:sp>
        <p:nvSpPr>
          <p:cNvPr id="355" name="Google Shape;355;p26"/>
          <p:cNvSpPr/>
          <p:nvPr/>
        </p:nvSpPr>
        <p:spPr>
          <a:xfrm>
            <a:off x="1554480" y="4654296"/>
            <a:ext cx="64008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8FAD"/>
              </a:buClr>
              <a:buSzPts val="1000"/>
              <a:buFont typeface="Calibri"/>
              <a:buNone/>
            </a:pPr>
            <a:r>
              <a:rPr b="1" i="0" lang="en" sz="1000" u="none" cap="none" strike="noStrike">
                <a:solidFill>
                  <a:srgbClr val="938FAD"/>
                </a:solidFill>
                <a:latin typeface="Calibri"/>
                <a:ea typeface="Calibri"/>
                <a:cs typeface="Calibri"/>
                <a:sym typeface="Calibri"/>
              </a:rPr>
              <a:t>LOWER VALUE</a:t>
            </a:r>
            <a:endParaRPr b="0" i="0" sz="1000" u="none" cap="none" strike="noStrike">
              <a:solidFill>
                <a:schemeClr val="dk1"/>
              </a:solidFill>
              <a:latin typeface="Calibri"/>
              <a:ea typeface="Calibri"/>
              <a:cs typeface="Calibri"/>
              <a:sym typeface="Calibri"/>
            </a:endParaRPr>
          </a:p>
        </p:txBody>
      </p:sp>
      <p:sp>
        <p:nvSpPr>
          <p:cNvPr id="356" name="Google Shape;356;p26"/>
          <p:cNvSpPr/>
          <p:nvPr/>
        </p:nvSpPr>
        <p:spPr>
          <a:xfrm>
            <a:off x="228600" y="2907792"/>
            <a:ext cx="12801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8FAD"/>
              </a:buClr>
              <a:buSzPts val="1000"/>
              <a:buFont typeface="Calibri"/>
              <a:buNone/>
            </a:pPr>
            <a:r>
              <a:rPr b="1" i="0" lang="en" sz="1000" u="none" cap="none" strike="noStrike">
                <a:solidFill>
                  <a:srgbClr val="938FAD"/>
                </a:solidFill>
                <a:latin typeface="Calibri"/>
                <a:ea typeface="Calibri"/>
                <a:cs typeface="Calibri"/>
                <a:sym typeface="Calibri"/>
              </a:rPr>
              <a:t>LOW EFFORT</a:t>
            </a:r>
            <a:endParaRPr b="0" i="0" sz="1000" u="none" cap="none" strike="noStrike">
              <a:solidFill>
                <a:schemeClr val="dk1"/>
              </a:solidFill>
              <a:latin typeface="Calibri"/>
              <a:ea typeface="Calibri"/>
              <a:cs typeface="Calibri"/>
              <a:sym typeface="Calibri"/>
            </a:endParaRPr>
          </a:p>
        </p:txBody>
      </p:sp>
      <p:sp>
        <p:nvSpPr>
          <p:cNvPr id="357" name="Google Shape;357;p26"/>
          <p:cNvSpPr/>
          <p:nvPr/>
        </p:nvSpPr>
        <p:spPr>
          <a:xfrm>
            <a:off x="8001000" y="2907792"/>
            <a:ext cx="12801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8FAD"/>
              </a:buClr>
              <a:buSzPts val="1000"/>
              <a:buFont typeface="Calibri"/>
              <a:buNone/>
            </a:pPr>
            <a:r>
              <a:rPr b="1" i="0" lang="en" sz="1000" u="none" cap="none" strike="noStrike">
                <a:solidFill>
                  <a:srgbClr val="938FAD"/>
                </a:solidFill>
                <a:latin typeface="Calibri"/>
                <a:ea typeface="Calibri"/>
                <a:cs typeface="Calibri"/>
                <a:sym typeface="Calibri"/>
              </a:rPr>
              <a:t>HIGH EFFORT</a:t>
            </a:r>
            <a:endParaRPr b="0" i="0" sz="1000" u="none" cap="none" strike="noStrike">
              <a:solidFill>
                <a:schemeClr val="dk1"/>
              </a:solidFill>
              <a:latin typeface="Calibri"/>
              <a:ea typeface="Calibri"/>
              <a:cs typeface="Calibri"/>
              <a:sym typeface="Calibri"/>
            </a:endParaRPr>
          </a:p>
        </p:txBody>
      </p:sp>
      <p:sp>
        <p:nvSpPr>
          <p:cNvPr id="358" name="Google Shape;358;p26"/>
          <p:cNvSpPr/>
          <p:nvPr/>
        </p:nvSpPr>
        <p:spPr>
          <a:xfrm>
            <a:off x="1874520" y="1783080"/>
            <a:ext cx="1417320" cy="384048"/>
          </a:xfrm>
          <a:prstGeom prst="roundRect">
            <a:avLst>
              <a:gd fmla="val 19048" name="adj"/>
            </a:avLst>
          </a:prstGeom>
          <a:solidFill>
            <a:srgbClr val="E07B2E"/>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6"/>
          <p:cNvSpPr/>
          <p:nvPr/>
        </p:nvSpPr>
        <p:spPr>
          <a:xfrm>
            <a:off x="1920240" y="1783080"/>
            <a:ext cx="13258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 sz="950" u="none" cap="none" strike="noStrike">
                <a:solidFill>
                  <a:srgbClr val="FFFFFF"/>
                </a:solidFill>
                <a:latin typeface="Calibri"/>
                <a:ea typeface="Calibri"/>
                <a:cs typeface="Calibri"/>
                <a:sym typeface="Calibri"/>
              </a:rPr>
              <a:t>Today + Sahaj</a:t>
            </a:r>
            <a:endParaRPr b="0" i="0" sz="950" u="none" cap="none" strike="noStrike">
              <a:solidFill>
                <a:schemeClr val="dk1"/>
              </a:solidFill>
              <a:latin typeface="Calibri"/>
              <a:ea typeface="Calibri"/>
              <a:cs typeface="Calibri"/>
              <a:sym typeface="Calibri"/>
            </a:endParaRPr>
          </a:p>
        </p:txBody>
      </p:sp>
      <p:sp>
        <p:nvSpPr>
          <p:cNvPr id="360" name="Google Shape;360;p26"/>
          <p:cNvSpPr/>
          <p:nvPr/>
        </p:nvSpPr>
        <p:spPr>
          <a:xfrm>
            <a:off x="2926080" y="2331720"/>
            <a:ext cx="1417320" cy="384048"/>
          </a:xfrm>
          <a:prstGeom prst="roundRect">
            <a:avLst>
              <a:gd fmla="val 19048" name="adj"/>
            </a:avLst>
          </a:prstGeom>
          <a:solidFill>
            <a:srgbClr val="E07B2E"/>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6"/>
          <p:cNvSpPr/>
          <p:nvPr/>
        </p:nvSpPr>
        <p:spPr>
          <a:xfrm>
            <a:off x="2971800" y="2331720"/>
            <a:ext cx="13258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 sz="950" u="none" cap="none" strike="noStrike">
                <a:solidFill>
                  <a:srgbClr val="FFFFFF"/>
                </a:solidFill>
                <a:latin typeface="Calibri"/>
                <a:ea typeface="Calibri"/>
                <a:cs typeface="Calibri"/>
                <a:sym typeface="Calibri"/>
              </a:rPr>
              <a:t>Daily wisdom</a:t>
            </a:r>
            <a:endParaRPr b="0" i="0" sz="950" u="none" cap="none" strike="noStrike">
              <a:solidFill>
                <a:schemeClr val="dk1"/>
              </a:solidFill>
              <a:latin typeface="Calibri"/>
              <a:ea typeface="Calibri"/>
              <a:cs typeface="Calibri"/>
              <a:sym typeface="Calibri"/>
            </a:endParaRPr>
          </a:p>
        </p:txBody>
      </p:sp>
      <p:sp>
        <p:nvSpPr>
          <p:cNvPr id="362" name="Google Shape;362;p26"/>
          <p:cNvSpPr/>
          <p:nvPr/>
        </p:nvSpPr>
        <p:spPr>
          <a:xfrm>
            <a:off x="2011680" y="2651760"/>
            <a:ext cx="1417320" cy="384048"/>
          </a:xfrm>
          <a:prstGeom prst="roundRect">
            <a:avLst>
              <a:gd fmla="val 19048" name="adj"/>
            </a:avLst>
          </a:prstGeom>
          <a:solidFill>
            <a:srgbClr val="A8530F"/>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6"/>
          <p:cNvSpPr/>
          <p:nvPr/>
        </p:nvSpPr>
        <p:spPr>
          <a:xfrm>
            <a:off x="2057400" y="2651760"/>
            <a:ext cx="13258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 sz="950" u="none" cap="none" strike="noStrike">
                <a:solidFill>
                  <a:srgbClr val="FFFFFF"/>
                </a:solidFill>
                <a:latin typeface="Calibri"/>
                <a:ea typeface="Calibri"/>
                <a:cs typeface="Calibri"/>
                <a:sym typeface="Calibri"/>
              </a:rPr>
              <a:t>SKY breath</a:t>
            </a:r>
            <a:endParaRPr b="0" i="0" sz="950" u="none" cap="none" strike="noStrike">
              <a:solidFill>
                <a:schemeClr val="dk1"/>
              </a:solidFill>
              <a:latin typeface="Calibri"/>
              <a:ea typeface="Calibri"/>
              <a:cs typeface="Calibri"/>
              <a:sym typeface="Calibri"/>
            </a:endParaRPr>
          </a:p>
        </p:txBody>
      </p:sp>
      <p:sp>
        <p:nvSpPr>
          <p:cNvPr id="364" name="Google Shape;364;p26"/>
          <p:cNvSpPr/>
          <p:nvPr/>
        </p:nvSpPr>
        <p:spPr>
          <a:xfrm>
            <a:off x="5029200" y="1828800"/>
            <a:ext cx="1417320" cy="384048"/>
          </a:xfrm>
          <a:prstGeom prst="roundRect">
            <a:avLst>
              <a:gd fmla="val 19048" name="adj"/>
            </a:avLst>
          </a:prstGeom>
          <a:solidFill>
            <a:srgbClr val="4F8A77"/>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6"/>
          <p:cNvSpPr/>
          <p:nvPr/>
        </p:nvSpPr>
        <p:spPr>
          <a:xfrm>
            <a:off x="5074920" y="1828800"/>
            <a:ext cx="13258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 sz="950" u="none" cap="none" strike="noStrike">
                <a:solidFill>
                  <a:srgbClr val="FFFFFF"/>
                </a:solidFill>
                <a:latin typeface="Calibri"/>
                <a:ea typeface="Calibri"/>
                <a:cs typeface="Calibri"/>
                <a:sym typeface="Calibri"/>
              </a:rPr>
              <a:t>Live &amp; Sangha</a:t>
            </a:r>
            <a:endParaRPr b="0" i="0" sz="950" u="none" cap="none" strike="noStrike">
              <a:solidFill>
                <a:schemeClr val="dk1"/>
              </a:solidFill>
              <a:latin typeface="Calibri"/>
              <a:ea typeface="Calibri"/>
              <a:cs typeface="Calibri"/>
              <a:sym typeface="Calibri"/>
            </a:endParaRPr>
          </a:p>
        </p:txBody>
      </p:sp>
      <p:sp>
        <p:nvSpPr>
          <p:cNvPr id="366" name="Google Shape;366;p26"/>
          <p:cNvSpPr/>
          <p:nvPr/>
        </p:nvSpPr>
        <p:spPr>
          <a:xfrm>
            <a:off x="6217920" y="2286000"/>
            <a:ext cx="1417320" cy="384048"/>
          </a:xfrm>
          <a:prstGeom prst="roundRect">
            <a:avLst>
              <a:gd fmla="val 19048" name="adj"/>
            </a:avLst>
          </a:prstGeom>
          <a:solidFill>
            <a:srgbClr val="4F8A77"/>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6"/>
          <p:cNvSpPr/>
          <p:nvPr/>
        </p:nvSpPr>
        <p:spPr>
          <a:xfrm>
            <a:off x="6263640" y="2286000"/>
            <a:ext cx="13258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 sz="950" u="none" cap="none" strike="noStrike">
                <a:solidFill>
                  <a:srgbClr val="FFFFFF"/>
                </a:solidFill>
                <a:latin typeface="Calibri"/>
                <a:ea typeface="Calibri"/>
                <a:cs typeface="Calibri"/>
                <a:sym typeface="Calibri"/>
              </a:rPr>
              <a:t>Full library</a:t>
            </a:r>
            <a:endParaRPr b="0" i="0" sz="950" u="none" cap="none" strike="noStrike">
              <a:solidFill>
                <a:schemeClr val="dk1"/>
              </a:solidFill>
              <a:latin typeface="Calibri"/>
              <a:ea typeface="Calibri"/>
              <a:cs typeface="Calibri"/>
              <a:sym typeface="Calibri"/>
            </a:endParaRPr>
          </a:p>
        </p:txBody>
      </p:sp>
      <p:sp>
        <p:nvSpPr>
          <p:cNvPr id="368" name="Google Shape;368;p26"/>
          <p:cNvSpPr/>
          <p:nvPr/>
        </p:nvSpPr>
        <p:spPr>
          <a:xfrm>
            <a:off x="5394960" y="2743200"/>
            <a:ext cx="1417320" cy="384048"/>
          </a:xfrm>
          <a:prstGeom prst="roundRect">
            <a:avLst>
              <a:gd fmla="val 19048" name="adj"/>
            </a:avLst>
          </a:prstGeom>
          <a:solidFill>
            <a:srgbClr val="2F5C4D"/>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6"/>
          <p:cNvSpPr/>
          <p:nvPr/>
        </p:nvSpPr>
        <p:spPr>
          <a:xfrm>
            <a:off x="5440680" y="2743200"/>
            <a:ext cx="13258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 sz="950" u="none" cap="none" strike="noStrike">
                <a:solidFill>
                  <a:srgbClr val="FFFFFF"/>
                </a:solidFill>
                <a:latin typeface="Calibri"/>
                <a:ea typeface="Calibri"/>
                <a:cs typeface="Calibri"/>
                <a:sym typeface="Calibri"/>
              </a:rPr>
              <a:t>Course integration</a:t>
            </a:r>
            <a:endParaRPr b="0" i="0" sz="950" u="none" cap="none" strike="noStrike">
              <a:solidFill>
                <a:schemeClr val="dk1"/>
              </a:solidFill>
              <a:latin typeface="Calibri"/>
              <a:ea typeface="Calibri"/>
              <a:cs typeface="Calibri"/>
              <a:sym typeface="Calibri"/>
            </a:endParaRPr>
          </a:p>
        </p:txBody>
      </p:sp>
      <p:sp>
        <p:nvSpPr>
          <p:cNvPr id="370" name="Google Shape;370;p26"/>
          <p:cNvSpPr/>
          <p:nvPr/>
        </p:nvSpPr>
        <p:spPr>
          <a:xfrm>
            <a:off x="2103120" y="3474720"/>
            <a:ext cx="1417320" cy="384048"/>
          </a:xfrm>
          <a:prstGeom prst="roundRect">
            <a:avLst>
              <a:gd fmla="val 19048" name="adj"/>
            </a:avLst>
          </a:prstGeom>
          <a:solidFill>
            <a:srgbClr val="4A3F8A"/>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6"/>
          <p:cNvSpPr/>
          <p:nvPr/>
        </p:nvSpPr>
        <p:spPr>
          <a:xfrm>
            <a:off x="2148840" y="3474720"/>
            <a:ext cx="13258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 sz="950" u="none" cap="none" strike="noStrike">
                <a:solidFill>
                  <a:srgbClr val="FFFFFF"/>
                </a:solidFill>
                <a:latin typeface="Calibri"/>
                <a:ea typeface="Calibri"/>
                <a:cs typeface="Calibri"/>
                <a:sym typeface="Calibri"/>
              </a:rPr>
              <a:t>Mood &amp; notes</a:t>
            </a:r>
            <a:endParaRPr b="0" i="0" sz="950" u="none" cap="none" strike="noStrike">
              <a:solidFill>
                <a:schemeClr val="dk1"/>
              </a:solidFill>
              <a:latin typeface="Calibri"/>
              <a:ea typeface="Calibri"/>
              <a:cs typeface="Calibri"/>
              <a:sym typeface="Calibri"/>
            </a:endParaRPr>
          </a:p>
        </p:txBody>
      </p:sp>
      <p:sp>
        <p:nvSpPr>
          <p:cNvPr id="372" name="Google Shape;372;p26"/>
          <p:cNvSpPr/>
          <p:nvPr/>
        </p:nvSpPr>
        <p:spPr>
          <a:xfrm>
            <a:off x="3017520" y="4023360"/>
            <a:ext cx="1417320" cy="384048"/>
          </a:xfrm>
          <a:prstGeom prst="roundRect">
            <a:avLst>
              <a:gd fmla="val 19048" name="adj"/>
            </a:avLst>
          </a:prstGeom>
          <a:solidFill>
            <a:srgbClr val="4A3F8A"/>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6"/>
          <p:cNvSpPr/>
          <p:nvPr/>
        </p:nvSpPr>
        <p:spPr>
          <a:xfrm>
            <a:off x="3063240" y="4023360"/>
            <a:ext cx="13258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 sz="950" u="none" cap="none" strike="noStrike">
                <a:solidFill>
                  <a:srgbClr val="FFFFFF"/>
                </a:solidFill>
                <a:latin typeface="Calibri"/>
                <a:ea typeface="Calibri"/>
                <a:cs typeface="Calibri"/>
                <a:sym typeface="Calibri"/>
              </a:rPr>
              <a:t>Report card</a:t>
            </a:r>
            <a:endParaRPr b="0" i="0" sz="950" u="none" cap="none" strike="noStrike">
              <a:solidFill>
                <a:schemeClr val="dk1"/>
              </a:solidFill>
              <a:latin typeface="Calibri"/>
              <a:ea typeface="Calibri"/>
              <a:cs typeface="Calibri"/>
              <a:sym typeface="Calibri"/>
            </a:endParaRPr>
          </a:p>
        </p:txBody>
      </p:sp>
      <p:sp>
        <p:nvSpPr>
          <p:cNvPr id="374" name="Google Shape;374;p26"/>
          <p:cNvSpPr/>
          <p:nvPr/>
        </p:nvSpPr>
        <p:spPr>
          <a:xfrm>
            <a:off x="5577840" y="3657600"/>
            <a:ext cx="1417320" cy="384048"/>
          </a:xfrm>
          <a:prstGeom prst="roundRect">
            <a:avLst>
              <a:gd fmla="val 19048" name="adj"/>
            </a:avLst>
          </a:prstGeom>
          <a:solidFill>
            <a:srgbClr val="938FAD"/>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6"/>
          <p:cNvSpPr/>
          <p:nvPr/>
        </p:nvSpPr>
        <p:spPr>
          <a:xfrm>
            <a:off x="5623560" y="3657600"/>
            <a:ext cx="13258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 sz="950" u="none" cap="none" strike="noStrike">
                <a:solidFill>
                  <a:srgbClr val="FFFFFF"/>
                </a:solidFill>
                <a:latin typeface="Calibri"/>
                <a:ea typeface="Calibri"/>
                <a:cs typeface="Calibri"/>
                <a:sym typeface="Calibri"/>
              </a:rPr>
              <a:t>Store</a:t>
            </a:r>
            <a:endParaRPr b="0" i="0" sz="950" u="none" cap="none" strike="noStrike">
              <a:solidFill>
                <a:schemeClr val="dk1"/>
              </a:solidFill>
              <a:latin typeface="Calibri"/>
              <a:ea typeface="Calibri"/>
              <a:cs typeface="Calibri"/>
              <a:sym typeface="Calibri"/>
            </a:endParaRPr>
          </a:p>
        </p:txBody>
      </p:sp>
      <p:sp>
        <p:nvSpPr>
          <p:cNvPr id="376" name="Google Shape;376;p26"/>
          <p:cNvSpPr/>
          <p:nvPr/>
        </p:nvSpPr>
        <p:spPr>
          <a:xfrm>
            <a:off x="6309360" y="4206240"/>
            <a:ext cx="1417320" cy="384048"/>
          </a:xfrm>
          <a:prstGeom prst="roundRect">
            <a:avLst>
              <a:gd fmla="val 19048" name="adj"/>
            </a:avLst>
          </a:prstGeom>
          <a:solidFill>
            <a:srgbClr val="938FAD"/>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6"/>
          <p:cNvSpPr/>
          <p:nvPr/>
        </p:nvSpPr>
        <p:spPr>
          <a:xfrm>
            <a:off x="6355080" y="4206240"/>
            <a:ext cx="13258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 sz="950" u="none" cap="none" strike="noStrike">
                <a:solidFill>
                  <a:srgbClr val="FFFFFF"/>
                </a:solidFill>
                <a:latin typeface="Calibri"/>
                <a:ea typeface="Calibri"/>
                <a:cs typeface="Calibri"/>
                <a:sym typeface="Calibri"/>
              </a:rPr>
              <a:t>Deep gamification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B45"/>
        </a:solidFill>
      </p:bgPr>
    </p:bg>
    <p:spTree>
      <p:nvGrpSpPr>
        <p:cNvPr id="382" name="Shape 382"/>
        <p:cNvGrpSpPr/>
        <p:nvPr/>
      </p:nvGrpSpPr>
      <p:grpSpPr>
        <a:xfrm>
          <a:off x="0" y="0"/>
          <a:ext cx="0" cy="0"/>
          <a:chOff x="0" y="0"/>
          <a:chExt cx="0" cy="0"/>
        </a:xfrm>
      </p:grpSpPr>
      <p:sp>
        <p:nvSpPr>
          <p:cNvPr id="383" name="Google Shape;383;p27"/>
          <p:cNvSpPr/>
          <p:nvPr/>
        </p:nvSpPr>
        <p:spPr>
          <a:xfrm>
            <a:off x="-1463040" y="3108960"/>
            <a:ext cx="4114800" cy="4114800"/>
          </a:xfrm>
          <a:prstGeom prst="ellipse">
            <a:avLst/>
          </a:prstGeom>
          <a:solidFill>
            <a:srgbClr val="2B25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7"/>
          <p:cNvSpPr/>
          <p:nvPr/>
        </p:nvSpPr>
        <p:spPr>
          <a:xfrm>
            <a:off x="640080" y="45720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A94B"/>
              </a:buClr>
              <a:buSzPts val="1100"/>
              <a:buFont typeface="Calibri"/>
              <a:buNone/>
            </a:pPr>
            <a:r>
              <a:rPr b="1" i="0" lang="en" sz="1100" u="none" cap="none" strike="noStrike">
                <a:solidFill>
                  <a:srgbClr val="E0A94B"/>
                </a:solidFill>
                <a:latin typeface="Calibri"/>
                <a:ea typeface="Calibri"/>
                <a:cs typeface="Calibri"/>
                <a:sym typeface="Calibri"/>
              </a:rPr>
              <a:t>THE ROADMAP</a:t>
            </a:r>
            <a:endParaRPr b="0" i="0" sz="1100" u="none" cap="none" strike="noStrike">
              <a:solidFill>
                <a:schemeClr val="dk1"/>
              </a:solidFill>
              <a:latin typeface="Calibri"/>
              <a:ea typeface="Calibri"/>
              <a:cs typeface="Calibri"/>
              <a:sym typeface="Calibri"/>
            </a:endParaRPr>
          </a:p>
        </p:txBody>
      </p:sp>
      <p:sp>
        <p:nvSpPr>
          <p:cNvPr id="385" name="Google Shape;385;p27"/>
          <p:cNvSpPr/>
          <p:nvPr/>
        </p:nvSpPr>
        <p:spPr>
          <a:xfrm>
            <a:off x="603504" y="749808"/>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Cambria"/>
              <a:buNone/>
            </a:pPr>
            <a:r>
              <a:rPr b="1" i="0" lang="en" sz="2900" u="none" cap="none" strike="noStrike">
                <a:solidFill>
                  <a:srgbClr val="FFFFFF"/>
                </a:solidFill>
                <a:latin typeface="Cambria"/>
                <a:ea typeface="Cambria"/>
                <a:cs typeface="Cambria"/>
                <a:sym typeface="Cambria"/>
              </a:rPr>
              <a:t>Three phases. One direction.</a:t>
            </a:r>
            <a:endParaRPr b="0" i="0" sz="2900" u="none" cap="none" strike="noStrike">
              <a:solidFill>
                <a:schemeClr val="dk1"/>
              </a:solidFill>
              <a:latin typeface="Calibri"/>
              <a:ea typeface="Calibri"/>
              <a:cs typeface="Calibri"/>
              <a:sym typeface="Calibri"/>
            </a:endParaRPr>
          </a:p>
        </p:txBody>
      </p:sp>
      <p:sp>
        <p:nvSpPr>
          <p:cNvPr id="386" name="Google Shape;386;p27"/>
          <p:cNvSpPr/>
          <p:nvPr/>
        </p:nvSpPr>
        <p:spPr>
          <a:xfrm>
            <a:off x="603504" y="1600200"/>
            <a:ext cx="2615184" cy="3154680"/>
          </a:xfrm>
          <a:prstGeom prst="roundRect">
            <a:avLst>
              <a:gd fmla="val 4196" name="adj"/>
            </a:avLst>
          </a:prstGeom>
          <a:solidFill>
            <a:srgbClr val="2B2552"/>
          </a:solidFill>
          <a:ln cap="flat" cmpd="sng" w="12700">
            <a:solidFill>
              <a:srgbClr val="3A3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7"/>
          <p:cNvSpPr/>
          <p:nvPr/>
        </p:nvSpPr>
        <p:spPr>
          <a:xfrm>
            <a:off x="804672" y="1810512"/>
            <a:ext cx="274320" cy="274320"/>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7"/>
          <p:cNvSpPr/>
          <p:nvPr/>
        </p:nvSpPr>
        <p:spPr>
          <a:xfrm>
            <a:off x="1152144" y="1801368"/>
            <a:ext cx="19751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7B2E"/>
              </a:buClr>
              <a:buSzPts val="1100"/>
              <a:buFont typeface="Calibri"/>
              <a:buNone/>
            </a:pPr>
            <a:r>
              <a:rPr b="1" i="0" lang="en" sz="1100" u="none" cap="none" strike="noStrike">
                <a:solidFill>
                  <a:srgbClr val="E07B2E"/>
                </a:solidFill>
                <a:latin typeface="Calibri"/>
                <a:ea typeface="Calibri"/>
                <a:cs typeface="Calibri"/>
                <a:sym typeface="Calibri"/>
              </a:rPr>
              <a:t>PHASE 1</a:t>
            </a:r>
            <a:endParaRPr b="0" i="0" sz="1100" u="none" cap="none" strike="noStrike">
              <a:solidFill>
                <a:schemeClr val="dk1"/>
              </a:solidFill>
              <a:latin typeface="Calibri"/>
              <a:ea typeface="Calibri"/>
              <a:cs typeface="Calibri"/>
              <a:sym typeface="Calibri"/>
            </a:endParaRPr>
          </a:p>
        </p:txBody>
      </p:sp>
      <p:sp>
        <p:nvSpPr>
          <p:cNvPr id="389" name="Google Shape;389;p27"/>
          <p:cNvSpPr/>
          <p:nvPr/>
        </p:nvSpPr>
        <p:spPr>
          <a:xfrm>
            <a:off x="804672" y="2212848"/>
            <a:ext cx="2249424"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mbria"/>
              <a:buNone/>
            </a:pPr>
            <a:r>
              <a:rPr b="1" i="0" lang="en" sz="1800" u="none" cap="none" strike="noStrike">
                <a:solidFill>
                  <a:srgbClr val="FFFFFF"/>
                </a:solidFill>
                <a:latin typeface="Cambria"/>
                <a:ea typeface="Cambria"/>
                <a:cs typeface="Cambria"/>
                <a:sym typeface="Cambria"/>
              </a:rPr>
              <a:t>Earn the habit</a:t>
            </a:r>
            <a:endParaRPr b="0" i="0" sz="1800" u="none" cap="none" strike="noStrike">
              <a:solidFill>
                <a:schemeClr val="dk1"/>
              </a:solidFill>
              <a:latin typeface="Calibri"/>
              <a:ea typeface="Calibri"/>
              <a:cs typeface="Calibri"/>
              <a:sym typeface="Calibri"/>
            </a:endParaRPr>
          </a:p>
        </p:txBody>
      </p:sp>
      <p:sp>
        <p:nvSpPr>
          <p:cNvPr id="390" name="Google Shape;390;p27"/>
          <p:cNvSpPr/>
          <p:nvPr/>
        </p:nvSpPr>
        <p:spPr>
          <a:xfrm>
            <a:off x="804672" y="2743200"/>
            <a:ext cx="2157984" cy="329184"/>
          </a:xfrm>
          <a:prstGeom prst="roundRect">
            <a:avLst>
              <a:gd fmla="val 27778" name="adj"/>
            </a:avLst>
          </a:prstGeom>
          <a:solidFill>
            <a:srgbClr val="211B45"/>
          </a:solidFill>
          <a:ln cap="flat" cmpd="sng" w="9525">
            <a:solidFill>
              <a:srgbClr val="3A3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7"/>
          <p:cNvSpPr/>
          <p:nvPr/>
        </p:nvSpPr>
        <p:spPr>
          <a:xfrm>
            <a:off x="804672" y="2743200"/>
            <a:ext cx="21579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FCAE3"/>
              </a:buClr>
              <a:buSzPts val="1000"/>
              <a:buFont typeface="Calibri"/>
              <a:buNone/>
            </a:pPr>
            <a:r>
              <a:rPr b="1" i="0" lang="en" sz="1000" u="none" cap="none" strike="noStrike">
                <a:solidFill>
                  <a:srgbClr val="CFCAE3"/>
                </a:solidFill>
                <a:latin typeface="Calibri"/>
                <a:ea typeface="Calibri"/>
                <a:cs typeface="Calibri"/>
                <a:sym typeface="Calibri"/>
              </a:rPr>
              <a:t>India first</a:t>
            </a:r>
            <a:endParaRPr b="0" i="0" sz="1000" u="none" cap="none" strike="noStrike">
              <a:solidFill>
                <a:schemeClr val="dk1"/>
              </a:solidFill>
              <a:latin typeface="Calibri"/>
              <a:ea typeface="Calibri"/>
              <a:cs typeface="Calibri"/>
              <a:sym typeface="Calibri"/>
            </a:endParaRPr>
          </a:p>
        </p:txBody>
      </p:sp>
      <p:sp>
        <p:nvSpPr>
          <p:cNvPr id="392" name="Google Shape;392;p27"/>
          <p:cNvSpPr/>
          <p:nvPr/>
        </p:nvSpPr>
        <p:spPr>
          <a:xfrm>
            <a:off x="804672" y="3200400"/>
            <a:ext cx="2231136" cy="14630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CFCAE3"/>
              </a:buClr>
              <a:buSzPts val="1150"/>
              <a:buFont typeface="Calibri"/>
              <a:buNone/>
            </a:pPr>
            <a:r>
              <a:rPr b="0" i="0" lang="en" sz="1150" u="none" cap="none" strike="noStrike">
                <a:solidFill>
                  <a:srgbClr val="CFCAE3"/>
                </a:solidFill>
                <a:latin typeface="Calibri"/>
                <a:ea typeface="Calibri"/>
                <a:cs typeface="Calibri"/>
                <a:sym typeface="Calibri"/>
              </a:rPr>
              <a:t>Today, Ask (Sahaj) and Live. Wisdom + meditation, free. Win the daily return.</a:t>
            </a:r>
            <a:endParaRPr b="0" i="0" sz="1150" u="none" cap="none" strike="noStrike">
              <a:solidFill>
                <a:schemeClr val="dk1"/>
              </a:solidFill>
              <a:latin typeface="Calibri"/>
              <a:ea typeface="Calibri"/>
              <a:cs typeface="Calibri"/>
              <a:sym typeface="Calibri"/>
            </a:endParaRPr>
          </a:p>
        </p:txBody>
      </p:sp>
      <p:sp>
        <p:nvSpPr>
          <p:cNvPr id="393" name="Google Shape;393;p27"/>
          <p:cNvSpPr/>
          <p:nvPr/>
        </p:nvSpPr>
        <p:spPr>
          <a:xfrm>
            <a:off x="3346704" y="1600200"/>
            <a:ext cx="2615184" cy="3154680"/>
          </a:xfrm>
          <a:prstGeom prst="roundRect">
            <a:avLst>
              <a:gd fmla="val 4196" name="adj"/>
            </a:avLst>
          </a:prstGeom>
          <a:solidFill>
            <a:srgbClr val="2B2552"/>
          </a:solidFill>
          <a:ln cap="flat" cmpd="sng" w="12700">
            <a:solidFill>
              <a:srgbClr val="3A3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7"/>
          <p:cNvSpPr/>
          <p:nvPr/>
        </p:nvSpPr>
        <p:spPr>
          <a:xfrm>
            <a:off x="3547872" y="1810512"/>
            <a:ext cx="274320" cy="274320"/>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7"/>
          <p:cNvSpPr/>
          <p:nvPr/>
        </p:nvSpPr>
        <p:spPr>
          <a:xfrm>
            <a:off x="3895344" y="1801368"/>
            <a:ext cx="19751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A94B"/>
              </a:buClr>
              <a:buSzPts val="1100"/>
              <a:buFont typeface="Calibri"/>
              <a:buNone/>
            </a:pPr>
            <a:r>
              <a:rPr b="1" i="0" lang="en" sz="1100" u="none" cap="none" strike="noStrike">
                <a:solidFill>
                  <a:srgbClr val="E0A94B"/>
                </a:solidFill>
                <a:latin typeface="Calibri"/>
                <a:ea typeface="Calibri"/>
                <a:cs typeface="Calibri"/>
                <a:sym typeface="Calibri"/>
              </a:rPr>
              <a:t>PHASE 2</a:t>
            </a:r>
            <a:endParaRPr b="0" i="0" sz="1100" u="none" cap="none" strike="noStrike">
              <a:solidFill>
                <a:schemeClr val="dk1"/>
              </a:solidFill>
              <a:latin typeface="Calibri"/>
              <a:ea typeface="Calibri"/>
              <a:cs typeface="Calibri"/>
              <a:sym typeface="Calibri"/>
            </a:endParaRPr>
          </a:p>
        </p:txBody>
      </p:sp>
      <p:sp>
        <p:nvSpPr>
          <p:cNvPr id="396" name="Google Shape;396;p27"/>
          <p:cNvSpPr/>
          <p:nvPr/>
        </p:nvSpPr>
        <p:spPr>
          <a:xfrm>
            <a:off x="3547872" y="2212848"/>
            <a:ext cx="2249424"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mbria"/>
              <a:buNone/>
            </a:pPr>
            <a:r>
              <a:rPr b="1" i="0" lang="en" sz="1800" u="none" cap="none" strike="noStrike">
                <a:solidFill>
                  <a:srgbClr val="FFFFFF"/>
                </a:solidFill>
                <a:latin typeface="Cambria"/>
                <a:ea typeface="Cambria"/>
                <a:cs typeface="Cambria"/>
                <a:sym typeface="Cambria"/>
              </a:rPr>
              <a:t>Build the ladder</a:t>
            </a:r>
            <a:endParaRPr b="0" i="0" sz="1800" u="none" cap="none" strike="noStrike">
              <a:solidFill>
                <a:schemeClr val="dk1"/>
              </a:solidFill>
              <a:latin typeface="Calibri"/>
              <a:ea typeface="Calibri"/>
              <a:cs typeface="Calibri"/>
              <a:sym typeface="Calibri"/>
            </a:endParaRPr>
          </a:p>
        </p:txBody>
      </p:sp>
      <p:sp>
        <p:nvSpPr>
          <p:cNvPr id="397" name="Google Shape;397;p27"/>
          <p:cNvSpPr/>
          <p:nvPr/>
        </p:nvSpPr>
        <p:spPr>
          <a:xfrm>
            <a:off x="3547872" y="2743200"/>
            <a:ext cx="2157984" cy="329184"/>
          </a:xfrm>
          <a:prstGeom prst="roundRect">
            <a:avLst>
              <a:gd fmla="val 27778" name="adj"/>
            </a:avLst>
          </a:prstGeom>
          <a:solidFill>
            <a:srgbClr val="211B45"/>
          </a:solidFill>
          <a:ln cap="flat" cmpd="sng" w="9525">
            <a:solidFill>
              <a:srgbClr val="3A3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7"/>
          <p:cNvSpPr/>
          <p:nvPr/>
        </p:nvSpPr>
        <p:spPr>
          <a:xfrm>
            <a:off x="3547872" y="2743200"/>
            <a:ext cx="21579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FCAE3"/>
              </a:buClr>
              <a:buSzPts val="1000"/>
              <a:buFont typeface="Calibri"/>
              <a:buNone/>
            </a:pPr>
            <a:r>
              <a:rPr b="1" i="0" lang="en" sz="1000" u="none" cap="none" strike="noStrike">
                <a:solidFill>
                  <a:srgbClr val="CFCAE3"/>
                </a:solidFill>
                <a:latin typeface="Calibri"/>
                <a:ea typeface="Calibri"/>
                <a:cs typeface="Calibri"/>
                <a:sym typeface="Calibri"/>
              </a:rPr>
              <a:t>India + developed markets</a:t>
            </a:r>
            <a:endParaRPr b="0" i="0" sz="1000" u="none" cap="none" strike="noStrike">
              <a:solidFill>
                <a:schemeClr val="dk1"/>
              </a:solidFill>
              <a:latin typeface="Calibri"/>
              <a:ea typeface="Calibri"/>
              <a:cs typeface="Calibri"/>
              <a:sym typeface="Calibri"/>
            </a:endParaRPr>
          </a:p>
        </p:txBody>
      </p:sp>
      <p:sp>
        <p:nvSpPr>
          <p:cNvPr id="399" name="Google Shape;399;p27"/>
          <p:cNvSpPr/>
          <p:nvPr/>
        </p:nvSpPr>
        <p:spPr>
          <a:xfrm>
            <a:off x="3547872" y="3200400"/>
            <a:ext cx="2231136" cy="14630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CFCAE3"/>
              </a:buClr>
              <a:buSzPts val="1150"/>
              <a:buFont typeface="Calibri"/>
              <a:buNone/>
            </a:pPr>
            <a:r>
              <a:rPr b="0" i="0" lang="en" sz="1150" u="none" cap="none" strike="noStrike">
                <a:solidFill>
                  <a:srgbClr val="CFCAE3"/>
                </a:solidFill>
                <a:latin typeface="Calibri"/>
                <a:ea typeface="Calibri"/>
                <a:cs typeface="Calibri"/>
                <a:sym typeface="Calibri"/>
              </a:rPr>
              <a:t>Full library, course enrolment, Prime, rewards &amp; report cards. Begin converting trust to support.</a:t>
            </a:r>
            <a:endParaRPr b="0" i="0" sz="1150" u="none" cap="none" strike="noStrike">
              <a:solidFill>
                <a:schemeClr val="dk1"/>
              </a:solidFill>
              <a:latin typeface="Calibri"/>
              <a:ea typeface="Calibri"/>
              <a:cs typeface="Calibri"/>
              <a:sym typeface="Calibri"/>
            </a:endParaRPr>
          </a:p>
        </p:txBody>
      </p:sp>
      <p:sp>
        <p:nvSpPr>
          <p:cNvPr id="400" name="Google Shape;400;p27"/>
          <p:cNvSpPr/>
          <p:nvPr/>
        </p:nvSpPr>
        <p:spPr>
          <a:xfrm>
            <a:off x="6089904" y="1600200"/>
            <a:ext cx="2615184" cy="3154680"/>
          </a:xfrm>
          <a:prstGeom prst="roundRect">
            <a:avLst>
              <a:gd fmla="val 4196" name="adj"/>
            </a:avLst>
          </a:prstGeom>
          <a:solidFill>
            <a:srgbClr val="2B2552"/>
          </a:solidFill>
          <a:ln cap="flat" cmpd="sng" w="12700">
            <a:solidFill>
              <a:srgbClr val="3A3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7"/>
          <p:cNvSpPr/>
          <p:nvPr/>
        </p:nvSpPr>
        <p:spPr>
          <a:xfrm>
            <a:off x="6291072" y="1810512"/>
            <a:ext cx="274320" cy="274320"/>
          </a:xfrm>
          <a:prstGeom prst="ellipse">
            <a:avLst/>
          </a:prstGeom>
          <a:solidFill>
            <a:srgbClr val="4F8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7"/>
          <p:cNvSpPr/>
          <p:nvPr/>
        </p:nvSpPr>
        <p:spPr>
          <a:xfrm>
            <a:off x="6638544" y="1801368"/>
            <a:ext cx="19751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8A77"/>
              </a:buClr>
              <a:buSzPts val="1100"/>
              <a:buFont typeface="Calibri"/>
              <a:buNone/>
            </a:pPr>
            <a:r>
              <a:rPr b="1" i="0" lang="en" sz="1100" u="none" cap="none" strike="noStrike">
                <a:solidFill>
                  <a:srgbClr val="4F8A77"/>
                </a:solidFill>
                <a:latin typeface="Calibri"/>
                <a:ea typeface="Calibri"/>
                <a:cs typeface="Calibri"/>
                <a:sym typeface="Calibri"/>
              </a:rPr>
              <a:t>PHASE 3</a:t>
            </a:r>
            <a:endParaRPr b="0" i="0" sz="1100" u="none" cap="none" strike="noStrike">
              <a:solidFill>
                <a:schemeClr val="dk1"/>
              </a:solidFill>
              <a:latin typeface="Calibri"/>
              <a:ea typeface="Calibri"/>
              <a:cs typeface="Calibri"/>
              <a:sym typeface="Calibri"/>
            </a:endParaRPr>
          </a:p>
        </p:txBody>
      </p:sp>
      <p:sp>
        <p:nvSpPr>
          <p:cNvPr id="403" name="Google Shape;403;p27"/>
          <p:cNvSpPr/>
          <p:nvPr/>
        </p:nvSpPr>
        <p:spPr>
          <a:xfrm>
            <a:off x="6291072" y="2212848"/>
            <a:ext cx="2249424"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mbria"/>
              <a:buNone/>
            </a:pPr>
            <a:r>
              <a:rPr b="1" i="0" lang="en" sz="1800" u="none" cap="none" strike="noStrike">
                <a:solidFill>
                  <a:srgbClr val="FFFFFF"/>
                </a:solidFill>
                <a:latin typeface="Cambria"/>
                <a:ea typeface="Cambria"/>
                <a:cs typeface="Cambria"/>
                <a:sym typeface="Cambria"/>
              </a:rPr>
              <a:t>Scale the engine</a:t>
            </a:r>
            <a:endParaRPr b="0" i="0" sz="1800" u="none" cap="none" strike="noStrike">
              <a:solidFill>
                <a:schemeClr val="dk1"/>
              </a:solidFill>
              <a:latin typeface="Calibri"/>
              <a:ea typeface="Calibri"/>
              <a:cs typeface="Calibri"/>
              <a:sym typeface="Calibri"/>
            </a:endParaRPr>
          </a:p>
        </p:txBody>
      </p:sp>
      <p:sp>
        <p:nvSpPr>
          <p:cNvPr id="404" name="Google Shape;404;p27"/>
          <p:cNvSpPr/>
          <p:nvPr/>
        </p:nvSpPr>
        <p:spPr>
          <a:xfrm>
            <a:off x="6291072" y="2743200"/>
            <a:ext cx="2157984" cy="329184"/>
          </a:xfrm>
          <a:prstGeom prst="roundRect">
            <a:avLst>
              <a:gd fmla="val 27778" name="adj"/>
            </a:avLst>
          </a:prstGeom>
          <a:solidFill>
            <a:srgbClr val="211B45"/>
          </a:solidFill>
          <a:ln cap="flat" cmpd="sng" w="9525">
            <a:solidFill>
              <a:srgbClr val="3A3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7"/>
          <p:cNvSpPr/>
          <p:nvPr/>
        </p:nvSpPr>
        <p:spPr>
          <a:xfrm>
            <a:off x="6291072" y="2743200"/>
            <a:ext cx="21579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FCAE3"/>
              </a:buClr>
              <a:buSzPts val="1000"/>
              <a:buFont typeface="Calibri"/>
              <a:buNone/>
            </a:pPr>
            <a:r>
              <a:rPr b="1" i="0" lang="en" sz="1000" u="none" cap="none" strike="noStrike">
                <a:solidFill>
                  <a:srgbClr val="CFCAE3"/>
                </a:solidFill>
                <a:latin typeface="Calibri"/>
                <a:ea typeface="Calibri"/>
                <a:cs typeface="Calibri"/>
                <a:sym typeface="Calibri"/>
              </a:rPr>
              <a:t>Global · 182 countries</a:t>
            </a:r>
            <a:endParaRPr b="0" i="0" sz="1000" u="none" cap="none" strike="noStrike">
              <a:solidFill>
                <a:schemeClr val="dk1"/>
              </a:solidFill>
              <a:latin typeface="Calibri"/>
              <a:ea typeface="Calibri"/>
              <a:cs typeface="Calibri"/>
              <a:sym typeface="Calibri"/>
            </a:endParaRPr>
          </a:p>
        </p:txBody>
      </p:sp>
      <p:sp>
        <p:nvSpPr>
          <p:cNvPr id="406" name="Google Shape;406;p27"/>
          <p:cNvSpPr/>
          <p:nvPr/>
        </p:nvSpPr>
        <p:spPr>
          <a:xfrm>
            <a:off x="6291072" y="3200400"/>
            <a:ext cx="2231136" cy="14630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CFCAE3"/>
              </a:buClr>
              <a:buSzPts val="1150"/>
              <a:buFont typeface="Calibri"/>
              <a:buNone/>
            </a:pPr>
            <a:r>
              <a:rPr b="0" i="0" lang="en" sz="1150" u="none" cap="none" strike="noStrike">
                <a:solidFill>
                  <a:srgbClr val="CFCAE3"/>
                </a:solidFill>
                <a:latin typeface="Calibri"/>
                <a:ea typeface="Calibri"/>
                <a:cs typeface="Calibri"/>
                <a:sym typeface="Calibri"/>
              </a:rPr>
              <a:t>Retreats, festival webcasts, the store, deeper personalisation, fair pricing for every region.</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1" name="Shape 411"/>
        <p:cNvGrpSpPr/>
        <p:nvPr/>
      </p:nvGrpSpPr>
      <p:grpSpPr>
        <a:xfrm>
          <a:off x="0" y="0"/>
          <a:ext cx="0" cy="0"/>
          <a:chOff x="0" y="0"/>
          <a:chExt cx="0" cy="0"/>
        </a:xfrm>
      </p:grpSpPr>
      <p:sp>
        <p:nvSpPr>
          <p:cNvPr id="412" name="Google Shape;412;p28"/>
          <p:cNvSpPr/>
          <p:nvPr/>
        </p:nvSpPr>
        <p:spPr>
          <a:xfrm>
            <a:off x="548640" y="36576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HOW WE MEASURE SUCCESS</a:t>
            </a:r>
            <a:endParaRPr b="0" i="0" sz="1100" u="none" cap="none" strike="noStrike">
              <a:solidFill>
                <a:schemeClr val="dk1"/>
              </a:solidFill>
              <a:latin typeface="Calibri"/>
              <a:ea typeface="Calibri"/>
              <a:cs typeface="Calibri"/>
              <a:sym typeface="Calibri"/>
            </a:endParaRPr>
          </a:p>
        </p:txBody>
      </p:sp>
      <p:sp>
        <p:nvSpPr>
          <p:cNvPr id="413" name="Google Shape;413;p28"/>
          <p:cNvSpPr/>
          <p:nvPr/>
        </p:nvSpPr>
        <p:spPr>
          <a:xfrm>
            <a:off x="512064" y="65836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800"/>
              <a:buFont typeface="Cambria"/>
              <a:buNone/>
            </a:pPr>
            <a:r>
              <a:rPr b="1" i="0" lang="en" sz="2800" u="none" cap="none" strike="noStrike">
                <a:solidFill>
                  <a:srgbClr val="211B45"/>
                </a:solidFill>
                <a:latin typeface="Cambria"/>
                <a:ea typeface="Cambria"/>
                <a:cs typeface="Cambria"/>
                <a:sym typeface="Cambria"/>
              </a:rPr>
              <a:t>One North Star, four ways to read it</a:t>
            </a:r>
            <a:endParaRPr b="0" i="0" sz="2800" u="none" cap="none" strike="noStrike">
              <a:solidFill>
                <a:schemeClr val="dk1"/>
              </a:solidFill>
              <a:latin typeface="Calibri"/>
              <a:ea typeface="Calibri"/>
              <a:cs typeface="Calibri"/>
              <a:sym typeface="Calibri"/>
            </a:endParaRPr>
          </a:p>
        </p:txBody>
      </p:sp>
      <p:sp>
        <p:nvSpPr>
          <p:cNvPr id="414" name="Google Shape;414;p28"/>
          <p:cNvSpPr/>
          <p:nvPr/>
        </p:nvSpPr>
        <p:spPr>
          <a:xfrm>
            <a:off x="548640" y="1417320"/>
            <a:ext cx="8046720" cy="777240"/>
          </a:xfrm>
          <a:prstGeom prst="roundRect">
            <a:avLst>
              <a:gd fmla="val 14118" name="adj"/>
            </a:avLst>
          </a:prstGeom>
          <a:solidFill>
            <a:srgbClr val="211B45"/>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8"/>
          <p:cNvSpPr/>
          <p:nvPr/>
        </p:nvSpPr>
        <p:spPr>
          <a:xfrm>
            <a:off x="777240" y="1417320"/>
            <a:ext cx="76809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A94B"/>
              </a:buClr>
              <a:buSzPts val="1100"/>
              <a:buFont typeface="Calibri"/>
              <a:buNone/>
            </a:pPr>
            <a:r>
              <a:rPr b="1" i="0" lang="en" sz="1100" u="none" cap="none" strike="noStrike">
                <a:solidFill>
                  <a:srgbClr val="E0A94B"/>
                </a:solidFill>
                <a:latin typeface="Calibri"/>
                <a:ea typeface="Calibri"/>
                <a:cs typeface="Calibri"/>
                <a:sym typeface="Calibri"/>
              </a:rPr>
              <a:t>NORTH STAR   </a:t>
            </a:r>
            <a:r>
              <a:rPr b="1" i="0" lang="en" sz="1900" u="none" cap="none" strike="noStrike">
                <a:solidFill>
                  <a:srgbClr val="FFFFFF"/>
                </a:solidFill>
                <a:latin typeface="Cambria"/>
                <a:ea typeface="Cambria"/>
                <a:cs typeface="Cambria"/>
                <a:sym typeface="Cambria"/>
              </a:rPr>
              <a:t>Daily practitioners</a:t>
            </a:r>
            <a:r>
              <a:rPr b="0" i="0" lang="en" sz="1300" u="none" cap="none" strike="noStrike">
                <a:solidFill>
                  <a:srgbClr val="CFCAE3"/>
                </a:solidFill>
                <a:latin typeface="Calibri"/>
                <a:ea typeface="Calibri"/>
                <a:cs typeface="Calibri"/>
                <a:sym typeface="Calibri"/>
              </a:rPr>
              <a:t>   — people who hold a daily practice</a:t>
            </a:r>
            <a:endParaRPr b="0" i="0" sz="1100" u="none" cap="none" strike="noStrike">
              <a:solidFill>
                <a:schemeClr val="dk1"/>
              </a:solidFill>
              <a:latin typeface="Calibri"/>
              <a:ea typeface="Calibri"/>
              <a:cs typeface="Calibri"/>
              <a:sym typeface="Calibri"/>
            </a:endParaRPr>
          </a:p>
        </p:txBody>
      </p:sp>
      <p:sp>
        <p:nvSpPr>
          <p:cNvPr id="416" name="Google Shape;416;p28"/>
          <p:cNvSpPr/>
          <p:nvPr/>
        </p:nvSpPr>
        <p:spPr>
          <a:xfrm>
            <a:off x="548640" y="2377440"/>
            <a:ext cx="1947672" cy="2240280"/>
          </a:xfrm>
          <a:prstGeom prst="roundRect">
            <a:avLst>
              <a:gd fmla="val 5634" name="adj"/>
            </a:avLst>
          </a:prstGeom>
          <a:solidFill>
            <a:srgbClr val="F7E6D2"/>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8"/>
          <p:cNvSpPr/>
          <p:nvPr/>
        </p:nvSpPr>
        <p:spPr>
          <a:xfrm>
            <a:off x="713232" y="2542032"/>
            <a:ext cx="16733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600"/>
              <a:buFont typeface="Cambria"/>
              <a:buNone/>
            </a:pPr>
            <a:r>
              <a:rPr b="1" i="0" lang="en" sz="1600" u="none" cap="none" strike="noStrike">
                <a:solidFill>
                  <a:srgbClr val="A8530F"/>
                </a:solidFill>
                <a:latin typeface="Cambria"/>
                <a:ea typeface="Cambria"/>
                <a:cs typeface="Cambria"/>
                <a:sym typeface="Cambria"/>
              </a:rPr>
              <a:t>Reach</a:t>
            </a:r>
            <a:endParaRPr b="0" i="0" sz="1600" u="none" cap="none" strike="noStrike">
              <a:solidFill>
                <a:schemeClr val="dk1"/>
              </a:solidFill>
              <a:latin typeface="Calibri"/>
              <a:ea typeface="Calibri"/>
              <a:cs typeface="Calibri"/>
              <a:sym typeface="Calibri"/>
            </a:endParaRPr>
          </a:p>
        </p:txBody>
      </p:sp>
      <p:sp>
        <p:nvSpPr>
          <p:cNvPr id="418" name="Google Shape;418;p28"/>
          <p:cNvSpPr/>
          <p:nvPr/>
        </p:nvSpPr>
        <p:spPr>
          <a:xfrm>
            <a:off x="713232" y="3017520"/>
            <a:ext cx="1655064" cy="1463040"/>
          </a:xfrm>
          <a:prstGeom prst="rect">
            <a:avLst/>
          </a:prstGeom>
          <a:noFill/>
          <a:ln>
            <a:noFill/>
          </a:ln>
        </p:spPr>
        <p:txBody>
          <a:bodyPr anchorCtr="0" anchor="ctr" bIns="0" lIns="0" spcFirstLastPara="1" rIns="0" wrap="square" tIns="0">
            <a:noAutofit/>
          </a:bodyPr>
          <a:lstStyle/>
          <a:p>
            <a:pPr indent="-114300" lvl="0" marL="114300" marR="0" rtl="0" algn="l">
              <a:lnSpc>
                <a:spcPct val="100000"/>
              </a:lnSpc>
              <a:spcBef>
                <a:spcPts val="0"/>
              </a:spcBef>
              <a:spcAft>
                <a:spcPts val="0"/>
              </a:spcAft>
              <a:buClr>
                <a:srgbClr val="211B45"/>
              </a:buClr>
              <a:buSzPts val="1100"/>
              <a:buFont typeface="Calibri"/>
              <a:buChar char="•"/>
            </a:pPr>
            <a:r>
              <a:rPr b="0" i="0" lang="en" sz="1100" u="none" cap="none" strike="noStrike">
                <a:solidFill>
                  <a:srgbClr val="211B45"/>
                </a:solidFill>
                <a:latin typeface="Calibri"/>
                <a:ea typeface="Calibri"/>
                <a:cs typeface="Calibri"/>
                <a:sym typeface="Calibri"/>
              </a:rPr>
              <a:t>Monthly active users</a:t>
            </a:r>
            <a:endParaRPr b="0" i="0" sz="1100" u="none" cap="none" strike="noStrike">
              <a:solidFill>
                <a:schemeClr val="dk1"/>
              </a:solidFill>
              <a:latin typeface="Calibri"/>
              <a:ea typeface="Calibri"/>
              <a:cs typeface="Calibri"/>
              <a:sym typeface="Calibri"/>
            </a:endParaRPr>
          </a:p>
          <a:p>
            <a:pPr indent="-114300" lvl="0" marL="114300" marR="0" rtl="0" algn="l">
              <a:lnSpc>
                <a:spcPct val="100000"/>
              </a:lnSpc>
              <a:spcBef>
                <a:spcPts val="700"/>
              </a:spcBef>
              <a:spcAft>
                <a:spcPts val="0"/>
              </a:spcAft>
              <a:buClr>
                <a:srgbClr val="211B45"/>
              </a:buClr>
              <a:buSzPts val="1100"/>
              <a:buFont typeface="Calibri"/>
              <a:buChar char="•"/>
            </a:pPr>
            <a:r>
              <a:rPr b="0" i="0" lang="en" sz="1100" u="none" cap="none" strike="noStrike">
                <a:solidFill>
                  <a:srgbClr val="211B45"/>
                </a:solidFill>
                <a:latin typeface="Calibri"/>
                <a:ea typeface="Calibri"/>
                <a:cs typeface="Calibri"/>
                <a:sym typeface="Calibri"/>
              </a:rPr>
              <a:t>New seekers / month</a:t>
            </a:r>
            <a:endParaRPr b="0" i="0" sz="1100" u="none" cap="none" strike="noStrike">
              <a:solidFill>
                <a:schemeClr val="dk1"/>
              </a:solidFill>
              <a:latin typeface="Calibri"/>
              <a:ea typeface="Calibri"/>
              <a:cs typeface="Calibri"/>
              <a:sym typeface="Calibri"/>
            </a:endParaRPr>
          </a:p>
          <a:p>
            <a:pPr indent="-114300" lvl="0" marL="114300" marR="0" rtl="0" algn="l">
              <a:lnSpc>
                <a:spcPct val="100000"/>
              </a:lnSpc>
              <a:spcBef>
                <a:spcPts val="700"/>
              </a:spcBef>
              <a:spcAft>
                <a:spcPts val="0"/>
              </a:spcAft>
              <a:buClr>
                <a:srgbClr val="211B45"/>
              </a:buClr>
              <a:buSzPts val="1100"/>
              <a:buFont typeface="Calibri"/>
              <a:buChar char="•"/>
            </a:pPr>
            <a:r>
              <a:rPr b="0" i="0" lang="en" sz="1100" u="none" cap="none" strike="noStrike">
                <a:solidFill>
                  <a:srgbClr val="211B45"/>
                </a:solidFill>
                <a:latin typeface="Calibri"/>
                <a:ea typeface="Calibri"/>
                <a:cs typeface="Calibri"/>
                <a:sym typeface="Calibri"/>
              </a:rPr>
              <a:t>Countries touched</a:t>
            </a:r>
            <a:endParaRPr b="0" i="0" sz="1100" u="none" cap="none" strike="noStrike">
              <a:solidFill>
                <a:schemeClr val="dk1"/>
              </a:solidFill>
              <a:latin typeface="Calibri"/>
              <a:ea typeface="Calibri"/>
              <a:cs typeface="Calibri"/>
              <a:sym typeface="Calibri"/>
            </a:endParaRPr>
          </a:p>
        </p:txBody>
      </p:sp>
      <p:sp>
        <p:nvSpPr>
          <p:cNvPr id="419" name="Google Shape;419;p28"/>
          <p:cNvSpPr/>
          <p:nvPr/>
        </p:nvSpPr>
        <p:spPr>
          <a:xfrm>
            <a:off x="2560320" y="2377440"/>
            <a:ext cx="1947672" cy="2240280"/>
          </a:xfrm>
          <a:prstGeom prst="roundRect">
            <a:avLst>
              <a:gd fmla="val 5634" name="adj"/>
            </a:avLst>
          </a:prstGeom>
          <a:solidFill>
            <a:srgbClr val="E3EFEA"/>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8"/>
          <p:cNvSpPr/>
          <p:nvPr/>
        </p:nvSpPr>
        <p:spPr>
          <a:xfrm>
            <a:off x="2724912" y="2542032"/>
            <a:ext cx="16733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C4D"/>
              </a:buClr>
              <a:buSzPts val="1600"/>
              <a:buFont typeface="Cambria"/>
              <a:buNone/>
            </a:pPr>
            <a:r>
              <a:rPr b="1" i="0" lang="en" sz="1600" u="none" cap="none" strike="noStrike">
                <a:solidFill>
                  <a:srgbClr val="2F5C4D"/>
                </a:solidFill>
                <a:latin typeface="Cambria"/>
                <a:ea typeface="Cambria"/>
                <a:cs typeface="Cambria"/>
                <a:sym typeface="Cambria"/>
              </a:rPr>
              <a:t>Depth</a:t>
            </a:r>
            <a:endParaRPr b="0" i="0" sz="1600" u="none" cap="none" strike="noStrike">
              <a:solidFill>
                <a:schemeClr val="dk1"/>
              </a:solidFill>
              <a:latin typeface="Calibri"/>
              <a:ea typeface="Calibri"/>
              <a:cs typeface="Calibri"/>
              <a:sym typeface="Calibri"/>
            </a:endParaRPr>
          </a:p>
        </p:txBody>
      </p:sp>
      <p:sp>
        <p:nvSpPr>
          <p:cNvPr id="421" name="Google Shape;421;p28"/>
          <p:cNvSpPr/>
          <p:nvPr/>
        </p:nvSpPr>
        <p:spPr>
          <a:xfrm>
            <a:off x="2724912" y="3017520"/>
            <a:ext cx="1655064" cy="1463040"/>
          </a:xfrm>
          <a:prstGeom prst="rect">
            <a:avLst/>
          </a:prstGeom>
          <a:noFill/>
          <a:ln>
            <a:noFill/>
          </a:ln>
        </p:spPr>
        <p:txBody>
          <a:bodyPr anchorCtr="0" anchor="ctr" bIns="0" lIns="0" spcFirstLastPara="1" rIns="0" wrap="square" tIns="0">
            <a:noAutofit/>
          </a:bodyPr>
          <a:lstStyle/>
          <a:p>
            <a:pPr indent="-114300" lvl="0" marL="114300" marR="0" rtl="0" algn="l">
              <a:lnSpc>
                <a:spcPct val="100000"/>
              </a:lnSpc>
              <a:spcBef>
                <a:spcPts val="0"/>
              </a:spcBef>
              <a:spcAft>
                <a:spcPts val="0"/>
              </a:spcAft>
              <a:buClr>
                <a:srgbClr val="211B45"/>
              </a:buClr>
              <a:buSzPts val="1100"/>
              <a:buFont typeface="Calibri"/>
              <a:buChar char="•"/>
            </a:pPr>
            <a:r>
              <a:rPr b="0" i="0" lang="en" sz="1100" u="none" cap="none" strike="noStrike">
                <a:solidFill>
                  <a:srgbClr val="211B45"/>
                </a:solidFill>
                <a:latin typeface="Calibri"/>
                <a:ea typeface="Calibri"/>
                <a:cs typeface="Calibri"/>
                <a:sym typeface="Calibri"/>
              </a:rPr>
              <a:t>7- &amp; 30-day retention</a:t>
            </a:r>
            <a:endParaRPr b="0" i="0" sz="1100" u="none" cap="none" strike="noStrike">
              <a:solidFill>
                <a:schemeClr val="dk1"/>
              </a:solidFill>
              <a:latin typeface="Calibri"/>
              <a:ea typeface="Calibri"/>
              <a:cs typeface="Calibri"/>
              <a:sym typeface="Calibri"/>
            </a:endParaRPr>
          </a:p>
          <a:p>
            <a:pPr indent="-114300" lvl="0" marL="114300" marR="0" rtl="0" algn="l">
              <a:lnSpc>
                <a:spcPct val="100000"/>
              </a:lnSpc>
              <a:spcBef>
                <a:spcPts val="700"/>
              </a:spcBef>
              <a:spcAft>
                <a:spcPts val="0"/>
              </a:spcAft>
              <a:buClr>
                <a:srgbClr val="211B45"/>
              </a:buClr>
              <a:buSzPts val="1100"/>
              <a:buFont typeface="Calibri"/>
              <a:buChar char="•"/>
            </a:pPr>
            <a:r>
              <a:rPr b="0" i="0" lang="en" sz="1100" u="none" cap="none" strike="noStrike">
                <a:solidFill>
                  <a:srgbClr val="211B45"/>
                </a:solidFill>
                <a:latin typeface="Calibri"/>
                <a:ea typeface="Calibri"/>
                <a:cs typeface="Calibri"/>
                <a:sym typeface="Calibri"/>
              </a:rPr>
              <a:t>Streak length</a:t>
            </a:r>
            <a:endParaRPr b="0" i="0" sz="1100" u="none" cap="none" strike="noStrike">
              <a:solidFill>
                <a:schemeClr val="dk1"/>
              </a:solidFill>
              <a:latin typeface="Calibri"/>
              <a:ea typeface="Calibri"/>
              <a:cs typeface="Calibri"/>
              <a:sym typeface="Calibri"/>
            </a:endParaRPr>
          </a:p>
          <a:p>
            <a:pPr indent="-114300" lvl="0" marL="114300" marR="0" rtl="0" algn="l">
              <a:lnSpc>
                <a:spcPct val="100000"/>
              </a:lnSpc>
              <a:spcBef>
                <a:spcPts val="700"/>
              </a:spcBef>
              <a:spcAft>
                <a:spcPts val="0"/>
              </a:spcAft>
              <a:buClr>
                <a:srgbClr val="211B45"/>
              </a:buClr>
              <a:buSzPts val="1100"/>
              <a:buFont typeface="Calibri"/>
              <a:buChar char="•"/>
            </a:pPr>
            <a:r>
              <a:rPr b="0" i="0" lang="en" sz="1100" u="none" cap="none" strike="noStrike">
                <a:solidFill>
                  <a:srgbClr val="211B45"/>
                </a:solidFill>
                <a:latin typeface="Calibri"/>
                <a:ea typeface="Calibri"/>
                <a:cs typeface="Calibri"/>
                <a:sym typeface="Calibri"/>
              </a:rPr>
              <a:t>Practice minutes</a:t>
            </a:r>
            <a:endParaRPr b="0" i="0" sz="1100" u="none" cap="none" strike="noStrike">
              <a:solidFill>
                <a:schemeClr val="dk1"/>
              </a:solidFill>
              <a:latin typeface="Calibri"/>
              <a:ea typeface="Calibri"/>
              <a:cs typeface="Calibri"/>
              <a:sym typeface="Calibri"/>
            </a:endParaRPr>
          </a:p>
        </p:txBody>
      </p:sp>
      <p:sp>
        <p:nvSpPr>
          <p:cNvPr id="422" name="Google Shape;422;p28"/>
          <p:cNvSpPr/>
          <p:nvPr/>
        </p:nvSpPr>
        <p:spPr>
          <a:xfrm>
            <a:off x="4572000" y="2377440"/>
            <a:ext cx="1947672" cy="2240280"/>
          </a:xfrm>
          <a:prstGeom prst="roundRect">
            <a:avLst>
              <a:gd fmla="val 5634" name="adj"/>
            </a:avLst>
          </a:prstGeom>
          <a:solidFill>
            <a:srgbClr val="FAF0DA"/>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8"/>
          <p:cNvSpPr/>
          <p:nvPr/>
        </p:nvSpPr>
        <p:spPr>
          <a:xfrm>
            <a:off x="4736592" y="2542032"/>
            <a:ext cx="16733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5832F"/>
              </a:buClr>
              <a:buSzPts val="1600"/>
              <a:buFont typeface="Cambria"/>
              <a:buNone/>
            </a:pPr>
            <a:r>
              <a:rPr b="1" i="0" lang="en" sz="1600" u="none" cap="none" strike="noStrike">
                <a:solidFill>
                  <a:srgbClr val="B5832F"/>
                </a:solidFill>
                <a:latin typeface="Cambria"/>
                <a:ea typeface="Cambria"/>
                <a:cs typeface="Cambria"/>
                <a:sym typeface="Cambria"/>
              </a:rPr>
              <a:t>Sustainability</a:t>
            </a:r>
            <a:endParaRPr b="0" i="0" sz="1600" u="none" cap="none" strike="noStrike">
              <a:solidFill>
                <a:schemeClr val="dk1"/>
              </a:solidFill>
              <a:latin typeface="Calibri"/>
              <a:ea typeface="Calibri"/>
              <a:cs typeface="Calibri"/>
              <a:sym typeface="Calibri"/>
            </a:endParaRPr>
          </a:p>
        </p:txBody>
      </p:sp>
      <p:sp>
        <p:nvSpPr>
          <p:cNvPr id="424" name="Google Shape;424;p28"/>
          <p:cNvSpPr/>
          <p:nvPr/>
        </p:nvSpPr>
        <p:spPr>
          <a:xfrm>
            <a:off x="4736592" y="3017520"/>
            <a:ext cx="1655064" cy="1463040"/>
          </a:xfrm>
          <a:prstGeom prst="rect">
            <a:avLst/>
          </a:prstGeom>
          <a:noFill/>
          <a:ln>
            <a:noFill/>
          </a:ln>
        </p:spPr>
        <p:txBody>
          <a:bodyPr anchorCtr="0" anchor="ctr" bIns="0" lIns="0" spcFirstLastPara="1" rIns="0" wrap="square" tIns="0">
            <a:noAutofit/>
          </a:bodyPr>
          <a:lstStyle/>
          <a:p>
            <a:pPr indent="-114300" lvl="0" marL="114300" marR="0" rtl="0" algn="l">
              <a:lnSpc>
                <a:spcPct val="100000"/>
              </a:lnSpc>
              <a:spcBef>
                <a:spcPts val="0"/>
              </a:spcBef>
              <a:spcAft>
                <a:spcPts val="0"/>
              </a:spcAft>
              <a:buClr>
                <a:srgbClr val="211B45"/>
              </a:buClr>
              <a:buSzPts val="1100"/>
              <a:buFont typeface="Calibri"/>
              <a:buChar char="•"/>
            </a:pPr>
            <a:r>
              <a:rPr b="0" i="0" lang="en" sz="1100" u="none" cap="none" strike="noStrike">
                <a:solidFill>
                  <a:srgbClr val="211B45"/>
                </a:solidFill>
                <a:latin typeface="Calibri"/>
                <a:ea typeface="Calibri"/>
                <a:cs typeface="Calibri"/>
                <a:sym typeface="Calibri"/>
              </a:rPr>
              <a:t>Prime conversion</a:t>
            </a:r>
            <a:endParaRPr b="0" i="0" sz="1100" u="none" cap="none" strike="noStrike">
              <a:solidFill>
                <a:schemeClr val="dk1"/>
              </a:solidFill>
              <a:latin typeface="Calibri"/>
              <a:ea typeface="Calibri"/>
              <a:cs typeface="Calibri"/>
              <a:sym typeface="Calibri"/>
            </a:endParaRPr>
          </a:p>
          <a:p>
            <a:pPr indent="-114300" lvl="0" marL="114300" marR="0" rtl="0" algn="l">
              <a:lnSpc>
                <a:spcPct val="100000"/>
              </a:lnSpc>
              <a:spcBef>
                <a:spcPts val="700"/>
              </a:spcBef>
              <a:spcAft>
                <a:spcPts val="0"/>
              </a:spcAft>
              <a:buClr>
                <a:srgbClr val="211B45"/>
              </a:buClr>
              <a:buSzPts val="1100"/>
              <a:buFont typeface="Calibri"/>
              <a:buChar char="•"/>
            </a:pPr>
            <a:r>
              <a:rPr b="0" i="0" lang="en" sz="1100" u="none" cap="none" strike="noStrike">
                <a:solidFill>
                  <a:srgbClr val="211B45"/>
                </a:solidFill>
                <a:latin typeface="Calibri"/>
                <a:ea typeface="Calibri"/>
                <a:cs typeface="Calibri"/>
                <a:sym typeface="Calibri"/>
              </a:rPr>
              <a:t>Course enrolments</a:t>
            </a:r>
            <a:endParaRPr b="0" i="0" sz="1100" u="none" cap="none" strike="noStrike">
              <a:solidFill>
                <a:schemeClr val="dk1"/>
              </a:solidFill>
              <a:latin typeface="Calibri"/>
              <a:ea typeface="Calibri"/>
              <a:cs typeface="Calibri"/>
              <a:sym typeface="Calibri"/>
            </a:endParaRPr>
          </a:p>
          <a:p>
            <a:pPr indent="-114300" lvl="0" marL="114300" marR="0" rtl="0" algn="l">
              <a:lnSpc>
                <a:spcPct val="100000"/>
              </a:lnSpc>
              <a:spcBef>
                <a:spcPts val="700"/>
              </a:spcBef>
              <a:spcAft>
                <a:spcPts val="0"/>
              </a:spcAft>
              <a:buClr>
                <a:srgbClr val="211B45"/>
              </a:buClr>
              <a:buSzPts val="1100"/>
              <a:buFont typeface="Calibri"/>
              <a:buChar char="•"/>
            </a:pPr>
            <a:r>
              <a:rPr b="0" i="0" lang="en" sz="1100" u="none" cap="none" strike="noStrike">
                <a:solidFill>
                  <a:srgbClr val="211B45"/>
                </a:solidFill>
                <a:latin typeface="Calibri"/>
                <a:ea typeface="Calibri"/>
                <a:cs typeface="Calibri"/>
                <a:sym typeface="Calibri"/>
              </a:rPr>
              <a:t>Revenue &amp; per-user</a:t>
            </a:r>
            <a:endParaRPr b="0" i="0" sz="1100" u="none" cap="none" strike="noStrike">
              <a:solidFill>
                <a:schemeClr val="dk1"/>
              </a:solidFill>
              <a:latin typeface="Calibri"/>
              <a:ea typeface="Calibri"/>
              <a:cs typeface="Calibri"/>
              <a:sym typeface="Calibri"/>
            </a:endParaRPr>
          </a:p>
        </p:txBody>
      </p:sp>
      <p:sp>
        <p:nvSpPr>
          <p:cNvPr id="425" name="Google Shape;425;p28"/>
          <p:cNvSpPr/>
          <p:nvPr/>
        </p:nvSpPr>
        <p:spPr>
          <a:xfrm>
            <a:off x="6583680" y="2377440"/>
            <a:ext cx="1947672" cy="2240280"/>
          </a:xfrm>
          <a:prstGeom prst="roundRect">
            <a:avLst>
              <a:gd fmla="val 5634" name="adj"/>
            </a:avLst>
          </a:prstGeom>
          <a:solidFill>
            <a:srgbClr val="E7E3F3"/>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8"/>
          <p:cNvSpPr/>
          <p:nvPr/>
        </p:nvSpPr>
        <p:spPr>
          <a:xfrm>
            <a:off x="6748272" y="2542032"/>
            <a:ext cx="16733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2C72"/>
              </a:buClr>
              <a:buSzPts val="1600"/>
              <a:buFont typeface="Cambria"/>
              <a:buNone/>
            </a:pPr>
            <a:r>
              <a:rPr b="1" i="0" lang="en" sz="1600" u="none" cap="none" strike="noStrike">
                <a:solidFill>
                  <a:srgbClr val="372C72"/>
                </a:solidFill>
                <a:latin typeface="Cambria"/>
                <a:ea typeface="Cambria"/>
                <a:cs typeface="Cambria"/>
                <a:sym typeface="Cambria"/>
              </a:rPr>
              <a:t>Community</a:t>
            </a:r>
            <a:endParaRPr b="0" i="0" sz="1600" u="none" cap="none" strike="noStrike">
              <a:solidFill>
                <a:schemeClr val="dk1"/>
              </a:solidFill>
              <a:latin typeface="Calibri"/>
              <a:ea typeface="Calibri"/>
              <a:cs typeface="Calibri"/>
              <a:sym typeface="Calibri"/>
            </a:endParaRPr>
          </a:p>
        </p:txBody>
      </p:sp>
      <p:sp>
        <p:nvSpPr>
          <p:cNvPr id="427" name="Google Shape;427;p28"/>
          <p:cNvSpPr/>
          <p:nvPr/>
        </p:nvSpPr>
        <p:spPr>
          <a:xfrm>
            <a:off x="6748272" y="3017520"/>
            <a:ext cx="1655064" cy="1463040"/>
          </a:xfrm>
          <a:prstGeom prst="rect">
            <a:avLst/>
          </a:prstGeom>
          <a:noFill/>
          <a:ln>
            <a:noFill/>
          </a:ln>
        </p:spPr>
        <p:txBody>
          <a:bodyPr anchorCtr="0" anchor="ctr" bIns="0" lIns="0" spcFirstLastPara="1" rIns="0" wrap="square" tIns="0">
            <a:noAutofit/>
          </a:bodyPr>
          <a:lstStyle/>
          <a:p>
            <a:pPr indent="-114300" lvl="0" marL="114300" marR="0" rtl="0" algn="l">
              <a:lnSpc>
                <a:spcPct val="100000"/>
              </a:lnSpc>
              <a:spcBef>
                <a:spcPts val="0"/>
              </a:spcBef>
              <a:spcAft>
                <a:spcPts val="0"/>
              </a:spcAft>
              <a:buClr>
                <a:srgbClr val="211B45"/>
              </a:buClr>
              <a:buSzPts val="1100"/>
              <a:buFont typeface="Calibri"/>
              <a:buChar char="•"/>
            </a:pPr>
            <a:r>
              <a:rPr b="0" i="0" lang="en" sz="1100" u="none" cap="none" strike="noStrike">
                <a:solidFill>
                  <a:srgbClr val="211B45"/>
                </a:solidFill>
                <a:latin typeface="Calibri"/>
                <a:ea typeface="Calibri"/>
                <a:cs typeface="Calibri"/>
                <a:sym typeface="Calibri"/>
              </a:rPr>
              <a:t>Live attendance</a:t>
            </a:r>
            <a:endParaRPr b="0" i="0" sz="1100" u="none" cap="none" strike="noStrike">
              <a:solidFill>
                <a:schemeClr val="dk1"/>
              </a:solidFill>
              <a:latin typeface="Calibri"/>
              <a:ea typeface="Calibri"/>
              <a:cs typeface="Calibri"/>
              <a:sym typeface="Calibri"/>
            </a:endParaRPr>
          </a:p>
          <a:p>
            <a:pPr indent="-114300" lvl="0" marL="114300" marR="0" rtl="0" algn="l">
              <a:lnSpc>
                <a:spcPct val="100000"/>
              </a:lnSpc>
              <a:spcBef>
                <a:spcPts val="700"/>
              </a:spcBef>
              <a:spcAft>
                <a:spcPts val="0"/>
              </a:spcAft>
              <a:buClr>
                <a:srgbClr val="211B45"/>
              </a:buClr>
              <a:buSzPts val="1100"/>
              <a:buFont typeface="Calibri"/>
              <a:buChar char="•"/>
            </a:pPr>
            <a:r>
              <a:rPr b="0" i="0" lang="en" sz="1100" u="none" cap="none" strike="noStrike">
                <a:solidFill>
                  <a:srgbClr val="211B45"/>
                </a:solidFill>
                <a:latin typeface="Calibri"/>
                <a:ea typeface="Calibri"/>
                <a:cs typeface="Calibri"/>
                <a:sym typeface="Calibri"/>
              </a:rPr>
              <a:t>Sangha joins</a:t>
            </a:r>
            <a:endParaRPr b="0" i="0" sz="1100" u="none" cap="none" strike="noStrike">
              <a:solidFill>
                <a:schemeClr val="dk1"/>
              </a:solidFill>
              <a:latin typeface="Calibri"/>
              <a:ea typeface="Calibri"/>
              <a:cs typeface="Calibri"/>
              <a:sym typeface="Calibri"/>
            </a:endParaRPr>
          </a:p>
          <a:p>
            <a:pPr indent="-114300" lvl="0" marL="114300" marR="0" rtl="0" algn="l">
              <a:lnSpc>
                <a:spcPct val="100000"/>
              </a:lnSpc>
              <a:spcBef>
                <a:spcPts val="700"/>
              </a:spcBef>
              <a:spcAft>
                <a:spcPts val="0"/>
              </a:spcAft>
              <a:buClr>
                <a:srgbClr val="211B45"/>
              </a:buClr>
              <a:buSzPts val="1100"/>
              <a:buFont typeface="Calibri"/>
              <a:buChar char="•"/>
            </a:pPr>
            <a:r>
              <a:rPr b="0" i="0" lang="en" sz="1100" u="none" cap="none" strike="noStrike">
                <a:solidFill>
                  <a:srgbClr val="211B45"/>
                </a:solidFill>
                <a:latin typeface="Calibri"/>
                <a:ea typeface="Calibri"/>
                <a:cs typeface="Calibri"/>
                <a:sym typeface="Calibri"/>
              </a:rPr>
              <a:t>Graduates re-engaged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2" name="Shape 432"/>
        <p:cNvGrpSpPr/>
        <p:nvPr/>
      </p:nvGrpSpPr>
      <p:grpSpPr>
        <a:xfrm>
          <a:off x="0" y="0"/>
          <a:ext cx="0" cy="0"/>
          <a:chOff x="0" y="0"/>
          <a:chExt cx="0" cy="0"/>
        </a:xfrm>
      </p:grpSpPr>
      <p:sp>
        <p:nvSpPr>
          <p:cNvPr id="433" name="Google Shape;433;p29"/>
          <p:cNvSpPr/>
          <p:nvPr/>
        </p:nvSpPr>
        <p:spPr>
          <a:xfrm>
            <a:off x="548640" y="36576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IT ALREADY EXISTS</a:t>
            </a:r>
            <a:endParaRPr b="0" i="0" sz="1100" u="none" cap="none" strike="noStrike">
              <a:solidFill>
                <a:schemeClr val="dk1"/>
              </a:solidFill>
              <a:latin typeface="Calibri"/>
              <a:ea typeface="Calibri"/>
              <a:cs typeface="Calibri"/>
              <a:sym typeface="Calibri"/>
            </a:endParaRPr>
          </a:p>
        </p:txBody>
      </p:sp>
      <p:sp>
        <p:nvSpPr>
          <p:cNvPr id="434" name="Google Shape;434;p29"/>
          <p:cNvSpPr/>
          <p:nvPr/>
        </p:nvSpPr>
        <p:spPr>
          <a:xfrm>
            <a:off x="512064" y="65836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900"/>
              <a:buFont typeface="Cambria"/>
              <a:buNone/>
            </a:pPr>
            <a:r>
              <a:rPr b="1" i="0" lang="en" sz="2900" u="none" cap="none" strike="noStrike">
                <a:solidFill>
                  <a:srgbClr val="211B45"/>
                </a:solidFill>
                <a:latin typeface="Cambria"/>
                <a:ea typeface="Cambria"/>
                <a:cs typeface="Cambria"/>
                <a:sym typeface="Cambria"/>
              </a:rPr>
              <a:t>Not a concept — a working product</a:t>
            </a:r>
            <a:endParaRPr b="0" i="0" sz="2900" u="none" cap="none" strike="noStrike">
              <a:solidFill>
                <a:schemeClr val="dk1"/>
              </a:solidFill>
              <a:latin typeface="Calibri"/>
              <a:ea typeface="Calibri"/>
              <a:cs typeface="Calibri"/>
              <a:sym typeface="Calibri"/>
            </a:endParaRPr>
          </a:p>
        </p:txBody>
      </p:sp>
      <p:pic>
        <p:nvPicPr>
          <p:cNvPr descr="shots/onboard.png" id="435" name="Google Shape;435;p29"/>
          <p:cNvPicPr preferRelativeResize="0"/>
          <p:nvPr/>
        </p:nvPicPr>
        <p:blipFill rotWithShape="1">
          <a:blip r:embed="rId3">
            <a:alphaModFix/>
          </a:blip>
          <a:srcRect b="0" l="0" r="0" t="0"/>
          <a:stretch/>
        </p:blipFill>
        <p:spPr>
          <a:xfrm>
            <a:off x="640080" y="1417320"/>
            <a:ext cx="1320358" cy="2788920"/>
          </a:xfrm>
          <a:prstGeom prst="rect">
            <a:avLst/>
          </a:prstGeom>
          <a:noFill/>
          <a:ln>
            <a:noFill/>
          </a:ln>
        </p:spPr>
      </p:pic>
      <p:sp>
        <p:nvSpPr>
          <p:cNvPr id="436" name="Google Shape;436;p29"/>
          <p:cNvSpPr/>
          <p:nvPr/>
        </p:nvSpPr>
        <p:spPr>
          <a:xfrm>
            <a:off x="548640" y="4297680"/>
            <a:ext cx="150323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5680"/>
              </a:buClr>
              <a:buSzPts val="1150"/>
              <a:buFont typeface="Calibri"/>
              <a:buNone/>
            </a:pPr>
            <a:r>
              <a:rPr b="1" i="0" lang="en" sz="1150" u="none" cap="none" strike="noStrike">
                <a:solidFill>
                  <a:srgbClr val="5C5680"/>
                </a:solidFill>
                <a:latin typeface="Calibri"/>
                <a:ea typeface="Calibri"/>
                <a:cs typeface="Calibri"/>
                <a:sym typeface="Calibri"/>
              </a:rPr>
              <a:t>Adaptive welcome</a:t>
            </a:r>
            <a:endParaRPr b="0" i="0" sz="1150" u="none" cap="none" strike="noStrike">
              <a:solidFill>
                <a:schemeClr val="dk1"/>
              </a:solidFill>
              <a:latin typeface="Calibri"/>
              <a:ea typeface="Calibri"/>
              <a:cs typeface="Calibri"/>
              <a:sym typeface="Calibri"/>
            </a:endParaRPr>
          </a:p>
        </p:txBody>
      </p:sp>
      <p:pic>
        <p:nvPicPr>
          <p:cNvPr descr="shots/today.png" id="437" name="Google Shape;437;p29"/>
          <p:cNvPicPr preferRelativeResize="0"/>
          <p:nvPr/>
        </p:nvPicPr>
        <p:blipFill rotWithShape="1">
          <a:blip r:embed="rId4">
            <a:alphaModFix/>
          </a:blip>
          <a:srcRect b="0" l="0" r="0" t="0"/>
          <a:stretch/>
        </p:blipFill>
        <p:spPr>
          <a:xfrm>
            <a:off x="2761488" y="1417320"/>
            <a:ext cx="1376898" cy="2788920"/>
          </a:xfrm>
          <a:prstGeom prst="rect">
            <a:avLst/>
          </a:prstGeom>
          <a:noFill/>
          <a:ln>
            <a:noFill/>
          </a:ln>
        </p:spPr>
      </p:pic>
      <p:sp>
        <p:nvSpPr>
          <p:cNvPr id="438" name="Google Shape;438;p29"/>
          <p:cNvSpPr/>
          <p:nvPr/>
        </p:nvSpPr>
        <p:spPr>
          <a:xfrm>
            <a:off x="2670048" y="4297680"/>
            <a:ext cx="155977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5680"/>
              </a:buClr>
              <a:buSzPts val="1150"/>
              <a:buFont typeface="Calibri"/>
              <a:buNone/>
            </a:pPr>
            <a:r>
              <a:rPr b="1" i="0" lang="en" sz="1150" u="none" cap="none" strike="noStrike">
                <a:solidFill>
                  <a:srgbClr val="5C5680"/>
                </a:solidFill>
                <a:latin typeface="Calibri"/>
                <a:ea typeface="Calibri"/>
                <a:cs typeface="Calibri"/>
                <a:sym typeface="Calibri"/>
              </a:rPr>
              <a:t>Today: the guide</a:t>
            </a:r>
            <a:endParaRPr b="0" i="0" sz="1150" u="none" cap="none" strike="noStrike">
              <a:solidFill>
                <a:schemeClr val="dk1"/>
              </a:solidFill>
              <a:latin typeface="Calibri"/>
              <a:ea typeface="Calibri"/>
              <a:cs typeface="Calibri"/>
              <a:sym typeface="Calibri"/>
            </a:endParaRPr>
          </a:p>
        </p:txBody>
      </p:sp>
      <p:pic>
        <p:nvPicPr>
          <p:cNvPr descr="shots/player.png" id="439" name="Google Shape;439;p29"/>
          <p:cNvPicPr preferRelativeResize="0"/>
          <p:nvPr/>
        </p:nvPicPr>
        <p:blipFill rotWithShape="1">
          <a:blip r:embed="rId5">
            <a:alphaModFix/>
          </a:blip>
          <a:srcRect b="0" l="0" r="0" t="0"/>
          <a:stretch/>
        </p:blipFill>
        <p:spPr>
          <a:xfrm>
            <a:off x="4882896" y="1417320"/>
            <a:ext cx="1320358" cy="2788920"/>
          </a:xfrm>
          <a:prstGeom prst="rect">
            <a:avLst/>
          </a:prstGeom>
          <a:noFill/>
          <a:ln>
            <a:noFill/>
          </a:ln>
        </p:spPr>
      </p:pic>
      <p:sp>
        <p:nvSpPr>
          <p:cNvPr id="440" name="Google Shape;440;p29"/>
          <p:cNvSpPr/>
          <p:nvPr/>
        </p:nvSpPr>
        <p:spPr>
          <a:xfrm>
            <a:off x="4791456" y="4297680"/>
            <a:ext cx="150323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5680"/>
              </a:buClr>
              <a:buSzPts val="1150"/>
              <a:buFont typeface="Calibri"/>
              <a:buNone/>
            </a:pPr>
            <a:r>
              <a:rPr b="1" i="0" lang="en" sz="1150" u="none" cap="none" strike="noStrike">
                <a:solidFill>
                  <a:srgbClr val="5C5680"/>
                </a:solidFill>
                <a:latin typeface="Calibri"/>
                <a:ea typeface="Calibri"/>
                <a:cs typeface="Calibri"/>
                <a:sym typeface="Calibri"/>
              </a:rPr>
              <a:t>The practice itself</a:t>
            </a:r>
            <a:endParaRPr b="0" i="0" sz="1150" u="none" cap="none" strike="noStrike">
              <a:solidFill>
                <a:schemeClr val="dk1"/>
              </a:solidFill>
              <a:latin typeface="Calibri"/>
              <a:ea typeface="Calibri"/>
              <a:cs typeface="Calibri"/>
              <a:sym typeface="Calibri"/>
            </a:endParaRPr>
          </a:p>
        </p:txBody>
      </p:sp>
      <p:pic>
        <p:nvPicPr>
          <p:cNvPr descr="shots/course.png" id="441" name="Google Shape;441;p29"/>
          <p:cNvPicPr preferRelativeResize="0"/>
          <p:nvPr/>
        </p:nvPicPr>
        <p:blipFill rotWithShape="1">
          <a:blip r:embed="rId6">
            <a:alphaModFix/>
          </a:blip>
          <a:srcRect b="0" l="0" r="0" t="0"/>
          <a:stretch/>
        </p:blipFill>
        <p:spPr>
          <a:xfrm>
            <a:off x="7004304" y="1417320"/>
            <a:ext cx="1320358" cy="2788920"/>
          </a:xfrm>
          <a:prstGeom prst="rect">
            <a:avLst/>
          </a:prstGeom>
          <a:noFill/>
          <a:ln>
            <a:noFill/>
          </a:ln>
        </p:spPr>
      </p:pic>
      <p:sp>
        <p:nvSpPr>
          <p:cNvPr id="442" name="Google Shape;442;p29"/>
          <p:cNvSpPr/>
          <p:nvPr/>
        </p:nvSpPr>
        <p:spPr>
          <a:xfrm>
            <a:off x="6912864" y="4297680"/>
            <a:ext cx="150323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5680"/>
              </a:buClr>
              <a:buSzPts val="1150"/>
              <a:buFont typeface="Calibri"/>
              <a:buNone/>
            </a:pPr>
            <a:r>
              <a:rPr b="1" i="0" lang="en" sz="1150" u="none" cap="none" strike="noStrike">
                <a:solidFill>
                  <a:srgbClr val="5C5680"/>
                </a:solidFill>
                <a:latin typeface="Calibri"/>
                <a:ea typeface="Calibri"/>
                <a:cs typeface="Calibri"/>
                <a:sym typeface="Calibri"/>
              </a:rPr>
              <a:t>Where support flows back</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7" name="Shape 447"/>
        <p:cNvGrpSpPr/>
        <p:nvPr/>
      </p:nvGrpSpPr>
      <p:grpSpPr>
        <a:xfrm>
          <a:off x="0" y="0"/>
          <a:ext cx="0" cy="0"/>
          <a:chOff x="0" y="0"/>
          <a:chExt cx="0" cy="0"/>
        </a:xfrm>
      </p:grpSpPr>
      <p:sp>
        <p:nvSpPr>
          <p:cNvPr id="448" name="Google Shape;448;p30"/>
          <p:cNvSpPr/>
          <p:nvPr/>
        </p:nvSpPr>
        <p:spPr>
          <a:xfrm>
            <a:off x="548640" y="45720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SUSTAINING THE MISSION</a:t>
            </a:r>
            <a:endParaRPr b="0" i="0" sz="1100" u="none" cap="none" strike="noStrike">
              <a:solidFill>
                <a:schemeClr val="dk1"/>
              </a:solidFill>
              <a:latin typeface="Calibri"/>
              <a:ea typeface="Calibri"/>
              <a:cs typeface="Calibri"/>
              <a:sym typeface="Calibri"/>
            </a:endParaRPr>
          </a:p>
        </p:txBody>
      </p:sp>
      <p:sp>
        <p:nvSpPr>
          <p:cNvPr id="449" name="Google Shape;449;p30"/>
          <p:cNvSpPr/>
          <p:nvPr/>
        </p:nvSpPr>
        <p:spPr>
          <a:xfrm>
            <a:off x="512064" y="749808"/>
            <a:ext cx="8412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400"/>
              <a:buFont typeface="Cambria"/>
              <a:buNone/>
            </a:pPr>
            <a:r>
              <a:rPr b="1" i="0" lang="en" sz="2400" u="none" cap="none" strike="noStrike">
                <a:solidFill>
                  <a:srgbClr val="211B45"/>
                </a:solidFill>
                <a:latin typeface="Cambria"/>
                <a:ea typeface="Cambria"/>
                <a:cs typeface="Cambria"/>
                <a:sym typeface="Cambria"/>
              </a:rPr>
              <a:t>So the work can sustain itself — and reach further</a:t>
            </a:r>
            <a:endParaRPr b="0" i="0" sz="2400" u="none" cap="none" strike="noStrike">
              <a:solidFill>
                <a:schemeClr val="dk1"/>
              </a:solidFill>
              <a:latin typeface="Calibri"/>
              <a:ea typeface="Calibri"/>
              <a:cs typeface="Calibri"/>
              <a:sym typeface="Calibri"/>
            </a:endParaRPr>
          </a:p>
        </p:txBody>
      </p:sp>
      <p:pic>
        <p:nvPicPr>
          <p:cNvPr id="450" name="Google Shape;450;p30"/>
          <p:cNvPicPr preferRelativeResize="0"/>
          <p:nvPr/>
        </p:nvPicPr>
        <p:blipFill rotWithShape="1">
          <a:blip r:embed="rId3">
            <a:alphaModFix/>
          </a:blip>
          <a:srcRect b="0" l="0" r="0" t="0"/>
          <a:stretch/>
        </p:blipFill>
        <p:spPr>
          <a:xfrm>
            <a:off x="457200" y="1600200"/>
            <a:ext cx="5486400" cy="3017520"/>
          </a:xfrm>
          <a:prstGeom prst="rect">
            <a:avLst/>
          </a:prstGeom>
          <a:noFill/>
          <a:ln>
            <a:noFill/>
          </a:ln>
        </p:spPr>
      </p:pic>
      <p:sp>
        <p:nvSpPr>
          <p:cNvPr id="451" name="Google Shape;451;p30"/>
          <p:cNvSpPr/>
          <p:nvPr/>
        </p:nvSpPr>
        <p:spPr>
          <a:xfrm>
            <a:off x="6172200" y="1691640"/>
            <a:ext cx="2514600" cy="2834640"/>
          </a:xfrm>
          <a:prstGeom prst="roundRect">
            <a:avLst>
              <a:gd fmla="val 4364" name="adj"/>
            </a:avLst>
          </a:prstGeom>
          <a:solidFill>
            <a:srgbClr val="211B45"/>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0"/>
          <p:cNvSpPr/>
          <p:nvPr/>
        </p:nvSpPr>
        <p:spPr>
          <a:xfrm>
            <a:off x="6309360" y="1874520"/>
            <a:ext cx="2240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A94B"/>
              </a:buClr>
              <a:buSzPts val="1600"/>
              <a:buFont typeface="Cambria"/>
              <a:buNone/>
            </a:pPr>
            <a:r>
              <a:rPr b="1" i="0" lang="en" sz="1600" u="none" cap="none" strike="noStrike">
                <a:solidFill>
                  <a:srgbClr val="E0A94B"/>
                </a:solidFill>
                <a:latin typeface="Cambria"/>
                <a:ea typeface="Cambria"/>
                <a:cs typeface="Cambria"/>
                <a:sym typeface="Cambria"/>
              </a:rPr>
              <a:t>The courses carry it</a:t>
            </a:r>
            <a:endParaRPr b="0" i="0" sz="1600" u="none" cap="none" strike="noStrike">
              <a:solidFill>
                <a:schemeClr val="dk1"/>
              </a:solidFill>
              <a:latin typeface="Calibri"/>
              <a:ea typeface="Calibri"/>
              <a:cs typeface="Calibri"/>
              <a:sym typeface="Calibri"/>
            </a:endParaRPr>
          </a:p>
        </p:txBody>
      </p:sp>
      <p:sp>
        <p:nvSpPr>
          <p:cNvPr id="453" name="Google Shape;453;p30"/>
          <p:cNvSpPr/>
          <p:nvPr/>
        </p:nvSpPr>
        <p:spPr>
          <a:xfrm>
            <a:off x="6309360" y="2286000"/>
            <a:ext cx="2240280" cy="11887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CFCAE3"/>
              </a:buClr>
              <a:buSzPts val="1150"/>
              <a:buFont typeface="Calibri"/>
              <a:buNone/>
            </a:pPr>
            <a:r>
              <a:rPr b="0" i="0" lang="en" sz="1150" u="none" cap="none" strike="noStrike">
                <a:solidFill>
                  <a:srgbClr val="CFCAE3"/>
                </a:solidFill>
                <a:latin typeface="Calibri"/>
                <a:ea typeface="Calibri"/>
                <a:cs typeface="Calibri"/>
                <a:sym typeface="Calibri"/>
              </a:rPr>
              <a:t>Subscriptions keep the lights on; the signature courses sustain the mission and fund the free practice that reaches everyone else.</a:t>
            </a:r>
            <a:endParaRPr b="0" i="0" sz="1150" u="none" cap="none" strike="noStrike">
              <a:solidFill>
                <a:schemeClr val="dk1"/>
              </a:solidFill>
              <a:latin typeface="Calibri"/>
              <a:ea typeface="Calibri"/>
              <a:cs typeface="Calibri"/>
              <a:sym typeface="Calibri"/>
            </a:endParaRPr>
          </a:p>
        </p:txBody>
      </p:sp>
      <p:sp>
        <p:nvSpPr>
          <p:cNvPr id="454" name="Google Shape;454;p30"/>
          <p:cNvSpPr/>
          <p:nvPr/>
        </p:nvSpPr>
        <p:spPr>
          <a:xfrm>
            <a:off x="6309360" y="3794760"/>
            <a:ext cx="2240280" cy="6400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150"/>
              <a:buFont typeface="Calibri"/>
              <a:buNone/>
            </a:pPr>
            <a:r>
              <a:rPr b="1" i="1" lang="en" sz="1150" u="none" cap="none" strike="noStrike">
                <a:solidFill>
                  <a:srgbClr val="FFFFFF"/>
                </a:solidFill>
                <a:latin typeface="Calibri"/>
                <a:ea typeface="Calibri"/>
                <a:cs typeface="Calibri"/>
                <a:sym typeface="Calibri"/>
              </a:rPr>
              <a:t>The daily practice stays free, always.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9" name="Shape 459"/>
        <p:cNvGrpSpPr/>
        <p:nvPr/>
      </p:nvGrpSpPr>
      <p:grpSpPr>
        <a:xfrm>
          <a:off x="0" y="0"/>
          <a:ext cx="0" cy="0"/>
          <a:chOff x="0" y="0"/>
          <a:chExt cx="0" cy="0"/>
        </a:xfrm>
      </p:grpSpPr>
      <p:sp>
        <p:nvSpPr>
          <p:cNvPr id="460" name="Google Shape;460;p31"/>
          <p:cNvSpPr/>
          <p:nvPr/>
        </p:nvSpPr>
        <p:spPr>
          <a:xfrm>
            <a:off x="548640" y="36576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RISKS &amp; HOW WE HOLD THEM</a:t>
            </a:r>
            <a:endParaRPr b="0" i="0" sz="1100" u="none" cap="none" strike="noStrike">
              <a:solidFill>
                <a:schemeClr val="dk1"/>
              </a:solidFill>
              <a:latin typeface="Calibri"/>
              <a:ea typeface="Calibri"/>
              <a:cs typeface="Calibri"/>
              <a:sym typeface="Calibri"/>
            </a:endParaRPr>
          </a:p>
        </p:txBody>
      </p:sp>
      <p:sp>
        <p:nvSpPr>
          <p:cNvPr id="461" name="Google Shape;461;p31"/>
          <p:cNvSpPr/>
          <p:nvPr/>
        </p:nvSpPr>
        <p:spPr>
          <a:xfrm>
            <a:off x="512064" y="65836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900"/>
              <a:buFont typeface="Cambria"/>
              <a:buNone/>
            </a:pPr>
            <a:r>
              <a:rPr b="1" i="0" lang="en" sz="2900" u="none" cap="none" strike="noStrike">
                <a:solidFill>
                  <a:srgbClr val="211B45"/>
                </a:solidFill>
                <a:latin typeface="Cambria"/>
                <a:ea typeface="Cambria"/>
                <a:cs typeface="Cambria"/>
                <a:sym typeface="Cambria"/>
              </a:rPr>
              <a:t>What we are watchful of</a:t>
            </a:r>
            <a:endParaRPr b="0" i="0" sz="2900" u="none" cap="none" strike="noStrike">
              <a:solidFill>
                <a:schemeClr val="dk1"/>
              </a:solidFill>
              <a:latin typeface="Calibri"/>
              <a:ea typeface="Calibri"/>
              <a:cs typeface="Calibri"/>
              <a:sym typeface="Calibri"/>
            </a:endParaRPr>
          </a:p>
        </p:txBody>
      </p:sp>
      <p:sp>
        <p:nvSpPr>
          <p:cNvPr id="462" name="Google Shape;462;p31"/>
          <p:cNvSpPr/>
          <p:nvPr/>
        </p:nvSpPr>
        <p:spPr>
          <a:xfrm>
            <a:off x="548640" y="1499616"/>
            <a:ext cx="128016" cy="128016"/>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1"/>
          <p:cNvSpPr/>
          <p:nvPr/>
        </p:nvSpPr>
        <p:spPr>
          <a:xfrm>
            <a:off x="804672" y="141732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00"/>
              <a:buFont typeface="Calibri"/>
              <a:buNone/>
            </a:pPr>
            <a:r>
              <a:rPr b="1" i="0" lang="en" sz="1300" u="none" cap="none" strike="noStrike">
                <a:solidFill>
                  <a:srgbClr val="211B45"/>
                </a:solidFill>
                <a:latin typeface="Calibri"/>
                <a:ea typeface="Calibri"/>
                <a:cs typeface="Calibri"/>
                <a:sym typeface="Calibri"/>
              </a:rPr>
              <a:t>Feeling like a “sales machine”</a:t>
            </a:r>
            <a:endParaRPr b="0" i="0" sz="1300" u="none" cap="none" strike="noStrike">
              <a:solidFill>
                <a:schemeClr val="dk1"/>
              </a:solidFill>
              <a:latin typeface="Calibri"/>
              <a:ea typeface="Calibri"/>
              <a:cs typeface="Calibri"/>
              <a:sym typeface="Calibri"/>
            </a:endParaRPr>
          </a:p>
        </p:txBody>
      </p:sp>
      <p:sp>
        <p:nvSpPr>
          <p:cNvPr id="464" name="Google Shape;464;p31"/>
          <p:cNvSpPr/>
          <p:nvPr/>
        </p:nvSpPr>
        <p:spPr>
          <a:xfrm>
            <a:off x="804672" y="1737360"/>
            <a:ext cx="3794760"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080"/>
              <a:buFont typeface="Calibri"/>
              <a:buNone/>
            </a:pPr>
            <a:r>
              <a:rPr b="0" i="0" lang="en" sz="1080" u="none" cap="none" strike="noStrike">
                <a:solidFill>
                  <a:srgbClr val="5C5680"/>
                </a:solidFill>
                <a:latin typeface="Calibri"/>
                <a:ea typeface="Calibri"/>
                <a:cs typeface="Calibri"/>
                <a:sym typeface="Calibri"/>
              </a:rPr>
              <a:t>Trust before any ask. The daily practice is free forever; courses are offered, never pushed.</a:t>
            </a:r>
            <a:endParaRPr b="0" i="0" sz="1080" u="none" cap="none" strike="noStrike">
              <a:solidFill>
                <a:schemeClr val="dk1"/>
              </a:solidFill>
              <a:latin typeface="Calibri"/>
              <a:ea typeface="Calibri"/>
              <a:cs typeface="Calibri"/>
              <a:sym typeface="Calibri"/>
            </a:endParaRPr>
          </a:p>
        </p:txBody>
      </p:sp>
      <p:sp>
        <p:nvSpPr>
          <p:cNvPr id="465" name="Google Shape;465;p31"/>
          <p:cNvSpPr/>
          <p:nvPr/>
        </p:nvSpPr>
        <p:spPr>
          <a:xfrm>
            <a:off x="4572000" y="1499616"/>
            <a:ext cx="128016" cy="128016"/>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1"/>
          <p:cNvSpPr/>
          <p:nvPr/>
        </p:nvSpPr>
        <p:spPr>
          <a:xfrm>
            <a:off x="4828032" y="141732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00"/>
              <a:buFont typeface="Calibri"/>
              <a:buNone/>
            </a:pPr>
            <a:r>
              <a:rPr b="1" i="0" lang="en" sz="1300" u="none" cap="none" strike="noStrike">
                <a:solidFill>
                  <a:srgbClr val="211B45"/>
                </a:solidFill>
                <a:latin typeface="Calibri"/>
                <a:ea typeface="Calibri"/>
                <a:cs typeface="Calibri"/>
                <a:sym typeface="Calibri"/>
              </a:rPr>
              <a:t>An AI guiding the spirit</a:t>
            </a:r>
            <a:endParaRPr b="0" i="0" sz="1300" u="none" cap="none" strike="noStrike">
              <a:solidFill>
                <a:schemeClr val="dk1"/>
              </a:solidFill>
              <a:latin typeface="Calibri"/>
              <a:ea typeface="Calibri"/>
              <a:cs typeface="Calibri"/>
              <a:sym typeface="Calibri"/>
            </a:endParaRPr>
          </a:p>
        </p:txBody>
      </p:sp>
      <p:sp>
        <p:nvSpPr>
          <p:cNvPr id="467" name="Google Shape;467;p31"/>
          <p:cNvSpPr/>
          <p:nvPr/>
        </p:nvSpPr>
        <p:spPr>
          <a:xfrm>
            <a:off x="4828032" y="1737360"/>
            <a:ext cx="3794760"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080"/>
              <a:buFont typeface="Calibri"/>
              <a:buNone/>
            </a:pPr>
            <a:r>
              <a:rPr b="0" i="0" lang="en" sz="1080" u="none" cap="none" strike="noStrike">
                <a:solidFill>
                  <a:srgbClr val="5C5680"/>
                </a:solidFill>
                <a:latin typeface="Calibri"/>
                <a:ea typeface="Calibri"/>
                <a:cs typeface="Calibri"/>
                <a:sym typeface="Calibri"/>
              </a:rPr>
              <a:t>Sahaj surfaces Gurudev’s authentic teachings and points to real teachers — it never invents spiritual advice.</a:t>
            </a:r>
            <a:endParaRPr b="0" i="0" sz="1080" u="none" cap="none" strike="noStrike">
              <a:solidFill>
                <a:schemeClr val="dk1"/>
              </a:solidFill>
              <a:latin typeface="Calibri"/>
              <a:ea typeface="Calibri"/>
              <a:cs typeface="Calibri"/>
              <a:sym typeface="Calibri"/>
            </a:endParaRPr>
          </a:p>
        </p:txBody>
      </p:sp>
      <p:sp>
        <p:nvSpPr>
          <p:cNvPr id="468" name="Google Shape;468;p31"/>
          <p:cNvSpPr/>
          <p:nvPr/>
        </p:nvSpPr>
        <p:spPr>
          <a:xfrm>
            <a:off x="548640" y="2551176"/>
            <a:ext cx="128016" cy="128016"/>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1"/>
          <p:cNvSpPr/>
          <p:nvPr/>
        </p:nvSpPr>
        <p:spPr>
          <a:xfrm>
            <a:off x="804672" y="246888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00"/>
              <a:buFont typeface="Calibri"/>
              <a:buNone/>
            </a:pPr>
            <a:r>
              <a:rPr b="1" i="0" lang="en" sz="1300" u="none" cap="none" strike="noStrike">
                <a:solidFill>
                  <a:srgbClr val="211B45"/>
                </a:solidFill>
                <a:latin typeface="Calibri"/>
                <a:ea typeface="Calibri"/>
                <a:cs typeface="Calibri"/>
                <a:sym typeface="Calibri"/>
              </a:rPr>
              <a:t>Over-reliance &amp; wellbeing</a:t>
            </a:r>
            <a:endParaRPr b="0" i="0" sz="1300" u="none" cap="none" strike="noStrike">
              <a:solidFill>
                <a:schemeClr val="dk1"/>
              </a:solidFill>
              <a:latin typeface="Calibri"/>
              <a:ea typeface="Calibri"/>
              <a:cs typeface="Calibri"/>
              <a:sym typeface="Calibri"/>
            </a:endParaRPr>
          </a:p>
        </p:txBody>
      </p:sp>
      <p:sp>
        <p:nvSpPr>
          <p:cNvPr id="470" name="Google Shape;470;p31"/>
          <p:cNvSpPr/>
          <p:nvPr/>
        </p:nvSpPr>
        <p:spPr>
          <a:xfrm>
            <a:off x="804672" y="2788920"/>
            <a:ext cx="3794760"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080"/>
              <a:buFont typeface="Calibri"/>
              <a:buNone/>
            </a:pPr>
            <a:r>
              <a:rPr b="0" i="0" lang="en" sz="1080" u="none" cap="none" strike="noStrike">
                <a:solidFill>
                  <a:srgbClr val="5C5680"/>
                </a:solidFill>
                <a:latin typeface="Calibri"/>
                <a:ea typeface="Calibri"/>
                <a:cs typeface="Calibri"/>
                <a:sym typeface="Calibri"/>
              </a:rPr>
              <a:t>The app encourages real practice and community, not endless screen time.</a:t>
            </a:r>
            <a:endParaRPr b="0" i="0" sz="1080" u="none" cap="none" strike="noStrike">
              <a:solidFill>
                <a:schemeClr val="dk1"/>
              </a:solidFill>
              <a:latin typeface="Calibri"/>
              <a:ea typeface="Calibri"/>
              <a:cs typeface="Calibri"/>
              <a:sym typeface="Calibri"/>
            </a:endParaRPr>
          </a:p>
        </p:txBody>
      </p:sp>
      <p:sp>
        <p:nvSpPr>
          <p:cNvPr id="471" name="Google Shape;471;p31"/>
          <p:cNvSpPr/>
          <p:nvPr/>
        </p:nvSpPr>
        <p:spPr>
          <a:xfrm>
            <a:off x="4572000" y="2551176"/>
            <a:ext cx="128016" cy="128016"/>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1"/>
          <p:cNvSpPr/>
          <p:nvPr/>
        </p:nvSpPr>
        <p:spPr>
          <a:xfrm>
            <a:off x="4828032" y="246888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00"/>
              <a:buFont typeface="Calibri"/>
              <a:buNone/>
            </a:pPr>
            <a:r>
              <a:rPr b="1" i="0" lang="en" sz="1300" u="none" cap="none" strike="noStrike">
                <a:solidFill>
                  <a:srgbClr val="211B45"/>
                </a:solidFill>
                <a:latin typeface="Calibri"/>
                <a:ea typeface="Calibri"/>
                <a:cs typeface="Calibri"/>
                <a:sym typeface="Calibri"/>
              </a:rPr>
              <a:t>Holding the habit</a:t>
            </a:r>
            <a:endParaRPr b="0" i="0" sz="1300" u="none" cap="none" strike="noStrike">
              <a:solidFill>
                <a:schemeClr val="dk1"/>
              </a:solidFill>
              <a:latin typeface="Calibri"/>
              <a:ea typeface="Calibri"/>
              <a:cs typeface="Calibri"/>
              <a:sym typeface="Calibri"/>
            </a:endParaRPr>
          </a:p>
        </p:txBody>
      </p:sp>
      <p:sp>
        <p:nvSpPr>
          <p:cNvPr id="473" name="Google Shape;473;p31"/>
          <p:cNvSpPr/>
          <p:nvPr/>
        </p:nvSpPr>
        <p:spPr>
          <a:xfrm>
            <a:off x="4828032" y="2788920"/>
            <a:ext cx="3794760"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080"/>
              <a:buFont typeface="Calibri"/>
              <a:buNone/>
            </a:pPr>
            <a:r>
              <a:rPr b="0" i="0" lang="en" sz="1080" u="none" cap="none" strike="noStrike">
                <a:solidFill>
                  <a:srgbClr val="5C5680"/>
                </a:solidFill>
                <a:latin typeface="Calibri"/>
                <a:ea typeface="Calibri"/>
                <a:cs typeface="Calibri"/>
                <a:sym typeface="Calibri"/>
              </a:rPr>
              <a:t>Retention is the hardest problem; Phase 1 is dedicated to it before anything else.</a:t>
            </a:r>
            <a:endParaRPr b="0" i="0" sz="1080" u="none" cap="none" strike="noStrike">
              <a:solidFill>
                <a:schemeClr val="dk1"/>
              </a:solidFill>
              <a:latin typeface="Calibri"/>
              <a:ea typeface="Calibri"/>
              <a:cs typeface="Calibri"/>
              <a:sym typeface="Calibri"/>
            </a:endParaRPr>
          </a:p>
        </p:txBody>
      </p:sp>
      <p:sp>
        <p:nvSpPr>
          <p:cNvPr id="474" name="Google Shape;474;p31"/>
          <p:cNvSpPr/>
          <p:nvPr/>
        </p:nvSpPr>
        <p:spPr>
          <a:xfrm>
            <a:off x="548640" y="3602736"/>
            <a:ext cx="128016" cy="128016"/>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1"/>
          <p:cNvSpPr/>
          <p:nvPr/>
        </p:nvSpPr>
        <p:spPr>
          <a:xfrm>
            <a:off x="804672" y="352044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00"/>
              <a:buFont typeface="Calibri"/>
              <a:buNone/>
            </a:pPr>
            <a:r>
              <a:rPr b="1" i="0" lang="en" sz="1300" u="none" cap="none" strike="noStrike">
                <a:solidFill>
                  <a:srgbClr val="211B45"/>
                </a:solidFill>
                <a:latin typeface="Calibri"/>
                <a:ea typeface="Calibri"/>
                <a:cs typeface="Calibri"/>
                <a:sym typeface="Calibri"/>
              </a:rPr>
              <a:t>Secular door, spiritual depth</a:t>
            </a:r>
            <a:endParaRPr b="0" i="0" sz="1300" u="none" cap="none" strike="noStrike">
              <a:solidFill>
                <a:schemeClr val="dk1"/>
              </a:solidFill>
              <a:latin typeface="Calibri"/>
              <a:ea typeface="Calibri"/>
              <a:cs typeface="Calibri"/>
              <a:sym typeface="Calibri"/>
            </a:endParaRPr>
          </a:p>
        </p:txBody>
      </p:sp>
      <p:sp>
        <p:nvSpPr>
          <p:cNvPr id="476" name="Google Shape;476;p31"/>
          <p:cNvSpPr/>
          <p:nvPr/>
        </p:nvSpPr>
        <p:spPr>
          <a:xfrm>
            <a:off x="804672" y="3840480"/>
            <a:ext cx="3794760"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080"/>
              <a:buFont typeface="Calibri"/>
              <a:buNone/>
            </a:pPr>
            <a:r>
              <a:rPr b="0" i="0" lang="en" sz="1080" u="none" cap="none" strike="noStrike">
                <a:solidFill>
                  <a:srgbClr val="5C5680"/>
                </a:solidFill>
                <a:latin typeface="Calibri"/>
                <a:ea typeface="Calibri"/>
                <a:cs typeface="Calibri"/>
                <a:sym typeface="Calibri"/>
              </a:rPr>
              <a:t>Welcoming to newcomers without diluting the tradition — a balance we design for, carefully.</a:t>
            </a:r>
            <a:endParaRPr b="0" i="0" sz="1080" u="none" cap="none" strike="noStrike">
              <a:solidFill>
                <a:schemeClr val="dk1"/>
              </a:solidFill>
              <a:latin typeface="Calibri"/>
              <a:ea typeface="Calibri"/>
              <a:cs typeface="Calibri"/>
              <a:sym typeface="Calibri"/>
            </a:endParaRPr>
          </a:p>
        </p:txBody>
      </p:sp>
      <p:sp>
        <p:nvSpPr>
          <p:cNvPr id="477" name="Google Shape;477;p31"/>
          <p:cNvSpPr/>
          <p:nvPr/>
        </p:nvSpPr>
        <p:spPr>
          <a:xfrm>
            <a:off x="4572000" y="3602736"/>
            <a:ext cx="128016" cy="128016"/>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1"/>
          <p:cNvSpPr/>
          <p:nvPr/>
        </p:nvSpPr>
        <p:spPr>
          <a:xfrm>
            <a:off x="4828032" y="352044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00"/>
              <a:buFont typeface="Calibri"/>
              <a:buNone/>
            </a:pPr>
            <a:r>
              <a:rPr b="1" i="0" lang="en" sz="1300" u="none" cap="none" strike="noStrike">
                <a:solidFill>
                  <a:srgbClr val="211B45"/>
                </a:solidFill>
                <a:latin typeface="Calibri"/>
                <a:ea typeface="Calibri"/>
                <a:cs typeface="Calibri"/>
                <a:sym typeface="Calibri"/>
              </a:rPr>
              <a:t>Privacy &amp; competition</a:t>
            </a:r>
            <a:endParaRPr b="0" i="0" sz="1300" u="none" cap="none" strike="noStrike">
              <a:solidFill>
                <a:schemeClr val="dk1"/>
              </a:solidFill>
              <a:latin typeface="Calibri"/>
              <a:ea typeface="Calibri"/>
              <a:cs typeface="Calibri"/>
              <a:sym typeface="Calibri"/>
            </a:endParaRPr>
          </a:p>
        </p:txBody>
      </p:sp>
      <p:sp>
        <p:nvSpPr>
          <p:cNvPr id="479" name="Google Shape;479;p31"/>
          <p:cNvSpPr/>
          <p:nvPr/>
        </p:nvSpPr>
        <p:spPr>
          <a:xfrm>
            <a:off x="4828032" y="3840480"/>
            <a:ext cx="3794760"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5680"/>
              </a:buClr>
              <a:buSzPts val="1080"/>
              <a:buFont typeface="Calibri"/>
              <a:buNone/>
            </a:pPr>
            <a:r>
              <a:rPr b="0" i="0" lang="en" sz="1080" u="none" cap="none" strike="noStrike">
                <a:solidFill>
                  <a:srgbClr val="5C5680"/>
                </a:solidFill>
                <a:latin typeface="Calibri"/>
                <a:ea typeface="Calibri"/>
                <a:cs typeface="Calibri"/>
                <a:sym typeface="Calibri"/>
              </a:rPr>
              <a:t>Practice data is treated as sacred; our assets (Sangha, wisdom, SKY) cannot be copied.</a:t>
            </a:r>
            <a:endParaRPr b="0" i="0" sz="108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B45"/>
        </a:solidFill>
      </p:bgPr>
    </p:bg>
    <p:spTree>
      <p:nvGrpSpPr>
        <p:cNvPr id="484" name="Shape 484"/>
        <p:cNvGrpSpPr/>
        <p:nvPr/>
      </p:nvGrpSpPr>
      <p:grpSpPr>
        <a:xfrm>
          <a:off x="0" y="0"/>
          <a:ext cx="0" cy="0"/>
          <a:chOff x="0" y="0"/>
          <a:chExt cx="0" cy="0"/>
        </a:xfrm>
      </p:grpSpPr>
      <p:sp>
        <p:nvSpPr>
          <p:cNvPr id="485" name="Google Shape;485;p32"/>
          <p:cNvSpPr/>
          <p:nvPr/>
        </p:nvSpPr>
        <p:spPr>
          <a:xfrm>
            <a:off x="6217920" y="2560320"/>
            <a:ext cx="4572000" cy="4572000"/>
          </a:xfrm>
          <a:prstGeom prst="ellipse">
            <a:avLst/>
          </a:prstGeom>
          <a:solidFill>
            <a:srgbClr val="2B25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2"/>
          <p:cNvSpPr/>
          <p:nvPr/>
        </p:nvSpPr>
        <p:spPr>
          <a:xfrm>
            <a:off x="640080" y="5486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A94B"/>
              </a:buClr>
              <a:buSzPts val="1100"/>
              <a:buFont typeface="Calibri"/>
              <a:buNone/>
            </a:pPr>
            <a:r>
              <a:rPr b="1" i="0" lang="en" sz="1100" u="none" cap="none" strike="noStrike">
                <a:solidFill>
                  <a:srgbClr val="E0A94B"/>
                </a:solidFill>
                <a:latin typeface="Calibri"/>
                <a:ea typeface="Calibri"/>
                <a:cs typeface="Calibri"/>
                <a:sym typeface="Calibri"/>
              </a:rPr>
              <a:t>WITH YOUR GUIDANCE</a:t>
            </a:r>
            <a:endParaRPr b="0" i="0" sz="1100" u="none" cap="none" strike="noStrike">
              <a:solidFill>
                <a:schemeClr val="dk1"/>
              </a:solidFill>
              <a:latin typeface="Calibri"/>
              <a:ea typeface="Calibri"/>
              <a:cs typeface="Calibri"/>
              <a:sym typeface="Calibri"/>
            </a:endParaRPr>
          </a:p>
        </p:txBody>
      </p:sp>
      <p:sp>
        <p:nvSpPr>
          <p:cNvPr id="487" name="Google Shape;487;p32"/>
          <p:cNvSpPr/>
          <p:nvPr/>
        </p:nvSpPr>
        <p:spPr>
          <a:xfrm>
            <a:off x="603504" y="914400"/>
            <a:ext cx="6400800" cy="12801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3400"/>
              <a:buFont typeface="Cambria"/>
              <a:buNone/>
            </a:pPr>
            <a:r>
              <a:rPr b="1" i="0" lang="en" sz="3400" u="none" cap="none" strike="noStrike">
                <a:solidFill>
                  <a:srgbClr val="FFFFFF"/>
                </a:solidFill>
                <a:latin typeface="Cambria"/>
                <a:ea typeface="Cambria"/>
                <a:cs typeface="Cambria"/>
                <a:sym typeface="Cambria"/>
              </a:rPr>
              <a:t>Light the lamp once.</a:t>
            </a:r>
            <a:endParaRPr b="0" i="0" sz="3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3400"/>
              <a:buFont typeface="Cambria"/>
              <a:buNone/>
            </a:pPr>
            <a:r>
              <a:rPr b="1" i="0" lang="en" sz="3400" u="none" cap="none" strike="noStrike">
                <a:solidFill>
                  <a:srgbClr val="FFFFFF"/>
                </a:solidFill>
                <a:latin typeface="Cambria"/>
                <a:ea typeface="Cambria"/>
                <a:cs typeface="Cambria"/>
                <a:sym typeface="Cambria"/>
              </a:rPr>
              <a:t>Keep it lit, everywhere.</a:t>
            </a:r>
            <a:endParaRPr b="0" i="0" sz="3400" u="none" cap="none" strike="noStrike">
              <a:solidFill>
                <a:schemeClr val="dk1"/>
              </a:solidFill>
              <a:latin typeface="Calibri"/>
              <a:ea typeface="Calibri"/>
              <a:cs typeface="Calibri"/>
              <a:sym typeface="Calibri"/>
            </a:endParaRPr>
          </a:p>
        </p:txBody>
      </p:sp>
      <p:sp>
        <p:nvSpPr>
          <p:cNvPr id="488" name="Google Shape;488;p32"/>
          <p:cNvSpPr/>
          <p:nvPr/>
        </p:nvSpPr>
        <p:spPr>
          <a:xfrm>
            <a:off x="640080" y="2468880"/>
            <a:ext cx="5943600" cy="10972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CFCAE3"/>
              </a:buClr>
              <a:buSzPts val="1400"/>
              <a:buFont typeface="Calibri"/>
              <a:buNone/>
            </a:pPr>
            <a:r>
              <a:rPr b="0" i="0" lang="en" sz="1400" u="none" cap="none" strike="noStrike">
                <a:solidFill>
                  <a:srgbClr val="CFCAE3"/>
                </a:solidFill>
                <a:latin typeface="Calibri"/>
                <a:ea typeface="Calibri"/>
                <a:cs typeface="Calibri"/>
                <a:sym typeface="Calibri"/>
              </a:rPr>
              <a:t>A guided practice in every pocket. A calmer mind each morning. A Sangha that travels with you. The same wisdom, carried further than ever — and a product that sustains the work so it can keep reaching.</a:t>
            </a:r>
            <a:endParaRPr b="0" i="0" sz="1400" u="none" cap="none" strike="noStrike">
              <a:solidFill>
                <a:schemeClr val="dk1"/>
              </a:solidFill>
              <a:latin typeface="Calibri"/>
              <a:ea typeface="Calibri"/>
              <a:cs typeface="Calibri"/>
              <a:sym typeface="Calibri"/>
            </a:endParaRPr>
          </a:p>
        </p:txBody>
      </p:sp>
      <p:sp>
        <p:nvSpPr>
          <p:cNvPr id="489" name="Google Shape;489;p32"/>
          <p:cNvSpPr/>
          <p:nvPr/>
        </p:nvSpPr>
        <p:spPr>
          <a:xfrm>
            <a:off x="5488595" y="4059936"/>
            <a:ext cx="269931" cy="374904"/>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2"/>
          <p:cNvSpPr/>
          <p:nvPr/>
        </p:nvSpPr>
        <p:spPr>
          <a:xfrm>
            <a:off x="5556077" y="4119921"/>
            <a:ext cx="134965" cy="224942"/>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2"/>
          <p:cNvSpPr/>
          <p:nvPr/>
        </p:nvSpPr>
        <p:spPr>
          <a:xfrm>
            <a:off x="5211166" y="4434840"/>
            <a:ext cx="824789" cy="164958"/>
          </a:xfrm>
          <a:prstGeom prst="ellipse">
            <a:avLst/>
          </a:prstGeom>
          <a:solidFill>
            <a:srgbClr val="C989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2"/>
          <p:cNvSpPr/>
          <p:nvPr/>
        </p:nvSpPr>
        <p:spPr>
          <a:xfrm>
            <a:off x="5248656" y="4412346"/>
            <a:ext cx="749808" cy="97475"/>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2"/>
          <p:cNvSpPr/>
          <p:nvPr/>
        </p:nvSpPr>
        <p:spPr>
          <a:xfrm>
            <a:off x="640080" y="416052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A94B"/>
              </a:buClr>
              <a:buSzPts val="1700"/>
              <a:buFont typeface="Cambria"/>
              <a:buNone/>
            </a:pPr>
            <a:r>
              <a:rPr b="1" i="1" lang="en" sz="1700" u="none" cap="none" strike="noStrike">
                <a:solidFill>
                  <a:srgbClr val="E0A94B"/>
                </a:solidFill>
                <a:latin typeface="Cambria"/>
                <a:ea typeface="Cambria"/>
                <a:cs typeface="Cambria"/>
                <a:sym typeface="Cambria"/>
              </a:rPr>
              <a:t>We seek your blessings to begin.</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EE"/>
        </a:solidFill>
      </p:bgPr>
    </p:bg>
    <p:spTree>
      <p:nvGrpSpPr>
        <p:cNvPr id="498" name="Shape 498"/>
        <p:cNvGrpSpPr/>
        <p:nvPr/>
      </p:nvGrpSpPr>
      <p:grpSpPr>
        <a:xfrm>
          <a:off x="0" y="0"/>
          <a:ext cx="0" cy="0"/>
          <a:chOff x="0" y="0"/>
          <a:chExt cx="0" cy="0"/>
        </a:xfrm>
      </p:grpSpPr>
      <p:sp>
        <p:nvSpPr>
          <p:cNvPr id="499" name="Google Shape;499;p33"/>
          <p:cNvSpPr/>
          <p:nvPr/>
        </p:nvSpPr>
        <p:spPr>
          <a:xfrm>
            <a:off x="4423867" y="2331720"/>
            <a:ext cx="296266" cy="411480"/>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3"/>
          <p:cNvSpPr/>
          <p:nvPr/>
        </p:nvSpPr>
        <p:spPr>
          <a:xfrm>
            <a:off x="4497934" y="2397557"/>
            <a:ext cx="148133" cy="246888"/>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3"/>
          <p:cNvSpPr/>
          <p:nvPr/>
        </p:nvSpPr>
        <p:spPr>
          <a:xfrm>
            <a:off x="4119372" y="2743200"/>
            <a:ext cx="905256" cy="181051"/>
          </a:xfrm>
          <a:prstGeom prst="ellipse">
            <a:avLst/>
          </a:prstGeom>
          <a:solidFill>
            <a:srgbClr val="C989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3"/>
          <p:cNvSpPr/>
          <p:nvPr/>
        </p:nvSpPr>
        <p:spPr>
          <a:xfrm>
            <a:off x="4160520" y="2718511"/>
            <a:ext cx="822960" cy="106985"/>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3"/>
          <p:cNvSpPr/>
          <p:nvPr/>
        </p:nvSpPr>
        <p:spPr>
          <a:xfrm>
            <a:off x="0" y="2011680"/>
            <a:ext cx="91440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11B45"/>
              </a:buClr>
              <a:buSzPts val="3000"/>
              <a:buFont typeface="Cambria"/>
              <a:buNone/>
            </a:pPr>
            <a:r>
              <a:rPr b="1" i="0" lang="en" sz="3000" u="none" cap="none" strike="noStrike">
                <a:solidFill>
                  <a:srgbClr val="211B45"/>
                </a:solidFill>
                <a:latin typeface="Cambria"/>
                <a:ea typeface="Cambria"/>
                <a:cs typeface="Cambria"/>
                <a:sym typeface="Cambria"/>
              </a:rPr>
              <a:t>Appendix</a:t>
            </a:r>
            <a:endParaRPr b="0" i="0" sz="3000" u="none" cap="none" strike="noStrike">
              <a:solidFill>
                <a:schemeClr val="dk1"/>
              </a:solidFill>
              <a:latin typeface="Calibri"/>
              <a:ea typeface="Calibri"/>
              <a:cs typeface="Calibri"/>
              <a:sym typeface="Calibri"/>
            </a:endParaRPr>
          </a:p>
        </p:txBody>
      </p:sp>
      <p:sp>
        <p:nvSpPr>
          <p:cNvPr id="504" name="Google Shape;504;p33"/>
          <p:cNvSpPr/>
          <p:nvPr/>
        </p:nvSpPr>
        <p:spPr>
          <a:xfrm>
            <a:off x="0" y="2880360"/>
            <a:ext cx="91440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5680"/>
              </a:buClr>
              <a:buSzPts val="1200"/>
              <a:buFont typeface="Calibri"/>
              <a:buNone/>
            </a:pPr>
            <a:r>
              <a:rPr b="0" i="0" lang="en" sz="1200" u="none" cap="none" strike="noStrike">
                <a:solidFill>
                  <a:srgbClr val="5C5680"/>
                </a:solidFill>
                <a:latin typeface="Calibri"/>
                <a:ea typeface="Calibri"/>
                <a:cs typeface="Calibri"/>
                <a:sym typeface="Calibri"/>
              </a:rPr>
              <a:t>Architecture · detailed roadmap &amp; value–effort · market · the numbers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9" name="Shape 509"/>
        <p:cNvGrpSpPr/>
        <p:nvPr/>
      </p:nvGrpSpPr>
      <p:grpSpPr>
        <a:xfrm>
          <a:off x="0" y="0"/>
          <a:ext cx="0" cy="0"/>
          <a:chOff x="0" y="0"/>
          <a:chExt cx="0" cy="0"/>
        </a:xfrm>
      </p:grpSpPr>
      <p:sp>
        <p:nvSpPr>
          <p:cNvPr id="510" name="Google Shape;510;p34"/>
          <p:cNvSpPr/>
          <p:nvPr/>
        </p:nvSpPr>
        <p:spPr>
          <a:xfrm>
            <a:off x="548640" y="41148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APPENDIX · MARKET</a:t>
            </a:r>
            <a:endParaRPr b="0" i="0" sz="1100" u="none" cap="none" strike="noStrike">
              <a:solidFill>
                <a:schemeClr val="dk1"/>
              </a:solidFill>
              <a:latin typeface="Calibri"/>
              <a:ea typeface="Calibri"/>
              <a:cs typeface="Calibri"/>
              <a:sym typeface="Calibri"/>
            </a:endParaRPr>
          </a:p>
        </p:txBody>
      </p:sp>
      <p:sp>
        <p:nvSpPr>
          <p:cNvPr id="511" name="Google Shape;511;p34"/>
          <p:cNvSpPr/>
          <p:nvPr/>
        </p:nvSpPr>
        <p:spPr>
          <a:xfrm>
            <a:off x="512064" y="70408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800"/>
              <a:buFont typeface="Cambria"/>
              <a:buNone/>
            </a:pPr>
            <a:r>
              <a:rPr b="1" i="0" lang="en" sz="2800" u="none" cap="none" strike="noStrike">
                <a:solidFill>
                  <a:srgbClr val="211B45"/>
                </a:solidFill>
                <a:latin typeface="Cambria"/>
                <a:ea typeface="Cambria"/>
                <a:cs typeface="Cambria"/>
                <a:sym typeface="Cambria"/>
              </a:rPr>
              <a:t>A growing need, a global footprint</a:t>
            </a:r>
            <a:endParaRPr b="0" i="0" sz="2800" u="none" cap="none" strike="noStrike">
              <a:solidFill>
                <a:schemeClr val="dk1"/>
              </a:solidFill>
              <a:latin typeface="Calibri"/>
              <a:ea typeface="Calibri"/>
              <a:cs typeface="Calibri"/>
              <a:sym typeface="Calibri"/>
            </a:endParaRPr>
          </a:p>
        </p:txBody>
      </p:sp>
      <p:sp>
        <p:nvSpPr>
          <p:cNvPr id="512" name="Google Shape;512;p34"/>
          <p:cNvSpPr/>
          <p:nvPr/>
        </p:nvSpPr>
        <p:spPr>
          <a:xfrm>
            <a:off x="566928" y="1591056"/>
            <a:ext cx="146304" cy="146304"/>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4"/>
          <p:cNvSpPr/>
          <p:nvPr/>
        </p:nvSpPr>
        <p:spPr>
          <a:xfrm>
            <a:off x="868680" y="1508760"/>
            <a:ext cx="7589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400"/>
              <a:buFont typeface="Calibri"/>
              <a:buNone/>
            </a:pPr>
            <a:r>
              <a:rPr b="1" i="0" lang="en" sz="1400" u="none" cap="none" strike="noStrike">
                <a:solidFill>
                  <a:srgbClr val="211B45"/>
                </a:solidFill>
                <a:latin typeface="Calibri"/>
                <a:ea typeface="Calibri"/>
                <a:cs typeface="Calibri"/>
                <a:sym typeface="Calibri"/>
              </a:rPr>
              <a:t>A rising tide</a:t>
            </a:r>
            <a:endParaRPr b="0" i="0" sz="1400" u="none" cap="none" strike="noStrike">
              <a:solidFill>
                <a:schemeClr val="dk1"/>
              </a:solidFill>
              <a:latin typeface="Calibri"/>
              <a:ea typeface="Calibri"/>
              <a:cs typeface="Calibri"/>
              <a:sym typeface="Calibri"/>
            </a:endParaRPr>
          </a:p>
        </p:txBody>
      </p:sp>
      <p:sp>
        <p:nvSpPr>
          <p:cNvPr id="514" name="Google Shape;514;p34"/>
          <p:cNvSpPr/>
          <p:nvPr/>
        </p:nvSpPr>
        <p:spPr>
          <a:xfrm>
            <a:off x="868680" y="1847088"/>
            <a:ext cx="758952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C5680"/>
              </a:buClr>
              <a:buSzPts val="1200"/>
              <a:buFont typeface="Calibri"/>
              <a:buNone/>
            </a:pPr>
            <a:r>
              <a:rPr b="0" i="0" lang="en" sz="1200" u="none" cap="none" strike="noStrike">
                <a:solidFill>
                  <a:srgbClr val="5C5680"/>
                </a:solidFill>
                <a:latin typeface="Calibri"/>
                <a:ea typeface="Calibri"/>
                <a:cs typeface="Calibri"/>
                <a:sym typeface="Calibri"/>
              </a:rPr>
              <a:t>Guided-wellness and meditation apps are among the fastest-growing consumer categories worldwide — and India is still early.</a:t>
            </a:r>
            <a:endParaRPr b="0" i="0" sz="1200" u="none" cap="none" strike="noStrike">
              <a:solidFill>
                <a:schemeClr val="dk1"/>
              </a:solidFill>
              <a:latin typeface="Calibri"/>
              <a:ea typeface="Calibri"/>
              <a:cs typeface="Calibri"/>
              <a:sym typeface="Calibri"/>
            </a:endParaRPr>
          </a:p>
        </p:txBody>
      </p:sp>
      <p:sp>
        <p:nvSpPr>
          <p:cNvPr id="515" name="Google Shape;515;p34"/>
          <p:cNvSpPr/>
          <p:nvPr/>
        </p:nvSpPr>
        <p:spPr>
          <a:xfrm>
            <a:off x="566928" y="2551176"/>
            <a:ext cx="146304" cy="146304"/>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4"/>
          <p:cNvSpPr/>
          <p:nvPr/>
        </p:nvSpPr>
        <p:spPr>
          <a:xfrm>
            <a:off x="868680" y="2468880"/>
            <a:ext cx="7589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400"/>
              <a:buFont typeface="Calibri"/>
              <a:buNone/>
            </a:pPr>
            <a:r>
              <a:rPr b="1" i="0" lang="en" sz="1400" u="none" cap="none" strike="noStrike">
                <a:solidFill>
                  <a:srgbClr val="211B45"/>
                </a:solidFill>
                <a:latin typeface="Calibri"/>
                <a:ea typeface="Calibri"/>
                <a:cs typeface="Calibri"/>
                <a:sym typeface="Calibri"/>
              </a:rPr>
              <a:t>Already global</a:t>
            </a:r>
            <a:endParaRPr b="0" i="0" sz="1400" u="none" cap="none" strike="noStrike">
              <a:solidFill>
                <a:schemeClr val="dk1"/>
              </a:solidFill>
              <a:latin typeface="Calibri"/>
              <a:ea typeface="Calibri"/>
              <a:cs typeface="Calibri"/>
              <a:sym typeface="Calibri"/>
            </a:endParaRPr>
          </a:p>
        </p:txBody>
      </p:sp>
      <p:sp>
        <p:nvSpPr>
          <p:cNvPr id="517" name="Google Shape;517;p34"/>
          <p:cNvSpPr/>
          <p:nvPr/>
        </p:nvSpPr>
        <p:spPr>
          <a:xfrm>
            <a:off x="868680" y="2807208"/>
            <a:ext cx="758952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C5680"/>
              </a:buClr>
              <a:buSzPts val="1200"/>
              <a:buFont typeface="Calibri"/>
              <a:buNone/>
            </a:pPr>
            <a:r>
              <a:rPr b="0" i="0" lang="en" sz="1200" u="none" cap="none" strike="noStrike">
                <a:solidFill>
                  <a:srgbClr val="5C5680"/>
                </a:solidFill>
                <a:latin typeface="Calibri"/>
                <a:ea typeface="Calibri"/>
                <a:cs typeface="Calibri"/>
                <a:sym typeface="Calibri"/>
              </a:rPr>
              <a:t>Art of Living already reaches people in 182 countries; the app meets a demand that exists today, it does not create it.</a:t>
            </a:r>
            <a:endParaRPr b="0" i="0" sz="1200" u="none" cap="none" strike="noStrike">
              <a:solidFill>
                <a:schemeClr val="dk1"/>
              </a:solidFill>
              <a:latin typeface="Calibri"/>
              <a:ea typeface="Calibri"/>
              <a:cs typeface="Calibri"/>
              <a:sym typeface="Calibri"/>
            </a:endParaRPr>
          </a:p>
        </p:txBody>
      </p:sp>
      <p:sp>
        <p:nvSpPr>
          <p:cNvPr id="518" name="Google Shape;518;p34"/>
          <p:cNvSpPr/>
          <p:nvPr/>
        </p:nvSpPr>
        <p:spPr>
          <a:xfrm>
            <a:off x="566928" y="3511296"/>
            <a:ext cx="146304" cy="146304"/>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4"/>
          <p:cNvSpPr/>
          <p:nvPr/>
        </p:nvSpPr>
        <p:spPr>
          <a:xfrm>
            <a:off x="868680" y="3429000"/>
            <a:ext cx="7589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400"/>
              <a:buFont typeface="Calibri"/>
              <a:buNone/>
            </a:pPr>
            <a:r>
              <a:rPr b="1" i="0" lang="en" sz="1400" u="none" cap="none" strike="noStrike">
                <a:solidFill>
                  <a:srgbClr val="211B45"/>
                </a:solidFill>
                <a:latin typeface="Calibri"/>
                <a:ea typeface="Calibri"/>
                <a:cs typeface="Calibri"/>
                <a:sym typeface="Calibri"/>
              </a:rPr>
              <a:t>Under-served depth</a:t>
            </a:r>
            <a:endParaRPr b="0" i="0" sz="1400" u="none" cap="none" strike="noStrike">
              <a:solidFill>
                <a:schemeClr val="dk1"/>
              </a:solidFill>
              <a:latin typeface="Calibri"/>
              <a:ea typeface="Calibri"/>
              <a:cs typeface="Calibri"/>
              <a:sym typeface="Calibri"/>
            </a:endParaRPr>
          </a:p>
        </p:txBody>
      </p:sp>
      <p:sp>
        <p:nvSpPr>
          <p:cNvPr id="520" name="Google Shape;520;p34"/>
          <p:cNvSpPr/>
          <p:nvPr/>
        </p:nvSpPr>
        <p:spPr>
          <a:xfrm>
            <a:off x="868680" y="3767328"/>
            <a:ext cx="758952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C5680"/>
              </a:buClr>
              <a:buSzPts val="1200"/>
              <a:buFont typeface="Calibri"/>
              <a:buNone/>
            </a:pPr>
            <a:r>
              <a:rPr b="0" i="0" lang="en" sz="1200" u="none" cap="none" strike="noStrike">
                <a:solidFill>
                  <a:srgbClr val="5C5680"/>
                </a:solidFill>
                <a:latin typeface="Calibri"/>
                <a:ea typeface="Calibri"/>
                <a:cs typeface="Calibri"/>
                <a:sym typeface="Calibri"/>
              </a:rPr>
              <a:t>Most apps offer secular calm. Few offer a living tradition, real teachers and a community — the space AOL can own.</a:t>
            </a:r>
            <a:endParaRPr b="0" i="0" sz="1200" u="none" cap="none" strike="noStrike">
              <a:solidFill>
                <a:schemeClr val="dk1"/>
              </a:solidFill>
              <a:latin typeface="Calibri"/>
              <a:ea typeface="Calibri"/>
              <a:cs typeface="Calibri"/>
              <a:sym typeface="Calibri"/>
            </a:endParaRPr>
          </a:p>
        </p:txBody>
      </p:sp>
      <p:sp>
        <p:nvSpPr>
          <p:cNvPr id="521" name="Google Shape;521;p34"/>
          <p:cNvSpPr/>
          <p:nvPr/>
        </p:nvSpPr>
        <p:spPr>
          <a:xfrm>
            <a:off x="548640" y="4526280"/>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8FAD"/>
              </a:buClr>
              <a:buSzPts val="1000"/>
              <a:buFont typeface="Calibri"/>
              <a:buNone/>
            </a:pPr>
            <a:r>
              <a:rPr b="0" i="1" lang="en" sz="1000" u="none" cap="none" strike="noStrike">
                <a:solidFill>
                  <a:srgbClr val="938FAD"/>
                </a:solidFill>
                <a:latin typeface="Calibri"/>
                <a:ea typeface="Calibri"/>
                <a:cs typeface="Calibri"/>
                <a:sym typeface="Calibri"/>
              </a:rPr>
              <a:t>Figures are directional and to be confirmed with current market data before any external use.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6" name="Shape 526"/>
        <p:cNvGrpSpPr/>
        <p:nvPr/>
      </p:nvGrpSpPr>
      <p:grpSpPr>
        <a:xfrm>
          <a:off x="0" y="0"/>
          <a:ext cx="0" cy="0"/>
          <a:chOff x="0" y="0"/>
          <a:chExt cx="0" cy="0"/>
        </a:xfrm>
      </p:grpSpPr>
      <p:sp>
        <p:nvSpPr>
          <p:cNvPr id="527" name="Google Shape;527;p35"/>
          <p:cNvSpPr/>
          <p:nvPr/>
        </p:nvSpPr>
        <p:spPr>
          <a:xfrm>
            <a:off x="548640" y="41148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APPENDIX · COMPETITION</a:t>
            </a:r>
            <a:endParaRPr b="0" i="0" sz="1100" u="none" cap="none" strike="noStrike">
              <a:solidFill>
                <a:schemeClr val="dk1"/>
              </a:solidFill>
              <a:latin typeface="Calibri"/>
              <a:ea typeface="Calibri"/>
              <a:cs typeface="Calibri"/>
              <a:sym typeface="Calibri"/>
            </a:endParaRPr>
          </a:p>
        </p:txBody>
      </p:sp>
      <p:sp>
        <p:nvSpPr>
          <p:cNvPr id="528" name="Google Shape;528;p35"/>
          <p:cNvSpPr/>
          <p:nvPr/>
        </p:nvSpPr>
        <p:spPr>
          <a:xfrm>
            <a:off x="512064" y="70408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800"/>
              <a:buFont typeface="Cambria"/>
              <a:buNone/>
            </a:pPr>
            <a:r>
              <a:rPr b="1" i="0" lang="en" sz="2800" u="none" cap="none" strike="noStrike">
                <a:solidFill>
                  <a:srgbClr val="211B45"/>
                </a:solidFill>
                <a:latin typeface="Cambria"/>
                <a:ea typeface="Cambria"/>
                <a:cs typeface="Cambria"/>
                <a:sym typeface="Cambria"/>
              </a:rPr>
              <a:t>Everyone owns a lane. One is open.</a:t>
            </a:r>
            <a:endParaRPr b="0" i="0" sz="2800" u="none" cap="none" strike="noStrike">
              <a:solidFill>
                <a:schemeClr val="dk1"/>
              </a:solidFill>
              <a:latin typeface="Calibri"/>
              <a:ea typeface="Calibri"/>
              <a:cs typeface="Calibri"/>
              <a:sym typeface="Calibri"/>
            </a:endParaRPr>
          </a:p>
        </p:txBody>
      </p:sp>
      <p:sp>
        <p:nvSpPr>
          <p:cNvPr id="529" name="Google Shape;529;p35"/>
          <p:cNvSpPr/>
          <p:nvPr/>
        </p:nvSpPr>
        <p:spPr>
          <a:xfrm>
            <a:off x="548640" y="1554480"/>
            <a:ext cx="2606040" cy="1188720"/>
          </a:xfrm>
          <a:prstGeom prst="roundRect">
            <a:avLst>
              <a:gd fmla="val 7692" name="adj"/>
            </a:avLst>
          </a:prstGeom>
          <a:solidFill>
            <a:srgbClr val="E3EFEA"/>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5"/>
          <p:cNvSpPr/>
          <p:nvPr/>
        </p:nvSpPr>
        <p:spPr>
          <a:xfrm>
            <a:off x="731520" y="1755648"/>
            <a:ext cx="2240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C4D"/>
              </a:buClr>
              <a:buSzPts val="1400"/>
              <a:buFont typeface="Calibri"/>
              <a:buNone/>
            </a:pPr>
            <a:r>
              <a:rPr b="1" i="0" lang="en" sz="1400" u="none" cap="none" strike="noStrike">
                <a:solidFill>
                  <a:srgbClr val="2F5C4D"/>
                </a:solidFill>
                <a:latin typeface="Calibri"/>
                <a:ea typeface="Calibri"/>
                <a:cs typeface="Calibri"/>
                <a:sym typeface="Calibri"/>
              </a:rPr>
              <a:t>Calm · Headspace</a:t>
            </a:r>
            <a:endParaRPr b="0" i="0" sz="1400" u="none" cap="none" strike="noStrike">
              <a:solidFill>
                <a:schemeClr val="dk1"/>
              </a:solidFill>
              <a:latin typeface="Calibri"/>
              <a:ea typeface="Calibri"/>
              <a:cs typeface="Calibri"/>
              <a:sym typeface="Calibri"/>
            </a:endParaRPr>
          </a:p>
        </p:txBody>
      </p:sp>
      <p:sp>
        <p:nvSpPr>
          <p:cNvPr id="531" name="Google Shape;531;p35"/>
          <p:cNvSpPr/>
          <p:nvPr/>
        </p:nvSpPr>
        <p:spPr>
          <a:xfrm>
            <a:off x="731520" y="2148840"/>
            <a:ext cx="2240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5680"/>
              </a:buClr>
              <a:buSzPts val="1200"/>
              <a:buFont typeface="Calibri"/>
              <a:buNone/>
            </a:pPr>
            <a:r>
              <a:rPr b="0" i="0" lang="en" sz="1200" u="none" cap="none" strike="noStrike">
                <a:solidFill>
                  <a:srgbClr val="5C5680"/>
                </a:solidFill>
                <a:latin typeface="Calibri"/>
                <a:ea typeface="Calibri"/>
                <a:cs typeface="Calibri"/>
                <a:sym typeface="Calibri"/>
              </a:rPr>
              <a:t>Quick, secular calm</a:t>
            </a:r>
            <a:endParaRPr b="0" i="0" sz="1200" u="none" cap="none" strike="noStrike">
              <a:solidFill>
                <a:schemeClr val="dk1"/>
              </a:solidFill>
              <a:latin typeface="Calibri"/>
              <a:ea typeface="Calibri"/>
              <a:cs typeface="Calibri"/>
              <a:sym typeface="Calibri"/>
            </a:endParaRPr>
          </a:p>
        </p:txBody>
      </p:sp>
      <p:sp>
        <p:nvSpPr>
          <p:cNvPr id="532" name="Google Shape;532;p35"/>
          <p:cNvSpPr/>
          <p:nvPr/>
        </p:nvSpPr>
        <p:spPr>
          <a:xfrm>
            <a:off x="3291840" y="1554480"/>
            <a:ext cx="2606040" cy="1188720"/>
          </a:xfrm>
          <a:prstGeom prst="roundRect">
            <a:avLst>
              <a:gd fmla="val 7692" name="adj"/>
            </a:avLst>
          </a:prstGeom>
          <a:solidFill>
            <a:srgbClr val="E7E3F3"/>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5"/>
          <p:cNvSpPr/>
          <p:nvPr/>
        </p:nvSpPr>
        <p:spPr>
          <a:xfrm>
            <a:off x="3474720" y="1755648"/>
            <a:ext cx="2240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2C72"/>
              </a:buClr>
              <a:buSzPts val="1400"/>
              <a:buFont typeface="Calibri"/>
              <a:buNone/>
            </a:pPr>
            <a:r>
              <a:rPr b="1" i="0" lang="en" sz="1400" u="none" cap="none" strike="noStrike">
                <a:solidFill>
                  <a:srgbClr val="372C72"/>
                </a:solidFill>
                <a:latin typeface="Calibri"/>
                <a:ea typeface="Calibri"/>
                <a:cs typeface="Calibri"/>
                <a:sym typeface="Calibri"/>
              </a:rPr>
              <a:t>Sadhguru</a:t>
            </a:r>
            <a:endParaRPr b="0" i="0" sz="1400" u="none" cap="none" strike="noStrike">
              <a:solidFill>
                <a:schemeClr val="dk1"/>
              </a:solidFill>
              <a:latin typeface="Calibri"/>
              <a:ea typeface="Calibri"/>
              <a:cs typeface="Calibri"/>
              <a:sym typeface="Calibri"/>
            </a:endParaRPr>
          </a:p>
        </p:txBody>
      </p:sp>
      <p:sp>
        <p:nvSpPr>
          <p:cNvPr id="534" name="Google Shape;534;p35"/>
          <p:cNvSpPr/>
          <p:nvPr/>
        </p:nvSpPr>
        <p:spPr>
          <a:xfrm>
            <a:off x="3474720" y="2148840"/>
            <a:ext cx="2240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5680"/>
              </a:buClr>
              <a:buSzPts val="1200"/>
              <a:buFont typeface="Calibri"/>
              <a:buNone/>
            </a:pPr>
            <a:r>
              <a:rPr b="0" i="0" lang="en" sz="1200" u="none" cap="none" strike="noStrike">
                <a:solidFill>
                  <a:srgbClr val="5C5680"/>
                </a:solidFill>
                <a:latin typeface="Calibri"/>
                <a:ea typeface="Calibri"/>
                <a:cs typeface="Calibri"/>
                <a:sym typeface="Calibri"/>
              </a:rPr>
              <a:t>One deep, singular voice</a:t>
            </a:r>
            <a:endParaRPr b="0" i="0" sz="1200" u="none" cap="none" strike="noStrike">
              <a:solidFill>
                <a:schemeClr val="dk1"/>
              </a:solidFill>
              <a:latin typeface="Calibri"/>
              <a:ea typeface="Calibri"/>
              <a:cs typeface="Calibri"/>
              <a:sym typeface="Calibri"/>
            </a:endParaRPr>
          </a:p>
        </p:txBody>
      </p:sp>
      <p:sp>
        <p:nvSpPr>
          <p:cNvPr id="535" name="Google Shape;535;p35"/>
          <p:cNvSpPr/>
          <p:nvPr/>
        </p:nvSpPr>
        <p:spPr>
          <a:xfrm>
            <a:off x="6035040" y="1554480"/>
            <a:ext cx="2606040" cy="1188720"/>
          </a:xfrm>
          <a:prstGeom prst="roundRect">
            <a:avLst>
              <a:gd fmla="val 7692" name="adj"/>
            </a:avLst>
          </a:prstGeom>
          <a:solidFill>
            <a:srgbClr val="F7E6D2"/>
          </a:solidFill>
          <a:ln cap="flat" cmpd="sng" w="9525">
            <a:solidFill>
              <a:srgbClr val="E6E1D6"/>
            </a:solidFill>
            <a:prstDash val="solid"/>
            <a:round/>
            <a:headEnd len="sm" w="sm" type="none"/>
            <a:tailEnd len="sm" w="sm" type="none"/>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5"/>
          <p:cNvSpPr/>
          <p:nvPr/>
        </p:nvSpPr>
        <p:spPr>
          <a:xfrm>
            <a:off x="6217920" y="1755648"/>
            <a:ext cx="2240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400"/>
              <a:buFont typeface="Calibri"/>
              <a:buNone/>
            </a:pPr>
            <a:r>
              <a:rPr b="1" i="0" lang="en" sz="1400" u="none" cap="none" strike="noStrike">
                <a:solidFill>
                  <a:srgbClr val="A8530F"/>
                </a:solidFill>
                <a:latin typeface="Calibri"/>
                <a:ea typeface="Calibri"/>
                <a:cs typeface="Calibri"/>
                <a:sym typeface="Calibri"/>
              </a:rPr>
              <a:t>Level SuperMind</a:t>
            </a:r>
            <a:endParaRPr b="0" i="0" sz="1400" u="none" cap="none" strike="noStrike">
              <a:solidFill>
                <a:schemeClr val="dk1"/>
              </a:solidFill>
              <a:latin typeface="Calibri"/>
              <a:ea typeface="Calibri"/>
              <a:cs typeface="Calibri"/>
              <a:sym typeface="Calibri"/>
            </a:endParaRPr>
          </a:p>
        </p:txBody>
      </p:sp>
      <p:sp>
        <p:nvSpPr>
          <p:cNvPr id="537" name="Google Shape;537;p35"/>
          <p:cNvSpPr/>
          <p:nvPr/>
        </p:nvSpPr>
        <p:spPr>
          <a:xfrm>
            <a:off x="6217920" y="2148840"/>
            <a:ext cx="2240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5680"/>
              </a:buClr>
              <a:buSzPts val="1200"/>
              <a:buFont typeface="Calibri"/>
              <a:buNone/>
            </a:pPr>
            <a:r>
              <a:rPr b="0" i="0" lang="en" sz="1200" u="none" cap="none" strike="noStrike">
                <a:solidFill>
                  <a:srgbClr val="5C5680"/>
                </a:solidFill>
                <a:latin typeface="Calibri"/>
                <a:ea typeface="Calibri"/>
                <a:cs typeface="Calibri"/>
                <a:sym typeface="Calibri"/>
              </a:rPr>
              <a:t>Gamified performance</a:t>
            </a:r>
            <a:endParaRPr b="0" i="0" sz="1200" u="none" cap="none" strike="noStrike">
              <a:solidFill>
                <a:schemeClr val="dk1"/>
              </a:solidFill>
              <a:latin typeface="Calibri"/>
              <a:ea typeface="Calibri"/>
              <a:cs typeface="Calibri"/>
              <a:sym typeface="Calibri"/>
            </a:endParaRPr>
          </a:p>
        </p:txBody>
      </p:sp>
      <p:sp>
        <p:nvSpPr>
          <p:cNvPr id="538" name="Google Shape;538;p35"/>
          <p:cNvSpPr/>
          <p:nvPr/>
        </p:nvSpPr>
        <p:spPr>
          <a:xfrm>
            <a:off x="548640" y="3017520"/>
            <a:ext cx="8046720" cy="1417320"/>
          </a:xfrm>
          <a:prstGeom prst="roundRect">
            <a:avLst>
              <a:gd fmla="val 7742" name="adj"/>
            </a:avLst>
          </a:prstGeom>
          <a:solidFill>
            <a:srgbClr val="211B45"/>
          </a:solidFill>
          <a:ln>
            <a:noFill/>
          </a:ln>
          <a:effectLst>
            <a:outerShdw blurRad="114300" rotWithShape="0" algn="bl" dir="5400000" dist="38100">
              <a:srgbClr val="211B45">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5"/>
          <p:cNvSpPr/>
          <p:nvPr/>
        </p:nvSpPr>
        <p:spPr>
          <a:xfrm>
            <a:off x="1106058" y="3666744"/>
            <a:ext cx="256764" cy="356616"/>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5"/>
          <p:cNvSpPr/>
          <p:nvPr/>
        </p:nvSpPr>
        <p:spPr>
          <a:xfrm>
            <a:off x="1170249" y="3723803"/>
            <a:ext cx="128382" cy="213970"/>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5"/>
          <p:cNvSpPr/>
          <p:nvPr/>
        </p:nvSpPr>
        <p:spPr>
          <a:xfrm>
            <a:off x="842162" y="4023360"/>
            <a:ext cx="784555" cy="156911"/>
          </a:xfrm>
          <a:prstGeom prst="ellipse">
            <a:avLst/>
          </a:prstGeom>
          <a:solidFill>
            <a:srgbClr val="C989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5"/>
          <p:cNvSpPr/>
          <p:nvPr/>
        </p:nvSpPr>
        <p:spPr>
          <a:xfrm>
            <a:off x="877824" y="4001963"/>
            <a:ext cx="713232" cy="92720"/>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5"/>
          <p:cNvSpPr/>
          <p:nvPr/>
        </p:nvSpPr>
        <p:spPr>
          <a:xfrm>
            <a:off x="1920240" y="320040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A94B"/>
              </a:buClr>
              <a:buSzPts val="2100"/>
              <a:buFont typeface="Cambria"/>
              <a:buNone/>
            </a:pPr>
            <a:r>
              <a:rPr b="1" i="0" lang="en" sz="2100" u="none" cap="none" strike="noStrike">
                <a:solidFill>
                  <a:srgbClr val="E0A94B"/>
                </a:solidFill>
                <a:latin typeface="Cambria"/>
                <a:ea typeface="Cambria"/>
                <a:cs typeface="Cambria"/>
                <a:sym typeface="Cambria"/>
              </a:rPr>
              <a:t>Art of Living</a:t>
            </a:r>
            <a:endParaRPr b="0" i="0" sz="2100" u="none" cap="none" strike="noStrike">
              <a:solidFill>
                <a:schemeClr val="dk1"/>
              </a:solidFill>
              <a:latin typeface="Calibri"/>
              <a:ea typeface="Calibri"/>
              <a:cs typeface="Calibri"/>
              <a:sym typeface="Calibri"/>
            </a:endParaRPr>
          </a:p>
        </p:txBody>
      </p:sp>
      <p:sp>
        <p:nvSpPr>
          <p:cNvPr id="544" name="Google Shape;544;p35"/>
          <p:cNvSpPr/>
          <p:nvPr/>
        </p:nvSpPr>
        <p:spPr>
          <a:xfrm>
            <a:off x="1920240" y="3584448"/>
            <a:ext cx="6492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Guide me  +  answer me  +  practise together — on a living tradition.</a:t>
            </a:r>
            <a:endParaRPr b="0" i="0" sz="1400" u="none" cap="none" strike="noStrike">
              <a:solidFill>
                <a:schemeClr val="dk1"/>
              </a:solidFill>
              <a:latin typeface="Calibri"/>
              <a:ea typeface="Calibri"/>
              <a:cs typeface="Calibri"/>
              <a:sym typeface="Calibri"/>
            </a:endParaRPr>
          </a:p>
        </p:txBody>
      </p:sp>
      <p:sp>
        <p:nvSpPr>
          <p:cNvPr id="545" name="Google Shape;545;p35"/>
          <p:cNvSpPr/>
          <p:nvPr/>
        </p:nvSpPr>
        <p:spPr>
          <a:xfrm>
            <a:off x="1920240" y="3931920"/>
            <a:ext cx="6492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CAE3"/>
              </a:buClr>
              <a:buSzPts val="1150"/>
              <a:buFont typeface="Calibri"/>
              <a:buNone/>
            </a:pPr>
            <a:r>
              <a:rPr b="0" i="0" lang="en" sz="1150" u="none" cap="none" strike="noStrike">
                <a:solidFill>
                  <a:srgbClr val="CFCAE3"/>
                </a:solidFill>
                <a:latin typeface="Calibri"/>
                <a:ea typeface="Calibri"/>
                <a:cs typeface="Calibri"/>
                <a:sym typeface="Calibri"/>
              </a:rPr>
              <a:t>A secular door for sleep, stress and focus, with real spiritual depth beneath. No one can copy the wisdom, the SKY breath, the teachers or the Sangha.</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0" name="Shape 550"/>
        <p:cNvGrpSpPr/>
        <p:nvPr/>
      </p:nvGrpSpPr>
      <p:grpSpPr>
        <a:xfrm>
          <a:off x="0" y="0"/>
          <a:ext cx="0" cy="0"/>
          <a:chOff x="0" y="0"/>
          <a:chExt cx="0" cy="0"/>
        </a:xfrm>
      </p:grpSpPr>
      <p:sp>
        <p:nvSpPr>
          <p:cNvPr id="551" name="Google Shape;551;p36"/>
          <p:cNvSpPr/>
          <p:nvPr/>
        </p:nvSpPr>
        <p:spPr>
          <a:xfrm>
            <a:off x="548640" y="36576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APPENDIX · FREE VS PRIME</a:t>
            </a:r>
            <a:endParaRPr b="0" i="0" sz="1100" u="none" cap="none" strike="noStrike">
              <a:solidFill>
                <a:schemeClr val="dk1"/>
              </a:solidFill>
              <a:latin typeface="Calibri"/>
              <a:ea typeface="Calibri"/>
              <a:cs typeface="Calibri"/>
              <a:sym typeface="Calibri"/>
            </a:endParaRPr>
          </a:p>
        </p:txBody>
      </p:sp>
      <p:sp>
        <p:nvSpPr>
          <p:cNvPr id="552" name="Google Shape;552;p36"/>
          <p:cNvSpPr/>
          <p:nvPr/>
        </p:nvSpPr>
        <p:spPr>
          <a:xfrm>
            <a:off x="512064" y="65836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800"/>
              <a:buFont typeface="Cambria"/>
              <a:buNone/>
            </a:pPr>
            <a:r>
              <a:rPr b="1" i="0" lang="en" sz="2800" u="none" cap="none" strike="noStrike">
                <a:solidFill>
                  <a:srgbClr val="211B45"/>
                </a:solidFill>
                <a:latin typeface="Cambria"/>
                <a:ea typeface="Cambria"/>
                <a:cs typeface="Cambria"/>
                <a:sym typeface="Cambria"/>
              </a:rPr>
              <a:t>What stays free, what Prime adds</a:t>
            </a:r>
            <a:endParaRPr b="0" i="0" sz="2800" u="none" cap="none" strike="noStrike">
              <a:solidFill>
                <a:schemeClr val="dk1"/>
              </a:solidFill>
              <a:latin typeface="Calibri"/>
              <a:ea typeface="Calibri"/>
              <a:cs typeface="Calibri"/>
              <a:sym typeface="Calibri"/>
            </a:endParaRPr>
          </a:p>
        </p:txBody>
      </p:sp>
      <p:pic>
        <p:nvPicPr>
          <p:cNvPr descr="shots/compare.png" id="553" name="Google Shape;553;p36"/>
          <p:cNvPicPr preferRelativeResize="0"/>
          <p:nvPr/>
        </p:nvPicPr>
        <p:blipFill rotWithShape="1">
          <a:blip r:embed="rId3">
            <a:alphaModFix/>
          </a:blip>
          <a:srcRect b="0" l="0" r="0" t="0"/>
          <a:stretch/>
        </p:blipFill>
        <p:spPr>
          <a:xfrm>
            <a:off x="640080" y="1371600"/>
            <a:ext cx="1601746" cy="3383280"/>
          </a:xfrm>
          <a:prstGeom prst="rect">
            <a:avLst/>
          </a:prstGeom>
          <a:noFill/>
          <a:ln>
            <a:noFill/>
          </a:ln>
        </p:spPr>
      </p:pic>
      <p:sp>
        <p:nvSpPr>
          <p:cNvPr id="554" name="Google Shape;554;p36"/>
          <p:cNvSpPr/>
          <p:nvPr/>
        </p:nvSpPr>
        <p:spPr>
          <a:xfrm>
            <a:off x="4206240" y="1554480"/>
            <a:ext cx="4389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700"/>
              <a:buFont typeface="Cambria"/>
              <a:buNone/>
            </a:pPr>
            <a:r>
              <a:rPr b="1" i="0" lang="en" sz="1700" u="none" cap="none" strike="noStrike">
                <a:solidFill>
                  <a:srgbClr val="A8530F"/>
                </a:solidFill>
                <a:latin typeface="Cambria"/>
                <a:ea typeface="Cambria"/>
                <a:cs typeface="Cambria"/>
                <a:sym typeface="Cambria"/>
              </a:rPr>
              <a:t>The principle</a:t>
            </a:r>
            <a:endParaRPr b="0" i="0" sz="1700" u="none" cap="none" strike="noStrike">
              <a:solidFill>
                <a:schemeClr val="dk1"/>
              </a:solidFill>
              <a:latin typeface="Calibri"/>
              <a:ea typeface="Calibri"/>
              <a:cs typeface="Calibri"/>
              <a:sym typeface="Calibri"/>
            </a:endParaRPr>
          </a:p>
        </p:txBody>
      </p:sp>
      <p:sp>
        <p:nvSpPr>
          <p:cNvPr id="555" name="Google Shape;555;p36"/>
          <p:cNvSpPr/>
          <p:nvPr/>
        </p:nvSpPr>
        <p:spPr>
          <a:xfrm>
            <a:off x="4224528" y="2039112"/>
            <a:ext cx="137160" cy="137160"/>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6"/>
          <p:cNvSpPr/>
          <p:nvPr/>
        </p:nvSpPr>
        <p:spPr>
          <a:xfrm>
            <a:off x="4498848" y="1956816"/>
            <a:ext cx="4023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00"/>
              <a:buFont typeface="Calibri"/>
              <a:buNone/>
            </a:pPr>
            <a:r>
              <a:rPr b="1" i="0" lang="en" sz="1300" u="none" cap="none" strike="noStrike">
                <a:solidFill>
                  <a:srgbClr val="211B45"/>
                </a:solidFill>
                <a:latin typeface="Calibri"/>
                <a:ea typeface="Calibri"/>
                <a:cs typeface="Calibri"/>
                <a:sym typeface="Calibri"/>
              </a:rPr>
              <a:t>Free is genuinely useful</a:t>
            </a:r>
            <a:endParaRPr b="0" i="0" sz="1300" u="none" cap="none" strike="noStrike">
              <a:solidFill>
                <a:schemeClr val="dk1"/>
              </a:solidFill>
              <a:latin typeface="Calibri"/>
              <a:ea typeface="Calibri"/>
              <a:cs typeface="Calibri"/>
              <a:sym typeface="Calibri"/>
            </a:endParaRPr>
          </a:p>
        </p:txBody>
      </p:sp>
      <p:sp>
        <p:nvSpPr>
          <p:cNvPr id="557" name="Google Shape;557;p36"/>
          <p:cNvSpPr/>
          <p:nvPr/>
        </p:nvSpPr>
        <p:spPr>
          <a:xfrm>
            <a:off x="4498848" y="2286000"/>
            <a:ext cx="4069080" cy="59436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C5680"/>
              </a:buClr>
              <a:buSzPts val="1100"/>
              <a:buFont typeface="Calibri"/>
              <a:buNone/>
            </a:pPr>
            <a:r>
              <a:rPr b="0" i="0" lang="en" sz="1100" u="none" cap="none" strike="noStrike">
                <a:solidFill>
                  <a:srgbClr val="5C5680"/>
                </a:solidFill>
                <a:latin typeface="Calibri"/>
                <a:ea typeface="Calibri"/>
                <a:cs typeface="Calibri"/>
                <a:sym typeface="Calibri"/>
              </a:rPr>
              <a:t>The daily practice, streaks, journey, live meditations and the Sangha stay free — forever. That builds trust and holds the habit.</a:t>
            </a:r>
            <a:endParaRPr b="0" i="0" sz="1100" u="none" cap="none" strike="noStrike">
              <a:solidFill>
                <a:schemeClr val="dk1"/>
              </a:solidFill>
              <a:latin typeface="Calibri"/>
              <a:ea typeface="Calibri"/>
              <a:cs typeface="Calibri"/>
              <a:sym typeface="Calibri"/>
            </a:endParaRPr>
          </a:p>
        </p:txBody>
      </p:sp>
      <p:sp>
        <p:nvSpPr>
          <p:cNvPr id="558" name="Google Shape;558;p36"/>
          <p:cNvSpPr/>
          <p:nvPr/>
        </p:nvSpPr>
        <p:spPr>
          <a:xfrm>
            <a:off x="4224528" y="2926080"/>
            <a:ext cx="137160" cy="137160"/>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6"/>
          <p:cNvSpPr/>
          <p:nvPr/>
        </p:nvSpPr>
        <p:spPr>
          <a:xfrm>
            <a:off x="4498848" y="2843784"/>
            <a:ext cx="4023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00"/>
              <a:buFont typeface="Calibri"/>
              <a:buNone/>
            </a:pPr>
            <a:r>
              <a:rPr b="1" i="0" lang="en" sz="1300" u="none" cap="none" strike="noStrike">
                <a:solidFill>
                  <a:srgbClr val="211B45"/>
                </a:solidFill>
                <a:latin typeface="Calibri"/>
                <a:ea typeface="Calibri"/>
                <a:cs typeface="Calibri"/>
                <a:sym typeface="Calibri"/>
              </a:rPr>
              <a:t>Prime lifts the limits</a:t>
            </a:r>
            <a:endParaRPr b="0" i="0" sz="1300" u="none" cap="none" strike="noStrike">
              <a:solidFill>
                <a:schemeClr val="dk1"/>
              </a:solidFill>
              <a:latin typeface="Calibri"/>
              <a:ea typeface="Calibri"/>
              <a:cs typeface="Calibri"/>
              <a:sym typeface="Calibri"/>
            </a:endParaRPr>
          </a:p>
        </p:txBody>
      </p:sp>
      <p:sp>
        <p:nvSpPr>
          <p:cNvPr id="560" name="Google Shape;560;p36"/>
          <p:cNvSpPr/>
          <p:nvPr/>
        </p:nvSpPr>
        <p:spPr>
          <a:xfrm>
            <a:off x="4498848" y="3172968"/>
            <a:ext cx="4069080" cy="59436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C5680"/>
              </a:buClr>
              <a:buSzPts val="1100"/>
              <a:buFont typeface="Calibri"/>
              <a:buNone/>
            </a:pPr>
            <a:r>
              <a:rPr b="0" i="0" lang="en" sz="1100" u="none" cap="none" strike="noStrike">
                <a:solidFill>
                  <a:srgbClr val="5C5680"/>
                </a:solidFill>
                <a:latin typeface="Calibri"/>
                <a:ea typeface="Calibri"/>
                <a:cs typeface="Calibri"/>
                <a:sym typeface="Calibri"/>
              </a:rPr>
              <a:t>The full library, unlimited Sahaj, deeper history and offline access reward those who go further.</a:t>
            </a:r>
            <a:endParaRPr b="0" i="0" sz="1100" u="none" cap="none" strike="noStrike">
              <a:solidFill>
                <a:schemeClr val="dk1"/>
              </a:solidFill>
              <a:latin typeface="Calibri"/>
              <a:ea typeface="Calibri"/>
              <a:cs typeface="Calibri"/>
              <a:sym typeface="Calibri"/>
            </a:endParaRPr>
          </a:p>
        </p:txBody>
      </p:sp>
      <p:sp>
        <p:nvSpPr>
          <p:cNvPr id="561" name="Google Shape;561;p36"/>
          <p:cNvSpPr/>
          <p:nvPr/>
        </p:nvSpPr>
        <p:spPr>
          <a:xfrm>
            <a:off x="4224528" y="3813048"/>
            <a:ext cx="137160" cy="137160"/>
          </a:xfrm>
          <a:prstGeom prst="ellipse">
            <a:avLst/>
          </a:prstGeom>
          <a:solidFill>
            <a:srgbClr val="E0A9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6"/>
          <p:cNvSpPr/>
          <p:nvPr/>
        </p:nvSpPr>
        <p:spPr>
          <a:xfrm>
            <a:off x="4498848" y="3730752"/>
            <a:ext cx="4023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1300"/>
              <a:buFont typeface="Calibri"/>
              <a:buNone/>
            </a:pPr>
            <a:r>
              <a:rPr b="1" i="0" lang="en" sz="1300" u="none" cap="none" strike="noStrike">
                <a:solidFill>
                  <a:srgbClr val="211B45"/>
                </a:solidFill>
                <a:latin typeface="Calibri"/>
                <a:ea typeface="Calibri"/>
                <a:cs typeface="Calibri"/>
                <a:sym typeface="Calibri"/>
              </a:rPr>
              <a:t>Courses are the heart</a:t>
            </a:r>
            <a:endParaRPr b="0" i="0" sz="1300" u="none" cap="none" strike="noStrike">
              <a:solidFill>
                <a:schemeClr val="dk1"/>
              </a:solidFill>
              <a:latin typeface="Calibri"/>
              <a:ea typeface="Calibri"/>
              <a:cs typeface="Calibri"/>
              <a:sym typeface="Calibri"/>
            </a:endParaRPr>
          </a:p>
        </p:txBody>
      </p:sp>
      <p:sp>
        <p:nvSpPr>
          <p:cNvPr id="563" name="Google Shape;563;p36"/>
          <p:cNvSpPr/>
          <p:nvPr/>
        </p:nvSpPr>
        <p:spPr>
          <a:xfrm>
            <a:off x="4498848" y="4059936"/>
            <a:ext cx="4069080" cy="59436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C5680"/>
              </a:buClr>
              <a:buSzPts val="1100"/>
              <a:buFont typeface="Calibri"/>
              <a:buNone/>
            </a:pPr>
            <a:r>
              <a:rPr b="0" i="0" lang="en" sz="1100" u="none" cap="none" strike="noStrike">
                <a:solidFill>
                  <a:srgbClr val="5C5680"/>
                </a:solidFill>
                <a:latin typeface="Calibri"/>
                <a:ea typeface="Calibri"/>
                <a:cs typeface="Calibri"/>
                <a:sym typeface="Calibri"/>
              </a:rPr>
              <a:t>Prime members save on every course — the gentle bridge from a free habit to the practices that sustain the mission.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8" name="Shape 568"/>
        <p:cNvGrpSpPr/>
        <p:nvPr/>
      </p:nvGrpSpPr>
      <p:grpSpPr>
        <a:xfrm>
          <a:off x="0" y="0"/>
          <a:ext cx="0" cy="0"/>
          <a:chOff x="0" y="0"/>
          <a:chExt cx="0" cy="0"/>
        </a:xfrm>
      </p:grpSpPr>
      <p:sp>
        <p:nvSpPr>
          <p:cNvPr id="569" name="Google Shape;569;p37"/>
          <p:cNvSpPr/>
          <p:nvPr/>
        </p:nvSpPr>
        <p:spPr>
          <a:xfrm>
            <a:off x="548640" y="45720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APPENDIX · THE BRIDGE</a:t>
            </a:r>
            <a:endParaRPr b="0" i="0" sz="1100" u="none" cap="none" strike="noStrike">
              <a:solidFill>
                <a:schemeClr val="dk1"/>
              </a:solidFill>
              <a:latin typeface="Calibri"/>
              <a:ea typeface="Calibri"/>
              <a:cs typeface="Calibri"/>
              <a:sym typeface="Calibri"/>
            </a:endParaRPr>
          </a:p>
        </p:txBody>
      </p:sp>
      <p:sp>
        <p:nvSpPr>
          <p:cNvPr id="570" name="Google Shape;570;p37"/>
          <p:cNvSpPr/>
          <p:nvPr/>
        </p:nvSpPr>
        <p:spPr>
          <a:xfrm>
            <a:off x="512064" y="74980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600"/>
              <a:buFont typeface="Cambria"/>
              <a:buNone/>
            </a:pPr>
            <a:r>
              <a:rPr b="1" i="0" lang="en" sz="2600" u="none" cap="none" strike="noStrike">
                <a:solidFill>
                  <a:srgbClr val="211B45"/>
                </a:solidFill>
                <a:latin typeface="Cambria"/>
                <a:ea typeface="Cambria"/>
                <a:cs typeface="Cambria"/>
                <a:sym typeface="Cambria"/>
              </a:rPr>
              <a:t>From where we are, to where we can serve</a:t>
            </a:r>
            <a:endParaRPr b="0" i="0" sz="2600" u="none" cap="none" strike="noStrike">
              <a:solidFill>
                <a:schemeClr val="dk1"/>
              </a:solidFill>
              <a:latin typeface="Calibri"/>
              <a:ea typeface="Calibri"/>
              <a:cs typeface="Calibri"/>
              <a:sym typeface="Calibri"/>
            </a:endParaRPr>
          </a:p>
        </p:txBody>
      </p:sp>
      <p:sp>
        <p:nvSpPr>
          <p:cNvPr id="571" name="Google Shape;571;p37"/>
          <p:cNvSpPr/>
          <p:nvPr/>
        </p:nvSpPr>
        <p:spPr>
          <a:xfrm>
            <a:off x="566928" y="1773936"/>
            <a:ext cx="3108960" cy="4572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5C5680"/>
              </a:buClr>
              <a:buSzPts val="1250"/>
              <a:buFont typeface="Calibri"/>
              <a:buNone/>
            </a:pPr>
            <a:r>
              <a:rPr b="1" i="0" lang="en" sz="1250" u="none" cap="none" strike="noStrike">
                <a:solidFill>
                  <a:srgbClr val="5C5680"/>
                </a:solidFill>
                <a:latin typeface="Calibri"/>
                <a:ea typeface="Calibri"/>
                <a:cs typeface="Calibri"/>
                <a:sym typeface="Calibri"/>
              </a:rPr>
              <a:t>Daily practitioners</a:t>
            </a:r>
            <a:endParaRPr b="0" i="0" sz="1250" u="none" cap="none" strike="noStrike">
              <a:solidFill>
                <a:schemeClr val="dk1"/>
              </a:solidFill>
              <a:latin typeface="Calibri"/>
              <a:ea typeface="Calibri"/>
              <a:cs typeface="Calibri"/>
              <a:sym typeface="Calibri"/>
            </a:endParaRPr>
          </a:p>
        </p:txBody>
      </p:sp>
      <p:sp>
        <p:nvSpPr>
          <p:cNvPr id="572" name="Google Shape;572;p37"/>
          <p:cNvSpPr/>
          <p:nvPr/>
        </p:nvSpPr>
        <p:spPr>
          <a:xfrm>
            <a:off x="3749040" y="1709928"/>
            <a:ext cx="155448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8FAD"/>
              </a:buClr>
              <a:buSzPts val="2100"/>
              <a:buFont typeface="Cambria"/>
              <a:buNone/>
            </a:pPr>
            <a:r>
              <a:rPr b="1" i="0" lang="en" sz="2100" u="none" cap="none" strike="noStrike">
                <a:solidFill>
                  <a:srgbClr val="938FAD"/>
                </a:solidFill>
                <a:latin typeface="Cambria"/>
                <a:ea typeface="Cambria"/>
                <a:cs typeface="Cambria"/>
                <a:sym typeface="Cambria"/>
              </a:rPr>
              <a:t>growing every month</a:t>
            </a:r>
            <a:endParaRPr b="0" i="0" sz="2100" u="none" cap="none" strike="noStrike">
              <a:solidFill>
                <a:schemeClr val="dk1"/>
              </a:solidFill>
              <a:latin typeface="Calibri"/>
              <a:ea typeface="Calibri"/>
              <a:cs typeface="Calibri"/>
              <a:sym typeface="Calibri"/>
            </a:endParaRPr>
          </a:p>
        </p:txBody>
      </p:sp>
      <p:sp>
        <p:nvSpPr>
          <p:cNvPr id="573" name="Google Shape;573;p37"/>
          <p:cNvSpPr/>
          <p:nvPr/>
        </p:nvSpPr>
        <p:spPr>
          <a:xfrm>
            <a:off x="5440680" y="1755648"/>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1800"/>
              <a:buFont typeface="Calibri"/>
              <a:buNone/>
            </a:pPr>
            <a:r>
              <a:rPr b="1" i="0" lang="en" sz="1800" u="none" cap="none" strike="noStrike">
                <a:solidFill>
                  <a:srgbClr val="E07B2E"/>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574" name="Google Shape;574;p37"/>
          <p:cNvSpPr/>
          <p:nvPr/>
        </p:nvSpPr>
        <p:spPr>
          <a:xfrm>
            <a:off x="5852160" y="1709928"/>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2100"/>
              <a:buFont typeface="Cambria"/>
              <a:buNone/>
            </a:pPr>
            <a:r>
              <a:rPr b="1" i="0" lang="en" sz="2100" u="none" cap="none" strike="noStrike">
                <a:solidFill>
                  <a:srgbClr val="A8530F"/>
                </a:solidFill>
                <a:latin typeface="Cambria"/>
                <a:ea typeface="Cambria"/>
                <a:cs typeface="Cambria"/>
                <a:sym typeface="Cambria"/>
              </a:rPr>
              <a:t>the North Star</a:t>
            </a:r>
            <a:endParaRPr b="0" i="0" sz="2100" u="none" cap="none" strike="noStrike">
              <a:solidFill>
                <a:schemeClr val="dk1"/>
              </a:solidFill>
              <a:latin typeface="Calibri"/>
              <a:ea typeface="Calibri"/>
              <a:cs typeface="Calibri"/>
              <a:sym typeface="Calibri"/>
            </a:endParaRPr>
          </a:p>
        </p:txBody>
      </p:sp>
      <p:sp>
        <p:nvSpPr>
          <p:cNvPr id="575" name="Google Shape;575;p37"/>
          <p:cNvSpPr/>
          <p:nvPr/>
        </p:nvSpPr>
        <p:spPr>
          <a:xfrm>
            <a:off x="566928" y="2432304"/>
            <a:ext cx="3108960" cy="4572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5C5680"/>
              </a:buClr>
              <a:buSzPts val="1250"/>
              <a:buFont typeface="Calibri"/>
              <a:buNone/>
            </a:pPr>
            <a:r>
              <a:rPr b="1" i="0" lang="en" sz="1250" u="none" cap="none" strike="noStrike">
                <a:solidFill>
                  <a:srgbClr val="5C5680"/>
                </a:solidFill>
                <a:latin typeface="Calibri"/>
                <a:ea typeface="Calibri"/>
                <a:cs typeface="Calibri"/>
                <a:sym typeface="Calibri"/>
              </a:rPr>
              <a:t>Monthly active users</a:t>
            </a:r>
            <a:endParaRPr b="0" i="0" sz="1250" u="none" cap="none" strike="noStrike">
              <a:solidFill>
                <a:schemeClr val="dk1"/>
              </a:solidFill>
              <a:latin typeface="Calibri"/>
              <a:ea typeface="Calibri"/>
              <a:cs typeface="Calibri"/>
              <a:sym typeface="Calibri"/>
            </a:endParaRPr>
          </a:p>
        </p:txBody>
      </p:sp>
      <p:sp>
        <p:nvSpPr>
          <p:cNvPr id="576" name="Google Shape;576;p37"/>
          <p:cNvSpPr/>
          <p:nvPr/>
        </p:nvSpPr>
        <p:spPr>
          <a:xfrm>
            <a:off x="3749040" y="2368296"/>
            <a:ext cx="155448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8FAD"/>
              </a:buClr>
              <a:buSzPts val="2100"/>
              <a:buFont typeface="Cambria"/>
              <a:buNone/>
            </a:pPr>
            <a:r>
              <a:rPr b="1" i="0" lang="en" sz="2100" u="none" cap="none" strike="noStrike">
                <a:solidFill>
                  <a:srgbClr val="938FAD"/>
                </a:solidFill>
                <a:latin typeface="Cambria"/>
                <a:ea typeface="Cambria"/>
                <a:cs typeface="Cambria"/>
                <a:sym typeface="Cambria"/>
              </a:rPr>
              <a:t>110k</a:t>
            </a:r>
            <a:endParaRPr b="0" i="0" sz="2100" u="none" cap="none" strike="noStrike">
              <a:solidFill>
                <a:schemeClr val="dk1"/>
              </a:solidFill>
              <a:latin typeface="Calibri"/>
              <a:ea typeface="Calibri"/>
              <a:cs typeface="Calibri"/>
              <a:sym typeface="Calibri"/>
            </a:endParaRPr>
          </a:p>
        </p:txBody>
      </p:sp>
      <p:sp>
        <p:nvSpPr>
          <p:cNvPr id="577" name="Google Shape;577;p37"/>
          <p:cNvSpPr/>
          <p:nvPr/>
        </p:nvSpPr>
        <p:spPr>
          <a:xfrm>
            <a:off x="5440680" y="241401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1800"/>
              <a:buFont typeface="Calibri"/>
              <a:buNone/>
            </a:pPr>
            <a:r>
              <a:rPr b="1" i="0" lang="en" sz="1800" u="none" cap="none" strike="noStrike">
                <a:solidFill>
                  <a:srgbClr val="E07B2E"/>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578" name="Google Shape;578;p37"/>
          <p:cNvSpPr/>
          <p:nvPr/>
        </p:nvSpPr>
        <p:spPr>
          <a:xfrm>
            <a:off x="5852160" y="2368296"/>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2100"/>
              <a:buFont typeface="Cambria"/>
              <a:buNone/>
            </a:pPr>
            <a:r>
              <a:rPr b="1" i="0" lang="en" sz="2100" u="none" cap="none" strike="noStrike">
                <a:solidFill>
                  <a:srgbClr val="A8530F"/>
                </a:solidFill>
                <a:latin typeface="Cambria"/>
                <a:ea typeface="Cambria"/>
                <a:cs typeface="Cambria"/>
                <a:sym typeface="Cambria"/>
              </a:rPr>
              <a:t>200k</a:t>
            </a:r>
            <a:endParaRPr b="0" i="0" sz="2100" u="none" cap="none" strike="noStrike">
              <a:solidFill>
                <a:schemeClr val="dk1"/>
              </a:solidFill>
              <a:latin typeface="Calibri"/>
              <a:ea typeface="Calibri"/>
              <a:cs typeface="Calibri"/>
              <a:sym typeface="Calibri"/>
            </a:endParaRPr>
          </a:p>
        </p:txBody>
      </p:sp>
      <p:sp>
        <p:nvSpPr>
          <p:cNvPr id="579" name="Google Shape;579;p37"/>
          <p:cNvSpPr/>
          <p:nvPr/>
        </p:nvSpPr>
        <p:spPr>
          <a:xfrm>
            <a:off x="566928" y="3090672"/>
            <a:ext cx="3108960" cy="4572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5C5680"/>
              </a:buClr>
              <a:buSzPts val="1250"/>
              <a:buFont typeface="Calibri"/>
              <a:buNone/>
            </a:pPr>
            <a:r>
              <a:rPr b="1" i="0" lang="en" sz="1250" u="none" cap="none" strike="noStrike">
                <a:solidFill>
                  <a:srgbClr val="5C5680"/>
                </a:solidFill>
                <a:latin typeface="Calibri"/>
                <a:ea typeface="Calibri"/>
                <a:cs typeface="Calibri"/>
                <a:sym typeface="Calibri"/>
              </a:rPr>
              <a:t>Subscribers</a:t>
            </a:r>
            <a:endParaRPr b="0" i="0" sz="1250" u="none" cap="none" strike="noStrike">
              <a:solidFill>
                <a:schemeClr val="dk1"/>
              </a:solidFill>
              <a:latin typeface="Calibri"/>
              <a:ea typeface="Calibri"/>
              <a:cs typeface="Calibri"/>
              <a:sym typeface="Calibri"/>
            </a:endParaRPr>
          </a:p>
        </p:txBody>
      </p:sp>
      <p:sp>
        <p:nvSpPr>
          <p:cNvPr id="580" name="Google Shape;580;p37"/>
          <p:cNvSpPr/>
          <p:nvPr/>
        </p:nvSpPr>
        <p:spPr>
          <a:xfrm>
            <a:off x="3749040" y="3026664"/>
            <a:ext cx="155448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8FAD"/>
              </a:buClr>
              <a:buSzPts val="2100"/>
              <a:buFont typeface="Cambria"/>
              <a:buNone/>
            </a:pPr>
            <a:r>
              <a:rPr b="1" i="0" lang="en" sz="2100" u="none" cap="none" strike="noStrike">
                <a:solidFill>
                  <a:srgbClr val="938FAD"/>
                </a:solidFill>
                <a:latin typeface="Cambria"/>
                <a:ea typeface="Cambria"/>
                <a:cs typeface="Cambria"/>
                <a:sym typeface="Cambria"/>
              </a:rPr>
              <a:t>~27.5k</a:t>
            </a:r>
            <a:endParaRPr b="0" i="0" sz="2100" u="none" cap="none" strike="noStrike">
              <a:solidFill>
                <a:schemeClr val="dk1"/>
              </a:solidFill>
              <a:latin typeface="Calibri"/>
              <a:ea typeface="Calibri"/>
              <a:cs typeface="Calibri"/>
              <a:sym typeface="Calibri"/>
            </a:endParaRPr>
          </a:p>
        </p:txBody>
      </p:sp>
      <p:sp>
        <p:nvSpPr>
          <p:cNvPr id="581" name="Google Shape;581;p37"/>
          <p:cNvSpPr/>
          <p:nvPr/>
        </p:nvSpPr>
        <p:spPr>
          <a:xfrm>
            <a:off x="5440680" y="3072384"/>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1800"/>
              <a:buFont typeface="Calibri"/>
              <a:buNone/>
            </a:pPr>
            <a:r>
              <a:rPr b="1" i="0" lang="en" sz="1800" u="none" cap="none" strike="noStrike">
                <a:solidFill>
                  <a:srgbClr val="E07B2E"/>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582" name="Google Shape;582;p37"/>
          <p:cNvSpPr/>
          <p:nvPr/>
        </p:nvSpPr>
        <p:spPr>
          <a:xfrm>
            <a:off x="5852160" y="3026664"/>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2100"/>
              <a:buFont typeface="Cambria"/>
              <a:buNone/>
            </a:pPr>
            <a:r>
              <a:rPr b="1" i="0" lang="en" sz="2100" u="none" cap="none" strike="noStrike">
                <a:solidFill>
                  <a:srgbClr val="A8530F"/>
                </a:solidFill>
                <a:latin typeface="Cambria"/>
                <a:ea typeface="Cambria"/>
                <a:cs typeface="Cambria"/>
                <a:sym typeface="Cambria"/>
              </a:rPr>
              <a:t>50k+</a:t>
            </a:r>
            <a:endParaRPr b="0" i="0" sz="2100" u="none" cap="none" strike="noStrike">
              <a:solidFill>
                <a:schemeClr val="dk1"/>
              </a:solidFill>
              <a:latin typeface="Calibri"/>
              <a:ea typeface="Calibri"/>
              <a:cs typeface="Calibri"/>
              <a:sym typeface="Calibri"/>
            </a:endParaRPr>
          </a:p>
        </p:txBody>
      </p:sp>
      <p:sp>
        <p:nvSpPr>
          <p:cNvPr id="583" name="Google Shape;583;p37"/>
          <p:cNvSpPr/>
          <p:nvPr/>
        </p:nvSpPr>
        <p:spPr>
          <a:xfrm>
            <a:off x="566928" y="3749040"/>
            <a:ext cx="3108960" cy="4572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5C5680"/>
              </a:buClr>
              <a:buSzPts val="1250"/>
              <a:buFont typeface="Calibri"/>
              <a:buNone/>
            </a:pPr>
            <a:r>
              <a:rPr b="1" i="0" lang="en" sz="1250" u="none" cap="none" strike="noStrike">
                <a:solidFill>
                  <a:srgbClr val="5C5680"/>
                </a:solidFill>
                <a:latin typeface="Calibri"/>
                <a:ea typeface="Calibri"/>
                <a:cs typeface="Calibri"/>
                <a:sym typeface="Calibri"/>
              </a:rPr>
              <a:t>Annual revenue (to sustain &amp; extend)</a:t>
            </a:r>
            <a:endParaRPr b="0" i="0" sz="1250" u="none" cap="none" strike="noStrike">
              <a:solidFill>
                <a:schemeClr val="dk1"/>
              </a:solidFill>
              <a:latin typeface="Calibri"/>
              <a:ea typeface="Calibri"/>
              <a:cs typeface="Calibri"/>
              <a:sym typeface="Calibri"/>
            </a:endParaRPr>
          </a:p>
        </p:txBody>
      </p:sp>
      <p:sp>
        <p:nvSpPr>
          <p:cNvPr id="584" name="Google Shape;584;p37"/>
          <p:cNvSpPr/>
          <p:nvPr/>
        </p:nvSpPr>
        <p:spPr>
          <a:xfrm>
            <a:off x="3749040" y="3685032"/>
            <a:ext cx="155448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8FAD"/>
              </a:buClr>
              <a:buSzPts val="2100"/>
              <a:buFont typeface="Cambria"/>
              <a:buNone/>
            </a:pPr>
            <a:r>
              <a:rPr b="1" i="0" lang="en" sz="2100" u="none" cap="none" strike="noStrike">
                <a:solidFill>
                  <a:srgbClr val="938FAD"/>
                </a:solidFill>
                <a:latin typeface="Cambria"/>
                <a:ea typeface="Cambria"/>
                <a:cs typeface="Cambria"/>
                <a:sym typeface="Cambria"/>
              </a:rPr>
              <a:t>₹2 cr</a:t>
            </a:r>
            <a:endParaRPr b="0" i="0" sz="2100" u="none" cap="none" strike="noStrike">
              <a:solidFill>
                <a:schemeClr val="dk1"/>
              </a:solidFill>
              <a:latin typeface="Calibri"/>
              <a:ea typeface="Calibri"/>
              <a:cs typeface="Calibri"/>
              <a:sym typeface="Calibri"/>
            </a:endParaRPr>
          </a:p>
        </p:txBody>
      </p:sp>
      <p:sp>
        <p:nvSpPr>
          <p:cNvPr id="585" name="Google Shape;585;p37"/>
          <p:cNvSpPr/>
          <p:nvPr/>
        </p:nvSpPr>
        <p:spPr>
          <a:xfrm>
            <a:off x="5440680" y="373075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1800"/>
              <a:buFont typeface="Calibri"/>
              <a:buNone/>
            </a:pPr>
            <a:r>
              <a:rPr b="1" i="0" lang="en" sz="1800" u="none" cap="none" strike="noStrike">
                <a:solidFill>
                  <a:srgbClr val="E07B2E"/>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586" name="Google Shape;586;p37"/>
          <p:cNvSpPr/>
          <p:nvPr/>
        </p:nvSpPr>
        <p:spPr>
          <a:xfrm>
            <a:off x="5852160" y="3685032"/>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2100"/>
              <a:buFont typeface="Cambria"/>
              <a:buNone/>
            </a:pPr>
            <a:r>
              <a:rPr b="1" i="0" lang="en" sz="2100" u="none" cap="none" strike="noStrike">
                <a:solidFill>
                  <a:srgbClr val="A8530F"/>
                </a:solidFill>
                <a:latin typeface="Cambria"/>
                <a:ea typeface="Cambria"/>
                <a:cs typeface="Cambria"/>
                <a:sym typeface="Cambria"/>
              </a:rPr>
              <a:t>₹50–60 cr</a:t>
            </a:r>
            <a:endParaRPr b="0" i="0" sz="2100" u="none" cap="none" strike="noStrike">
              <a:solidFill>
                <a:schemeClr val="dk1"/>
              </a:solidFill>
              <a:latin typeface="Calibri"/>
              <a:ea typeface="Calibri"/>
              <a:cs typeface="Calibri"/>
              <a:sym typeface="Calibri"/>
            </a:endParaRPr>
          </a:p>
        </p:txBody>
      </p:sp>
      <p:sp>
        <p:nvSpPr>
          <p:cNvPr id="587" name="Google Shape;587;p37"/>
          <p:cNvSpPr/>
          <p:nvPr/>
        </p:nvSpPr>
        <p:spPr>
          <a:xfrm>
            <a:off x="566928" y="4434840"/>
            <a:ext cx="804672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C5680"/>
              </a:buClr>
              <a:buSzPts val="1200"/>
              <a:buFont typeface="Calibri"/>
              <a:buNone/>
            </a:pPr>
            <a:r>
              <a:rPr b="0" i="1" lang="en" sz="1200" u="none" cap="none" strike="noStrike">
                <a:solidFill>
                  <a:srgbClr val="5C5680"/>
                </a:solidFill>
                <a:latin typeface="Calibri"/>
                <a:ea typeface="Calibri"/>
                <a:cs typeface="Calibri"/>
                <a:sym typeface="Calibri"/>
              </a:rPr>
              <a:t>The leap is not more subscribers alone — it is gently guiding engaged practitioners toward the courses, so the mission can reach far more people than it does today.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2" name="Shape 592"/>
        <p:cNvGrpSpPr/>
        <p:nvPr/>
      </p:nvGrpSpPr>
      <p:grpSpPr>
        <a:xfrm>
          <a:off x="0" y="0"/>
          <a:ext cx="0" cy="0"/>
          <a:chOff x="0" y="0"/>
          <a:chExt cx="0" cy="0"/>
        </a:xfrm>
      </p:grpSpPr>
      <p:sp>
        <p:nvSpPr>
          <p:cNvPr id="593" name="Google Shape;593;p38"/>
          <p:cNvSpPr/>
          <p:nvPr/>
        </p:nvSpPr>
        <p:spPr>
          <a:xfrm>
            <a:off x="54864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APPENDIX · ARCHITECTURE</a:t>
            </a:r>
            <a:endParaRPr b="0" i="0" sz="1100" u="none" cap="none" strike="noStrike">
              <a:solidFill>
                <a:schemeClr val="dk1"/>
              </a:solidFill>
              <a:latin typeface="Calibri"/>
              <a:ea typeface="Calibri"/>
              <a:cs typeface="Calibri"/>
              <a:sym typeface="Calibri"/>
            </a:endParaRPr>
          </a:p>
        </p:txBody>
      </p:sp>
      <p:sp>
        <p:nvSpPr>
          <p:cNvPr id="594" name="Google Shape;594;p38"/>
          <p:cNvSpPr/>
          <p:nvPr/>
        </p:nvSpPr>
        <p:spPr>
          <a:xfrm>
            <a:off x="512064" y="585216"/>
            <a:ext cx="85953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100"/>
              <a:buFont typeface="Cambria"/>
              <a:buNone/>
            </a:pPr>
            <a:r>
              <a:rPr b="1" i="0" lang="en" sz="2100" u="none" cap="none" strike="noStrike">
                <a:solidFill>
                  <a:srgbClr val="211B45"/>
                </a:solidFill>
                <a:latin typeface="Cambria"/>
                <a:ea typeface="Cambria"/>
                <a:cs typeface="Cambria"/>
                <a:sym typeface="Cambria"/>
              </a:rPr>
              <a:t>End to end: wisdom in, a personalised practice out</a:t>
            </a:r>
            <a:endParaRPr b="0" i="0" sz="2100" u="none" cap="none" strike="noStrike">
              <a:solidFill>
                <a:schemeClr val="dk1"/>
              </a:solidFill>
              <a:latin typeface="Calibri"/>
              <a:ea typeface="Calibri"/>
              <a:cs typeface="Calibri"/>
              <a:sym typeface="Calibri"/>
            </a:endParaRPr>
          </a:p>
        </p:txBody>
      </p:sp>
      <p:sp>
        <p:nvSpPr>
          <p:cNvPr id="595" name="Google Shape;595;p38"/>
          <p:cNvSpPr/>
          <p:nvPr/>
        </p:nvSpPr>
        <p:spPr>
          <a:xfrm>
            <a:off x="365760" y="1325880"/>
            <a:ext cx="1335024" cy="384048"/>
          </a:xfrm>
          <a:prstGeom prst="roundRect">
            <a:avLst>
              <a:gd fmla="val 16667" name="adj"/>
            </a:avLst>
          </a:prstGeom>
          <a:solidFill>
            <a:srgbClr val="A853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8"/>
          <p:cNvSpPr/>
          <p:nvPr/>
        </p:nvSpPr>
        <p:spPr>
          <a:xfrm>
            <a:off x="365760" y="1325880"/>
            <a:ext cx="1335024"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80"/>
              <a:buFont typeface="Calibri"/>
              <a:buNone/>
            </a:pPr>
            <a:r>
              <a:rPr b="1" i="0" lang="en" sz="980" u="none" cap="none" strike="noStrike">
                <a:solidFill>
                  <a:srgbClr val="FFFFFF"/>
                </a:solidFill>
                <a:latin typeface="Calibri"/>
                <a:ea typeface="Calibri"/>
                <a:cs typeface="Calibri"/>
                <a:sym typeface="Calibri"/>
              </a:rPr>
              <a:t>Sources</a:t>
            </a:r>
            <a:endParaRPr b="0" i="0" sz="980" u="none" cap="none" strike="noStrike">
              <a:solidFill>
                <a:schemeClr val="dk1"/>
              </a:solidFill>
              <a:latin typeface="Calibri"/>
              <a:ea typeface="Calibri"/>
              <a:cs typeface="Calibri"/>
              <a:sym typeface="Calibri"/>
            </a:endParaRPr>
          </a:p>
        </p:txBody>
      </p:sp>
      <p:sp>
        <p:nvSpPr>
          <p:cNvPr id="597" name="Google Shape;597;p38"/>
          <p:cNvSpPr/>
          <p:nvPr/>
        </p:nvSpPr>
        <p:spPr>
          <a:xfrm>
            <a:off x="365760" y="1783080"/>
            <a:ext cx="1335024" cy="2788920"/>
          </a:xfrm>
          <a:prstGeom prst="roundRect">
            <a:avLst>
              <a:gd fmla="val 4795" name="adj"/>
            </a:avLst>
          </a:prstGeom>
          <a:solidFill>
            <a:srgbClr val="F7E6D2"/>
          </a:solidFill>
          <a:ln cap="flat" cmpd="sng" w="9525">
            <a:solidFill>
              <a:srgbClr val="E6E1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8"/>
          <p:cNvSpPr/>
          <p:nvPr/>
        </p:nvSpPr>
        <p:spPr>
          <a:xfrm>
            <a:off x="411480" y="1828800"/>
            <a:ext cx="1243584" cy="382742"/>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Gurudev’s talks</a:t>
            </a:r>
            <a:endParaRPr b="0" i="0" sz="800" u="none" cap="none" strike="noStrike">
              <a:solidFill>
                <a:schemeClr val="dk1"/>
              </a:solidFill>
              <a:latin typeface="Calibri"/>
              <a:ea typeface="Calibri"/>
              <a:cs typeface="Calibri"/>
              <a:sym typeface="Calibri"/>
            </a:endParaRPr>
          </a:p>
        </p:txBody>
      </p:sp>
      <p:sp>
        <p:nvSpPr>
          <p:cNvPr id="599" name="Google Shape;599;p38"/>
          <p:cNvSpPr/>
          <p:nvPr/>
        </p:nvSpPr>
        <p:spPr>
          <a:xfrm>
            <a:off x="411480" y="2211542"/>
            <a:ext cx="1243584" cy="382742"/>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SKY &amp; breath</a:t>
            </a:r>
            <a:endParaRPr b="0" i="0" sz="800" u="none" cap="none" strike="noStrike">
              <a:solidFill>
                <a:schemeClr val="dk1"/>
              </a:solidFill>
              <a:latin typeface="Calibri"/>
              <a:ea typeface="Calibri"/>
              <a:cs typeface="Calibri"/>
              <a:sym typeface="Calibri"/>
            </a:endParaRPr>
          </a:p>
        </p:txBody>
      </p:sp>
      <p:sp>
        <p:nvSpPr>
          <p:cNvPr id="600" name="Google Shape;600;p38"/>
          <p:cNvSpPr/>
          <p:nvPr/>
        </p:nvSpPr>
        <p:spPr>
          <a:xfrm>
            <a:off x="411480" y="2594283"/>
            <a:ext cx="1243584" cy="382742"/>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Meditations</a:t>
            </a:r>
            <a:endParaRPr b="0" i="0" sz="800" u="none" cap="none" strike="noStrike">
              <a:solidFill>
                <a:schemeClr val="dk1"/>
              </a:solidFill>
              <a:latin typeface="Calibri"/>
              <a:ea typeface="Calibri"/>
              <a:cs typeface="Calibri"/>
              <a:sym typeface="Calibri"/>
            </a:endParaRPr>
          </a:p>
        </p:txBody>
      </p:sp>
      <p:sp>
        <p:nvSpPr>
          <p:cNvPr id="601" name="Google Shape;601;p38"/>
          <p:cNvSpPr/>
          <p:nvPr/>
        </p:nvSpPr>
        <p:spPr>
          <a:xfrm>
            <a:off x="411480" y="2977025"/>
            <a:ext cx="1243584" cy="382742"/>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Chants &amp; bhajans</a:t>
            </a:r>
            <a:endParaRPr b="0" i="0" sz="800" u="none" cap="none" strike="noStrike">
              <a:solidFill>
                <a:schemeClr val="dk1"/>
              </a:solidFill>
              <a:latin typeface="Calibri"/>
              <a:ea typeface="Calibri"/>
              <a:cs typeface="Calibri"/>
              <a:sym typeface="Calibri"/>
            </a:endParaRPr>
          </a:p>
        </p:txBody>
      </p:sp>
      <p:sp>
        <p:nvSpPr>
          <p:cNvPr id="602" name="Google Shape;602;p38"/>
          <p:cNvSpPr/>
          <p:nvPr/>
        </p:nvSpPr>
        <p:spPr>
          <a:xfrm>
            <a:off x="411480" y="3359767"/>
            <a:ext cx="1243584" cy="382742"/>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Course catalog</a:t>
            </a:r>
            <a:endParaRPr b="0" i="0" sz="800" u="none" cap="none" strike="noStrike">
              <a:solidFill>
                <a:schemeClr val="dk1"/>
              </a:solidFill>
              <a:latin typeface="Calibri"/>
              <a:ea typeface="Calibri"/>
              <a:cs typeface="Calibri"/>
              <a:sym typeface="Calibri"/>
            </a:endParaRPr>
          </a:p>
        </p:txBody>
      </p:sp>
      <p:sp>
        <p:nvSpPr>
          <p:cNvPr id="603" name="Google Shape;603;p38"/>
          <p:cNvSpPr/>
          <p:nvPr/>
        </p:nvSpPr>
        <p:spPr>
          <a:xfrm>
            <a:off x="411480" y="3742509"/>
            <a:ext cx="1243584" cy="382742"/>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Live sessions</a:t>
            </a:r>
            <a:endParaRPr b="0" i="0" sz="800" u="none" cap="none" strike="noStrike">
              <a:solidFill>
                <a:schemeClr val="dk1"/>
              </a:solidFill>
              <a:latin typeface="Calibri"/>
              <a:ea typeface="Calibri"/>
              <a:cs typeface="Calibri"/>
              <a:sym typeface="Calibri"/>
            </a:endParaRPr>
          </a:p>
        </p:txBody>
      </p:sp>
      <p:sp>
        <p:nvSpPr>
          <p:cNvPr id="604" name="Google Shape;604;p38"/>
          <p:cNvSpPr/>
          <p:nvPr/>
        </p:nvSpPr>
        <p:spPr>
          <a:xfrm>
            <a:off x="411480" y="4125250"/>
            <a:ext cx="1243584" cy="382742"/>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User signals</a:t>
            </a:r>
            <a:endParaRPr b="0" i="0" sz="800" u="none" cap="none" strike="noStrike">
              <a:solidFill>
                <a:schemeClr val="dk1"/>
              </a:solidFill>
              <a:latin typeface="Calibri"/>
              <a:ea typeface="Calibri"/>
              <a:cs typeface="Calibri"/>
              <a:sym typeface="Calibri"/>
            </a:endParaRPr>
          </a:p>
        </p:txBody>
      </p:sp>
      <p:sp>
        <p:nvSpPr>
          <p:cNvPr id="605" name="Google Shape;605;p38"/>
          <p:cNvSpPr/>
          <p:nvPr/>
        </p:nvSpPr>
        <p:spPr>
          <a:xfrm>
            <a:off x="1664208" y="288036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1300"/>
              <a:buFont typeface="Calibri"/>
              <a:buNone/>
            </a:pPr>
            <a:r>
              <a:rPr b="1" i="0" lang="en" sz="1300" u="none" cap="none" strike="noStrike">
                <a:solidFill>
                  <a:srgbClr val="E07B2E"/>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606" name="Google Shape;606;p38"/>
          <p:cNvSpPr/>
          <p:nvPr/>
        </p:nvSpPr>
        <p:spPr>
          <a:xfrm>
            <a:off x="1819656" y="1325880"/>
            <a:ext cx="1335024" cy="384048"/>
          </a:xfrm>
          <a:prstGeom prst="roundRect">
            <a:avLst>
              <a:gd fmla="val 16667" name="adj"/>
            </a:avLst>
          </a:prstGeom>
          <a:solidFill>
            <a:srgbClr val="B583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8"/>
          <p:cNvSpPr/>
          <p:nvPr/>
        </p:nvSpPr>
        <p:spPr>
          <a:xfrm>
            <a:off x="1819656" y="1325880"/>
            <a:ext cx="1335024"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80"/>
              <a:buFont typeface="Calibri"/>
              <a:buNone/>
            </a:pPr>
            <a:r>
              <a:rPr b="1" i="0" lang="en" sz="980" u="none" cap="none" strike="noStrike">
                <a:solidFill>
                  <a:srgbClr val="FFFFFF"/>
                </a:solidFill>
                <a:latin typeface="Calibri"/>
                <a:ea typeface="Calibri"/>
                <a:cs typeface="Calibri"/>
                <a:sym typeface="Calibri"/>
              </a:rPr>
              <a:t>Ingest &amp; store</a:t>
            </a:r>
            <a:endParaRPr b="0" i="0" sz="980" u="none" cap="none" strike="noStrike">
              <a:solidFill>
                <a:schemeClr val="dk1"/>
              </a:solidFill>
              <a:latin typeface="Calibri"/>
              <a:ea typeface="Calibri"/>
              <a:cs typeface="Calibri"/>
              <a:sym typeface="Calibri"/>
            </a:endParaRPr>
          </a:p>
        </p:txBody>
      </p:sp>
      <p:sp>
        <p:nvSpPr>
          <p:cNvPr id="608" name="Google Shape;608;p38"/>
          <p:cNvSpPr/>
          <p:nvPr/>
        </p:nvSpPr>
        <p:spPr>
          <a:xfrm>
            <a:off x="1819656" y="1783080"/>
            <a:ext cx="1335024" cy="2788920"/>
          </a:xfrm>
          <a:prstGeom prst="roundRect">
            <a:avLst>
              <a:gd fmla="val 4795" name="adj"/>
            </a:avLst>
          </a:prstGeom>
          <a:solidFill>
            <a:srgbClr val="FAF0DA"/>
          </a:solidFill>
          <a:ln cap="flat" cmpd="sng" w="9525">
            <a:solidFill>
              <a:srgbClr val="E6E1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8"/>
          <p:cNvSpPr/>
          <p:nvPr/>
        </p:nvSpPr>
        <p:spPr>
          <a:xfrm>
            <a:off x="1865376" y="1828800"/>
            <a:ext cx="1243584" cy="66979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Content lake</a:t>
            </a:r>
            <a:endParaRPr b="0" i="0" sz="800" u="none" cap="none" strike="noStrike">
              <a:solidFill>
                <a:schemeClr val="dk1"/>
              </a:solidFill>
              <a:latin typeface="Calibri"/>
              <a:ea typeface="Calibri"/>
              <a:cs typeface="Calibri"/>
              <a:sym typeface="Calibri"/>
            </a:endParaRPr>
          </a:p>
        </p:txBody>
      </p:sp>
      <p:sp>
        <p:nvSpPr>
          <p:cNvPr id="610" name="Google Shape;610;p38"/>
          <p:cNvSpPr/>
          <p:nvPr/>
        </p:nvSpPr>
        <p:spPr>
          <a:xfrm>
            <a:off x="1865376" y="2498598"/>
            <a:ext cx="1243584" cy="66979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Transcription (ASR)</a:t>
            </a:r>
            <a:endParaRPr b="0" i="0" sz="800" u="none" cap="none" strike="noStrike">
              <a:solidFill>
                <a:schemeClr val="dk1"/>
              </a:solidFill>
              <a:latin typeface="Calibri"/>
              <a:ea typeface="Calibri"/>
              <a:cs typeface="Calibri"/>
              <a:sym typeface="Calibri"/>
            </a:endParaRPr>
          </a:p>
        </p:txBody>
      </p:sp>
      <p:sp>
        <p:nvSpPr>
          <p:cNvPr id="611" name="Google Shape;611;p38"/>
          <p:cNvSpPr/>
          <p:nvPr/>
        </p:nvSpPr>
        <p:spPr>
          <a:xfrm>
            <a:off x="1865376" y="3168396"/>
            <a:ext cx="1243584" cy="66979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Metadata store</a:t>
            </a:r>
            <a:endParaRPr b="0" i="0" sz="800" u="none" cap="none" strike="noStrike">
              <a:solidFill>
                <a:schemeClr val="dk1"/>
              </a:solidFill>
              <a:latin typeface="Calibri"/>
              <a:ea typeface="Calibri"/>
              <a:cs typeface="Calibri"/>
              <a:sym typeface="Calibri"/>
            </a:endParaRPr>
          </a:p>
        </p:txBody>
      </p:sp>
      <p:sp>
        <p:nvSpPr>
          <p:cNvPr id="612" name="Google Shape;612;p38"/>
          <p:cNvSpPr/>
          <p:nvPr/>
        </p:nvSpPr>
        <p:spPr>
          <a:xfrm>
            <a:off x="1865376" y="3838194"/>
            <a:ext cx="1243584" cy="66979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Profile &amp; events</a:t>
            </a:r>
            <a:endParaRPr b="0" i="0" sz="800" u="none" cap="none" strike="noStrike">
              <a:solidFill>
                <a:schemeClr val="dk1"/>
              </a:solidFill>
              <a:latin typeface="Calibri"/>
              <a:ea typeface="Calibri"/>
              <a:cs typeface="Calibri"/>
              <a:sym typeface="Calibri"/>
            </a:endParaRPr>
          </a:p>
        </p:txBody>
      </p:sp>
      <p:sp>
        <p:nvSpPr>
          <p:cNvPr id="613" name="Google Shape;613;p38"/>
          <p:cNvSpPr/>
          <p:nvPr/>
        </p:nvSpPr>
        <p:spPr>
          <a:xfrm>
            <a:off x="3118104" y="288036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1300"/>
              <a:buFont typeface="Calibri"/>
              <a:buNone/>
            </a:pPr>
            <a:r>
              <a:rPr b="1" i="0" lang="en" sz="1300" u="none" cap="none" strike="noStrike">
                <a:solidFill>
                  <a:srgbClr val="E07B2E"/>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614" name="Google Shape;614;p38"/>
          <p:cNvSpPr/>
          <p:nvPr/>
        </p:nvSpPr>
        <p:spPr>
          <a:xfrm>
            <a:off x="3273552" y="1325880"/>
            <a:ext cx="1335024" cy="384048"/>
          </a:xfrm>
          <a:prstGeom prst="roundRect">
            <a:avLst>
              <a:gd fmla="val 16667" name="adj"/>
            </a:avLst>
          </a:prstGeom>
          <a:solidFill>
            <a:srgbClr val="2F5C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8"/>
          <p:cNvSpPr/>
          <p:nvPr/>
        </p:nvSpPr>
        <p:spPr>
          <a:xfrm>
            <a:off x="3273552" y="1325880"/>
            <a:ext cx="1335024"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80"/>
              <a:buFont typeface="Calibri"/>
              <a:buNone/>
            </a:pPr>
            <a:r>
              <a:rPr b="1" i="0" lang="en" sz="980" u="none" cap="none" strike="noStrike">
                <a:solidFill>
                  <a:srgbClr val="FFFFFF"/>
                </a:solidFill>
                <a:latin typeface="Calibri"/>
                <a:ea typeface="Calibri"/>
                <a:cs typeface="Calibri"/>
                <a:sym typeface="Calibri"/>
              </a:rPr>
              <a:t>Enrich · NLP/CV</a:t>
            </a:r>
            <a:endParaRPr b="0" i="0" sz="980" u="none" cap="none" strike="noStrike">
              <a:solidFill>
                <a:schemeClr val="dk1"/>
              </a:solidFill>
              <a:latin typeface="Calibri"/>
              <a:ea typeface="Calibri"/>
              <a:cs typeface="Calibri"/>
              <a:sym typeface="Calibri"/>
            </a:endParaRPr>
          </a:p>
        </p:txBody>
      </p:sp>
      <p:sp>
        <p:nvSpPr>
          <p:cNvPr id="616" name="Google Shape;616;p38"/>
          <p:cNvSpPr/>
          <p:nvPr/>
        </p:nvSpPr>
        <p:spPr>
          <a:xfrm>
            <a:off x="3273552" y="1783080"/>
            <a:ext cx="1335024" cy="2788920"/>
          </a:xfrm>
          <a:prstGeom prst="roundRect">
            <a:avLst>
              <a:gd fmla="val 4795" name="adj"/>
            </a:avLst>
          </a:prstGeom>
          <a:solidFill>
            <a:srgbClr val="E3EFEA"/>
          </a:solidFill>
          <a:ln cap="flat" cmpd="sng" w="9525">
            <a:solidFill>
              <a:srgbClr val="E6E1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8"/>
          <p:cNvSpPr/>
          <p:nvPr/>
        </p:nvSpPr>
        <p:spPr>
          <a:xfrm>
            <a:off x="3319272" y="1828800"/>
            <a:ext cx="1243584" cy="66979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Auto-tagging (theme, level, B·M·S)</a:t>
            </a:r>
            <a:endParaRPr b="0" i="0" sz="800" u="none" cap="none" strike="noStrike">
              <a:solidFill>
                <a:schemeClr val="dk1"/>
              </a:solidFill>
              <a:latin typeface="Calibri"/>
              <a:ea typeface="Calibri"/>
              <a:cs typeface="Calibri"/>
              <a:sym typeface="Calibri"/>
            </a:endParaRPr>
          </a:p>
        </p:txBody>
      </p:sp>
      <p:sp>
        <p:nvSpPr>
          <p:cNvPr id="618" name="Google Shape;618;p38"/>
          <p:cNvSpPr/>
          <p:nvPr/>
        </p:nvSpPr>
        <p:spPr>
          <a:xfrm>
            <a:off x="3319272" y="2498598"/>
            <a:ext cx="1243584" cy="66979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Translation &amp; localisation</a:t>
            </a:r>
            <a:endParaRPr b="0" i="0" sz="800" u="none" cap="none" strike="noStrike">
              <a:solidFill>
                <a:schemeClr val="dk1"/>
              </a:solidFill>
              <a:latin typeface="Calibri"/>
              <a:ea typeface="Calibri"/>
              <a:cs typeface="Calibri"/>
              <a:sym typeface="Calibri"/>
            </a:endParaRPr>
          </a:p>
        </p:txBody>
      </p:sp>
      <p:sp>
        <p:nvSpPr>
          <p:cNvPr id="619" name="Google Shape;619;p38"/>
          <p:cNvSpPr/>
          <p:nvPr/>
        </p:nvSpPr>
        <p:spPr>
          <a:xfrm>
            <a:off x="3319272" y="3168396"/>
            <a:ext cx="1243584" cy="66979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Embeddings / vector index</a:t>
            </a:r>
            <a:endParaRPr b="0" i="0" sz="800" u="none" cap="none" strike="noStrike">
              <a:solidFill>
                <a:schemeClr val="dk1"/>
              </a:solidFill>
              <a:latin typeface="Calibri"/>
              <a:ea typeface="Calibri"/>
              <a:cs typeface="Calibri"/>
              <a:sym typeface="Calibri"/>
            </a:endParaRPr>
          </a:p>
        </p:txBody>
      </p:sp>
      <p:sp>
        <p:nvSpPr>
          <p:cNvPr id="620" name="Google Shape;620;p38"/>
          <p:cNvSpPr/>
          <p:nvPr/>
        </p:nvSpPr>
        <p:spPr>
          <a:xfrm>
            <a:off x="3319272" y="3838194"/>
            <a:ext cx="1243584" cy="66979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Authenticity &amp; quality check</a:t>
            </a:r>
            <a:endParaRPr b="0" i="0" sz="800" u="none" cap="none" strike="noStrike">
              <a:solidFill>
                <a:schemeClr val="dk1"/>
              </a:solidFill>
              <a:latin typeface="Calibri"/>
              <a:ea typeface="Calibri"/>
              <a:cs typeface="Calibri"/>
              <a:sym typeface="Calibri"/>
            </a:endParaRPr>
          </a:p>
        </p:txBody>
      </p:sp>
      <p:sp>
        <p:nvSpPr>
          <p:cNvPr id="621" name="Google Shape;621;p38"/>
          <p:cNvSpPr/>
          <p:nvPr/>
        </p:nvSpPr>
        <p:spPr>
          <a:xfrm>
            <a:off x="4572000" y="288036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1300"/>
              <a:buFont typeface="Calibri"/>
              <a:buNone/>
            </a:pPr>
            <a:r>
              <a:rPr b="1" i="0" lang="en" sz="1300" u="none" cap="none" strike="noStrike">
                <a:solidFill>
                  <a:srgbClr val="E07B2E"/>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622" name="Google Shape;622;p38"/>
          <p:cNvSpPr/>
          <p:nvPr/>
        </p:nvSpPr>
        <p:spPr>
          <a:xfrm>
            <a:off x="4727448" y="1325880"/>
            <a:ext cx="1335024" cy="384048"/>
          </a:xfrm>
          <a:prstGeom prst="roundRect">
            <a:avLst>
              <a:gd fmla="val 16667" name="adj"/>
            </a:avLst>
          </a:prstGeom>
          <a:solidFill>
            <a:srgbClr val="372C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8"/>
          <p:cNvSpPr/>
          <p:nvPr/>
        </p:nvSpPr>
        <p:spPr>
          <a:xfrm>
            <a:off x="4727448" y="1325880"/>
            <a:ext cx="1335024"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80"/>
              <a:buFont typeface="Calibri"/>
              <a:buNone/>
            </a:pPr>
            <a:r>
              <a:rPr b="1" i="0" lang="en" sz="980" u="none" cap="none" strike="noStrike">
                <a:solidFill>
                  <a:srgbClr val="FFFFFF"/>
                </a:solidFill>
                <a:latin typeface="Calibri"/>
                <a:ea typeface="Calibri"/>
                <a:cs typeface="Calibri"/>
                <a:sym typeface="Calibri"/>
              </a:rPr>
              <a:t>Intelligence</a:t>
            </a:r>
            <a:endParaRPr b="0" i="0" sz="980" u="none" cap="none" strike="noStrike">
              <a:solidFill>
                <a:schemeClr val="dk1"/>
              </a:solidFill>
              <a:latin typeface="Calibri"/>
              <a:ea typeface="Calibri"/>
              <a:cs typeface="Calibri"/>
              <a:sym typeface="Calibri"/>
            </a:endParaRPr>
          </a:p>
        </p:txBody>
      </p:sp>
      <p:sp>
        <p:nvSpPr>
          <p:cNvPr id="624" name="Google Shape;624;p38"/>
          <p:cNvSpPr/>
          <p:nvPr/>
        </p:nvSpPr>
        <p:spPr>
          <a:xfrm>
            <a:off x="4727448" y="1783080"/>
            <a:ext cx="1335024" cy="2788920"/>
          </a:xfrm>
          <a:prstGeom prst="roundRect">
            <a:avLst>
              <a:gd fmla="val 4795" name="adj"/>
            </a:avLst>
          </a:prstGeom>
          <a:solidFill>
            <a:srgbClr val="E7E3F3"/>
          </a:solidFill>
          <a:ln cap="flat" cmpd="sng" w="9525">
            <a:solidFill>
              <a:srgbClr val="E6E1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38"/>
          <p:cNvSpPr/>
          <p:nvPr/>
        </p:nvSpPr>
        <p:spPr>
          <a:xfrm>
            <a:off x="4773168" y="1828800"/>
            <a:ext cx="1243584" cy="66979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Sahaj retrieval (RAG)</a:t>
            </a:r>
            <a:endParaRPr b="0" i="0" sz="800" u="none" cap="none" strike="noStrike">
              <a:solidFill>
                <a:schemeClr val="dk1"/>
              </a:solidFill>
              <a:latin typeface="Calibri"/>
              <a:ea typeface="Calibri"/>
              <a:cs typeface="Calibri"/>
              <a:sym typeface="Calibri"/>
            </a:endParaRPr>
          </a:p>
        </p:txBody>
      </p:sp>
      <p:sp>
        <p:nvSpPr>
          <p:cNvPr id="626" name="Google Shape;626;p38"/>
          <p:cNvSpPr/>
          <p:nvPr/>
        </p:nvSpPr>
        <p:spPr>
          <a:xfrm>
            <a:off x="4773168" y="2498598"/>
            <a:ext cx="1243584" cy="66979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Recommender (next practice)</a:t>
            </a:r>
            <a:endParaRPr b="0" i="0" sz="800" u="none" cap="none" strike="noStrike">
              <a:solidFill>
                <a:schemeClr val="dk1"/>
              </a:solidFill>
              <a:latin typeface="Calibri"/>
              <a:ea typeface="Calibri"/>
              <a:cs typeface="Calibri"/>
              <a:sym typeface="Calibri"/>
            </a:endParaRPr>
          </a:p>
        </p:txBody>
      </p:sp>
      <p:sp>
        <p:nvSpPr>
          <p:cNvPr id="627" name="Google Shape;627;p38"/>
          <p:cNvSpPr/>
          <p:nvPr/>
        </p:nvSpPr>
        <p:spPr>
          <a:xfrm>
            <a:off x="4773168" y="3168396"/>
            <a:ext cx="1243584" cy="66979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Journey builder</a:t>
            </a:r>
            <a:endParaRPr b="0" i="0" sz="800" u="none" cap="none" strike="noStrike">
              <a:solidFill>
                <a:schemeClr val="dk1"/>
              </a:solidFill>
              <a:latin typeface="Calibri"/>
              <a:ea typeface="Calibri"/>
              <a:cs typeface="Calibri"/>
              <a:sym typeface="Calibri"/>
            </a:endParaRPr>
          </a:p>
        </p:txBody>
      </p:sp>
      <p:sp>
        <p:nvSpPr>
          <p:cNvPr id="628" name="Google Shape;628;p38"/>
          <p:cNvSpPr/>
          <p:nvPr/>
        </p:nvSpPr>
        <p:spPr>
          <a:xfrm>
            <a:off x="4773168" y="3838194"/>
            <a:ext cx="1243584" cy="66979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Personalisation (time, persona, progress)</a:t>
            </a:r>
            <a:endParaRPr b="0" i="0" sz="800" u="none" cap="none" strike="noStrike">
              <a:solidFill>
                <a:schemeClr val="dk1"/>
              </a:solidFill>
              <a:latin typeface="Calibri"/>
              <a:ea typeface="Calibri"/>
              <a:cs typeface="Calibri"/>
              <a:sym typeface="Calibri"/>
            </a:endParaRPr>
          </a:p>
        </p:txBody>
      </p:sp>
      <p:sp>
        <p:nvSpPr>
          <p:cNvPr id="629" name="Google Shape;629;p38"/>
          <p:cNvSpPr/>
          <p:nvPr/>
        </p:nvSpPr>
        <p:spPr>
          <a:xfrm>
            <a:off x="6025896" y="288036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1300"/>
              <a:buFont typeface="Calibri"/>
              <a:buNone/>
            </a:pPr>
            <a:r>
              <a:rPr b="1" i="0" lang="en" sz="1300" u="none" cap="none" strike="noStrike">
                <a:solidFill>
                  <a:srgbClr val="E07B2E"/>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630" name="Google Shape;630;p38"/>
          <p:cNvSpPr/>
          <p:nvPr/>
        </p:nvSpPr>
        <p:spPr>
          <a:xfrm>
            <a:off x="6181344" y="1325880"/>
            <a:ext cx="1335024" cy="384048"/>
          </a:xfrm>
          <a:prstGeom prst="roundRect">
            <a:avLst>
              <a:gd fmla="val 16667" name="adj"/>
            </a:avLst>
          </a:prstGeom>
          <a:solidFill>
            <a:srgbClr val="A853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8"/>
          <p:cNvSpPr/>
          <p:nvPr/>
        </p:nvSpPr>
        <p:spPr>
          <a:xfrm>
            <a:off x="6181344" y="1325880"/>
            <a:ext cx="1335024"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80"/>
              <a:buFont typeface="Calibri"/>
              <a:buNone/>
            </a:pPr>
            <a:r>
              <a:rPr b="1" i="0" lang="en" sz="980" u="none" cap="none" strike="noStrike">
                <a:solidFill>
                  <a:srgbClr val="FFFFFF"/>
                </a:solidFill>
                <a:latin typeface="Calibri"/>
                <a:ea typeface="Calibri"/>
                <a:cs typeface="Calibri"/>
                <a:sym typeface="Calibri"/>
              </a:rPr>
              <a:t>Experiences</a:t>
            </a:r>
            <a:endParaRPr b="0" i="0" sz="980" u="none" cap="none" strike="noStrike">
              <a:solidFill>
                <a:schemeClr val="dk1"/>
              </a:solidFill>
              <a:latin typeface="Calibri"/>
              <a:ea typeface="Calibri"/>
              <a:cs typeface="Calibri"/>
              <a:sym typeface="Calibri"/>
            </a:endParaRPr>
          </a:p>
        </p:txBody>
      </p:sp>
      <p:sp>
        <p:nvSpPr>
          <p:cNvPr id="632" name="Google Shape;632;p38"/>
          <p:cNvSpPr/>
          <p:nvPr/>
        </p:nvSpPr>
        <p:spPr>
          <a:xfrm>
            <a:off x="6181344" y="1783080"/>
            <a:ext cx="1335024" cy="2788920"/>
          </a:xfrm>
          <a:prstGeom prst="roundRect">
            <a:avLst>
              <a:gd fmla="val 4795" name="adj"/>
            </a:avLst>
          </a:prstGeom>
          <a:solidFill>
            <a:srgbClr val="F7E6D2"/>
          </a:solidFill>
          <a:ln cap="flat" cmpd="sng" w="9525">
            <a:solidFill>
              <a:srgbClr val="E6E1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8"/>
          <p:cNvSpPr/>
          <p:nvPr/>
        </p:nvSpPr>
        <p:spPr>
          <a:xfrm>
            <a:off x="6227064" y="1828800"/>
            <a:ext cx="1243584" cy="53583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Today</a:t>
            </a:r>
            <a:endParaRPr b="0" i="0" sz="800" u="none" cap="none" strike="noStrike">
              <a:solidFill>
                <a:schemeClr val="dk1"/>
              </a:solidFill>
              <a:latin typeface="Calibri"/>
              <a:ea typeface="Calibri"/>
              <a:cs typeface="Calibri"/>
              <a:sym typeface="Calibri"/>
            </a:endParaRPr>
          </a:p>
        </p:txBody>
      </p:sp>
      <p:sp>
        <p:nvSpPr>
          <p:cNvPr id="634" name="Google Shape;634;p38"/>
          <p:cNvSpPr/>
          <p:nvPr/>
        </p:nvSpPr>
        <p:spPr>
          <a:xfrm>
            <a:off x="6227064" y="2364638"/>
            <a:ext cx="1243584" cy="53583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Explore</a:t>
            </a:r>
            <a:endParaRPr b="0" i="0" sz="800" u="none" cap="none" strike="noStrike">
              <a:solidFill>
                <a:schemeClr val="dk1"/>
              </a:solidFill>
              <a:latin typeface="Calibri"/>
              <a:ea typeface="Calibri"/>
              <a:cs typeface="Calibri"/>
              <a:sym typeface="Calibri"/>
            </a:endParaRPr>
          </a:p>
        </p:txBody>
      </p:sp>
      <p:sp>
        <p:nvSpPr>
          <p:cNvPr id="635" name="Google Shape;635;p38"/>
          <p:cNvSpPr/>
          <p:nvPr/>
        </p:nvSpPr>
        <p:spPr>
          <a:xfrm>
            <a:off x="6227064" y="2900477"/>
            <a:ext cx="1243584" cy="53583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Ask · Sahaj</a:t>
            </a:r>
            <a:endParaRPr b="0" i="0" sz="800" u="none" cap="none" strike="noStrike">
              <a:solidFill>
                <a:schemeClr val="dk1"/>
              </a:solidFill>
              <a:latin typeface="Calibri"/>
              <a:ea typeface="Calibri"/>
              <a:cs typeface="Calibri"/>
              <a:sym typeface="Calibri"/>
            </a:endParaRPr>
          </a:p>
        </p:txBody>
      </p:sp>
      <p:sp>
        <p:nvSpPr>
          <p:cNvPr id="636" name="Google Shape;636;p38"/>
          <p:cNvSpPr/>
          <p:nvPr/>
        </p:nvSpPr>
        <p:spPr>
          <a:xfrm>
            <a:off x="6227064" y="3436315"/>
            <a:ext cx="1243584" cy="53583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Live</a:t>
            </a:r>
            <a:endParaRPr b="0" i="0" sz="800" u="none" cap="none" strike="noStrike">
              <a:solidFill>
                <a:schemeClr val="dk1"/>
              </a:solidFill>
              <a:latin typeface="Calibri"/>
              <a:ea typeface="Calibri"/>
              <a:cs typeface="Calibri"/>
              <a:sym typeface="Calibri"/>
            </a:endParaRPr>
          </a:p>
        </p:txBody>
      </p:sp>
      <p:sp>
        <p:nvSpPr>
          <p:cNvPr id="637" name="Google Shape;637;p38"/>
          <p:cNvSpPr/>
          <p:nvPr/>
        </p:nvSpPr>
        <p:spPr>
          <a:xfrm>
            <a:off x="6227064" y="3972154"/>
            <a:ext cx="1243584" cy="535838"/>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You</a:t>
            </a:r>
            <a:endParaRPr b="0" i="0" sz="800" u="none" cap="none" strike="noStrike">
              <a:solidFill>
                <a:schemeClr val="dk1"/>
              </a:solidFill>
              <a:latin typeface="Calibri"/>
              <a:ea typeface="Calibri"/>
              <a:cs typeface="Calibri"/>
              <a:sym typeface="Calibri"/>
            </a:endParaRPr>
          </a:p>
        </p:txBody>
      </p:sp>
      <p:sp>
        <p:nvSpPr>
          <p:cNvPr id="638" name="Google Shape;638;p38"/>
          <p:cNvSpPr/>
          <p:nvPr/>
        </p:nvSpPr>
        <p:spPr>
          <a:xfrm>
            <a:off x="7479792" y="288036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7B2E"/>
              </a:buClr>
              <a:buSzPts val="1300"/>
              <a:buFont typeface="Calibri"/>
              <a:buNone/>
            </a:pPr>
            <a:r>
              <a:rPr b="1" i="0" lang="en" sz="1300" u="none" cap="none" strike="noStrike">
                <a:solidFill>
                  <a:srgbClr val="E07B2E"/>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639" name="Google Shape;639;p38"/>
          <p:cNvSpPr/>
          <p:nvPr/>
        </p:nvSpPr>
        <p:spPr>
          <a:xfrm>
            <a:off x="7635240" y="1325880"/>
            <a:ext cx="1335024" cy="384048"/>
          </a:xfrm>
          <a:prstGeom prst="roundRect">
            <a:avLst>
              <a:gd fmla="val 16667" name="adj"/>
            </a:avLst>
          </a:prstGeom>
          <a:solidFill>
            <a:srgbClr val="B583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8"/>
          <p:cNvSpPr/>
          <p:nvPr/>
        </p:nvSpPr>
        <p:spPr>
          <a:xfrm>
            <a:off x="7635240" y="1325880"/>
            <a:ext cx="1335024"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80"/>
              <a:buFont typeface="Calibri"/>
              <a:buNone/>
            </a:pPr>
            <a:r>
              <a:rPr b="1" i="0" lang="en" sz="980" u="none" cap="none" strike="noStrike">
                <a:solidFill>
                  <a:srgbClr val="FFFFFF"/>
                </a:solidFill>
                <a:latin typeface="Calibri"/>
                <a:ea typeface="Calibri"/>
                <a:cs typeface="Calibri"/>
                <a:sym typeface="Calibri"/>
              </a:rPr>
              <a:t>Measure &amp; learn</a:t>
            </a:r>
            <a:endParaRPr b="0" i="0" sz="980" u="none" cap="none" strike="noStrike">
              <a:solidFill>
                <a:schemeClr val="dk1"/>
              </a:solidFill>
              <a:latin typeface="Calibri"/>
              <a:ea typeface="Calibri"/>
              <a:cs typeface="Calibri"/>
              <a:sym typeface="Calibri"/>
            </a:endParaRPr>
          </a:p>
        </p:txBody>
      </p:sp>
      <p:sp>
        <p:nvSpPr>
          <p:cNvPr id="641" name="Google Shape;641;p38"/>
          <p:cNvSpPr/>
          <p:nvPr/>
        </p:nvSpPr>
        <p:spPr>
          <a:xfrm>
            <a:off x="7635240" y="1783080"/>
            <a:ext cx="1335024" cy="2788920"/>
          </a:xfrm>
          <a:prstGeom prst="roundRect">
            <a:avLst>
              <a:gd fmla="val 4795" name="adj"/>
            </a:avLst>
          </a:prstGeom>
          <a:solidFill>
            <a:srgbClr val="FAF0DA"/>
          </a:solidFill>
          <a:ln cap="flat" cmpd="sng" w="9525">
            <a:solidFill>
              <a:srgbClr val="E6E1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8"/>
          <p:cNvSpPr/>
          <p:nvPr/>
        </p:nvSpPr>
        <p:spPr>
          <a:xfrm>
            <a:off x="7680960" y="1828800"/>
            <a:ext cx="1243584" cy="893064"/>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North Star + KPIs</a:t>
            </a:r>
            <a:endParaRPr b="0" i="0" sz="800" u="none" cap="none" strike="noStrike">
              <a:solidFill>
                <a:schemeClr val="dk1"/>
              </a:solidFill>
              <a:latin typeface="Calibri"/>
              <a:ea typeface="Calibri"/>
              <a:cs typeface="Calibri"/>
              <a:sym typeface="Calibri"/>
            </a:endParaRPr>
          </a:p>
        </p:txBody>
      </p:sp>
      <p:sp>
        <p:nvSpPr>
          <p:cNvPr id="643" name="Google Shape;643;p38"/>
          <p:cNvSpPr/>
          <p:nvPr/>
        </p:nvSpPr>
        <p:spPr>
          <a:xfrm>
            <a:off x="7680960" y="2721864"/>
            <a:ext cx="1243584" cy="893064"/>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Content-gap analysis</a:t>
            </a:r>
            <a:endParaRPr b="0" i="0" sz="800" u="none" cap="none" strike="noStrike">
              <a:solidFill>
                <a:schemeClr val="dk1"/>
              </a:solidFill>
              <a:latin typeface="Calibri"/>
              <a:ea typeface="Calibri"/>
              <a:cs typeface="Calibri"/>
              <a:sym typeface="Calibri"/>
            </a:endParaRPr>
          </a:p>
        </p:txBody>
      </p:sp>
      <p:sp>
        <p:nvSpPr>
          <p:cNvPr id="644" name="Google Shape;644;p38"/>
          <p:cNvSpPr/>
          <p:nvPr/>
        </p:nvSpPr>
        <p:spPr>
          <a:xfrm>
            <a:off x="7680960" y="3614928"/>
            <a:ext cx="1243584" cy="893064"/>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rgbClr val="211B45"/>
              </a:buClr>
              <a:buSzPts val="800"/>
              <a:buFont typeface="Calibri"/>
              <a:buNone/>
            </a:pPr>
            <a:r>
              <a:rPr b="0" i="0" lang="en" sz="800" u="none" cap="none" strike="noStrike">
                <a:solidFill>
                  <a:srgbClr val="211B45"/>
                </a:solidFill>
                <a:latin typeface="Calibri"/>
                <a:ea typeface="Calibri"/>
                <a:cs typeface="Calibri"/>
                <a:sym typeface="Calibri"/>
              </a:rPr>
              <a:t>Continuous feedback</a:t>
            </a:r>
            <a:endParaRPr b="0" i="0" sz="800" u="none" cap="none" strike="noStrike">
              <a:solidFill>
                <a:schemeClr val="dk1"/>
              </a:solidFill>
              <a:latin typeface="Calibri"/>
              <a:ea typeface="Calibri"/>
              <a:cs typeface="Calibri"/>
              <a:sym typeface="Calibri"/>
            </a:endParaRPr>
          </a:p>
        </p:txBody>
      </p:sp>
      <p:cxnSp>
        <p:nvCxnSpPr>
          <p:cNvPr id="645" name="Google Shape;645;p38"/>
          <p:cNvCxnSpPr/>
          <p:nvPr/>
        </p:nvCxnSpPr>
        <p:spPr>
          <a:xfrm>
            <a:off x="8394192" y="4572000"/>
            <a:ext cx="0" cy="347472"/>
          </a:xfrm>
          <a:prstGeom prst="straightConnector1">
            <a:avLst/>
          </a:prstGeom>
          <a:noFill/>
          <a:ln cap="flat" cmpd="sng" w="19050">
            <a:solidFill>
              <a:srgbClr val="E0A94B"/>
            </a:solidFill>
            <a:prstDash val="dash"/>
            <a:round/>
            <a:headEnd len="sm" w="sm" type="none"/>
            <a:tailEnd len="sm" w="sm" type="none"/>
          </a:ln>
        </p:spPr>
      </p:cxnSp>
      <p:cxnSp>
        <p:nvCxnSpPr>
          <p:cNvPr id="646" name="Google Shape;646;p38"/>
          <p:cNvCxnSpPr/>
          <p:nvPr/>
        </p:nvCxnSpPr>
        <p:spPr>
          <a:xfrm>
            <a:off x="2788920" y="4919472"/>
            <a:ext cx="5605272" cy="0"/>
          </a:xfrm>
          <a:prstGeom prst="straightConnector1">
            <a:avLst/>
          </a:prstGeom>
          <a:noFill/>
          <a:ln cap="flat" cmpd="sng" w="19050">
            <a:solidFill>
              <a:srgbClr val="E0A94B"/>
            </a:solidFill>
            <a:prstDash val="dash"/>
            <a:round/>
            <a:headEnd len="sm" w="sm" type="none"/>
            <a:tailEnd len="sm" w="sm" type="none"/>
          </a:ln>
        </p:spPr>
      </p:cxnSp>
      <p:cxnSp>
        <p:nvCxnSpPr>
          <p:cNvPr id="647" name="Google Shape;647;p38"/>
          <p:cNvCxnSpPr/>
          <p:nvPr/>
        </p:nvCxnSpPr>
        <p:spPr>
          <a:xfrm>
            <a:off x="2788920" y="4572000"/>
            <a:ext cx="0" cy="347472"/>
          </a:xfrm>
          <a:prstGeom prst="straightConnector1">
            <a:avLst/>
          </a:prstGeom>
          <a:noFill/>
          <a:ln cap="flat" cmpd="sng" w="19050">
            <a:solidFill>
              <a:srgbClr val="E0A94B"/>
            </a:solidFill>
            <a:prstDash val="dash"/>
            <a:round/>
            <a:headEnd len="sm" w="sm" type="none"/>
            <a:tailEnd len="sm" w="sm" type="none"/>
          </a:ln>
        </p:spPr>
      </p:cxnSp>
      <p:sp>
        <p:nvSpPr>
          <p:cNvPr id="648" name="Google Shape;648;p38"/>
          <p:cNvSpPr/>
          <p:nvPr/>
        </p:nvSpPr>
        <p:spPr>
          <a:xfrm>
            <a:off x="2633472" y="4480560"/>
            <a:ext cx="31089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A94B"/>
              </a:buClr>
              <a:buSzPts val="1400"/>
              <a:buFont typeface="Calibri"/>
              <a:buNone/>
            </a:pPr>
            <a:r>
              <a:rPr b="1" i="0" lang="en" sz="1400" u="none" cap="none" strike="noStrike">
                <a:solidFill>
                  <a:srgbClr val="E0A94B"/>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649" name="Google Shape;649;p38"/>
          <p:cNvSpPr/>
          <p:nvPr/>
        </p:nvSpPr>
        <p:spPr>
          <a:xfrm>
            <a:off x="2788920" y="4608576"/>
            <a:ext cx="560527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5680"/>
              </a:buClr>
              <a:buSzPts val="850"/>
              <a:buFont typeface="Calibri"/>
              <a:buNone/>
            </a:pPr>
            <a:r>
              <a:rPr b="0" i="1" lang="en" sz="850" u="none" cap="none" strike="noStrike">
                <a:solidFill>
                  <a:srgbClr val="5C5680"/>
                </a:solidFill>
                <a:latin typeface="Calibri"/>
                <a:ea typeface="Calibri"/>
                <a:cs typeface="Calibri"/>
                <a:sym typeface="Calibri"/>
              </a:rPr>
              <a:t>Outcomes &amp; content-gaps feed back continuously — refining personalisation and revealing what to create next.</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4" name="Shape 654"/>
        <p:cNvGrpSpPr/>
        <p:nvPr/>
      </p:nvGrpSpPr>
      <p:grpSpPr>
        <a:xfrm>
          <a:off x="0" y="0"/>
          <a:ext cx="0" cy="0"/>
          <a:chOff x="0" y="0"/>
          <a:chExt cx="0" cy="0"/>
        </a:xfrm>
      </p:grpSpPr>
      <p:sp>
        <p:nvSpPr>
          <p:cNvPr id="655" name="Google Shape;655;p39"/>
          <p:cNvSpPr/>
          <p:nvPr/>
        </p:nvSpPr>
        <p:spPr>
          <a:xfrm>
            <a:off x="548640" y="36576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APPENDIX · VALUE VS EFFORT</a:t>
            </a:r>
            <a:endParaRPr b="0" i="0" sz="1100" u="none" cap="none" strike="noStrike">
              <a:solidFill>
                <a:schemeClr val="dk1"/>
              </a:solidFill>
              <a:latin typeface="Calibri"/>
              <a:ea typeface="Calibri"/>
              <a:cs typeface="Calibri"/>
              <a:sym typeface="Calibri"/>
            </a:endParaRPr>
          </a:p>
        </p:txBody>
      </p:sp>
      <p:sp>
        <p:nvSpPr>
          <p:cNvPr id="656" name="Google Shape;656;p39"/>
          <p:cNvSpPr/>
          <p:nvPr/>
        </p:nvSpPr>
        <p:spPr>
          <a:xfrm>
            <a:off x="512064" y="65836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800"/>
              <a:buFont typeface="Cambria"/>
              <a:buNone/>
            </a:pPr>
            <a:r>
              <a:rPr b="1" i="0" lang="en" sz="2800" u="none" cap="none" strike="noStrike">
                <a:solidFill>
                  <a:srgbClr val="211B45"/>
                </a:solidFill>
                <a:latin typeface="Cambria"/>
                <a:ea typeface="Cambria"/>
                <a:cs typeface="Cambria"/>
                <a:sym typeface="Cambria"/>
              </a:rPr>
              <a:t>Every feature, placed</a:t>
            </a:r>
            <a:endParaRPr b="0" i="0" sz="2800" u="none" cap="none" strike="noStrike">
              <a:solidFill>
                <a:schemeClr val="dk1"/>
              </a:solidFill>
              <a:latin typeface="Calibri"/>
              <a:ea typeface="Calibri"/>
              <a:cs typeface="Calibri"/>
              <a:sym typeface="Calibri"/>
            </a:endParaRPr>
          </a:p>
        </p:txBody>
      </p:sp>
      <p:sp>
        <p:nvSpPr>
          <p:cNvPr id="657" name="Google Shape;657;p39"/>
          <p:cNvSpPr/>
          <p:nvPr/>
        </p:nvSpPr>
        <p:spPr>
          <a:xfrm>
            <a:off x="548640" y="1463040"/>
            <a:ext cx="5120640" cy="3154680"/>
          </a:xfrm>
          <a:prstGeom prst="rect">
            <a:avLst/>
          </a:prstGeom>
          <a:solidFill>
            <a:srgbClr val="FBF6EE"/>
          </a:solidFill>
          <a:ln cap="flat" cmpd="sng" w="12700">
            <a:solidFill>
              <a:srgbClr val="E6E1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8" name="Google Shape;658;p39"/>
          <p:cNvCxnSpPr/>
          <p:nvPr/>
        </p:nvCxnSpPr>
        <p:spPr>
          <a:xfrm>
            <a:off x="3108960" y="1463040"/>
            <a:ext cx="0" cy="3154680"/>
          </a:xfrm>
          <a:prstGeom prst="straightConnector1">
            <a:avLst/>
          </a:prstGeom>
          <a:noFill/>
          <a:ln cap="flat" cmpd="sng" w="12700">
            <a:solidFill>
              <a:srgbClr val="938FAD"/>
            </a:solidFill>
            <a:prstDash val="dash"/>
            <a:round/>
            <a:headEnd len="sm" w="sm" type="none"/>
            <a:tailEnd len="sm" w="sm" type="none"/>
          </a:ln>
        </p:spPr>
      </p:cxnSp>
      <p:cxnSp>
        <p:nvCxnSpPr>
          <p:cNvPr id="659" name="Google Shape;659;p39"/>
          <p:cNvCxnSpPr/>
          <p:nvPr/>
        </p:nvCxnSpPr>
        <p:spPr>
          <a:xfrm>
            <a:off x="548640" y="3040380"/>
            <a:ext cx="5120640" cy="0"/>
          </a:xfrm>
          <a:prstGeom prst="straightConnector1">
            <a:avLst/>
          </a:prstGeom>
          <a:noFill/>
          <a:ln cap="flat" cmpd="sng" w="12700">
            <a:solidFill>
              <a:srgbClr val="938FAD"/>
            </a:solidFill>
            <a:prstDash val="dash"/>
            <a:round/>
            <a:headEnd len="sm" w="sm" type="none"/>
            <a:tailEnd len="sm" w="sm" type="none"/>
          </a:ln>
        </p:spPr>
      </p:cxnSp>
      <p:sp>
        <p:nvSpPr>
          <p:cNvPr id="660" name="Google Shape;660;p39"/>
          <p:cNvSpPr/>
          <p:nvPr/>
        </p:nvSpPr>
        <p:spPr>
          <a:xfrm>
            <a:off x="548640" y="1225296"/>
            <a:ext cx="51206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8FAD"/>
              </a:buClr>
              <a:buSzPts val="900"/>
              <a:buFont typeface="Calibri"/>
              <a:buNone/>
            </a:pPr>
            <a:r>
              <a:rPr b="1" i="0" lang="en" sz="900" u="none" cap="none" strike="noStrike">
                <a:solidFill>
                  <a:srgbClr val="938FAD"/>
                </a:solidFill>
                <a:latin typeface="Calibri"/>
                <a:ea typeface="Calibri"/>
                <a:cs typeface="Calibri"/>
                <a:sym typeface="Calibri"/>
              </a:rPr>
              <a:t>HIGH VALUE</a:t>
            </a:r>
            <a:endParaRPr b="0" i="0" sz="900" u="none" cap="none" strike="noStrike">
              <a:solidFill>
                <a:schemeClr val="dk1"/>
              </a:solidFill>
              <a:latin typeface="Calibri"/>
              <a:ea typeface="Calibri"/>
              <a:cs typeface="Calibri"/>
              <a:sym typeface="Calibri"/>
            </a:endParaRPr>
          </a:p>
        </p:txBody>
      </p:sp>
      <p:sp>
        <p:nvSpPr>
          <p:cNvPr id="661" name="Google Shape;661;p39"/>
          <p:cNvSpPr/>
          <p:nvPr/>
        </p:nvSpPr>
        <p:spPr>
          <a:xfrm>
            <a:off x="548640" y="4645152"/>
            <a:ext cx="51206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8FAD"/>
              </a:buClr>
              <a:buSzPts val="900"/>
              <a:buFont typeface="Calibri"/>
              <a:buNone/>
            </a:pPr>
            <a:r>
              <a:rPr b="1" i="0" lang="en" sz="900" u="none" cap="none" strike="noStrike">
                <a:solidFill>
                  <a:srgbClr val="938FAD"/>
                </a:solidFill>
                <a:latin typeface="Calibri"/>
                <a:ea typeface="Calibri"/>
                <a:cs typeface="Calibri"/>
                <a:sym typeface="Calibri"/>
              </a:rPr>
              <a:t>LOWER VALUE</a:t>
            </a:r>
            <a:endParaRPr b="0" i="0" sz="900" u="none" cap="none" strike="noStrike">
              <a:solidFill>
                <a:schemeClr val="dk1"/>
              </a:solidFill>
              <a:latin typeface="Calibri"/>
              <a:ea typeface="Calibri"/>
              <a:cs typeface="Calibri"/>
              <a:sym typeface="Calibri"/>
            </a:endParaRPr>
          </a:p>
        </p:txBody>
      </p:sp>
      <p:sp>
        <p:nvSpPr>
          <p:cNvPr id="662" name="Google Shape;662;p39"/>
          <p:cNvSpPr/>
          <p:nvPr/>
        </p:nvSpPr>
        <p:spPr>
          <a:xfrm>
            <a:off x="530352" y="1225296"/>
            <a:ext cx="1463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8FAD"/>
              </a:buClr>
              <a:buSzPts val="800"/>
              <a:buFont typeface="Calibri"/>
              <a:buNone/>
            </a:pPr>
            <a:r>
              <a:rPr b="1" i="0" lang="en" sz="800" u="none" cap="none" strike="noStrike">
                <a:solidFill>
                  <a:srgbClr val="938FAD"/>
                </a:solidFill>
                <a:latin typeface="Calibri"/>
                <a:ea typeface="Calibri"/>
                <a:cs typeface="Calibri"/>
                <a:sym typeface="Calibri"/>
              </a:rPr>
              <a:t>LOW EFFORT</a:t>
            </a:r>
            <a:endParaRPr b="0" i="0" sz="800" u="none" cap="none" strike="noStrike">
              <a:solidFill>
                <a:schemeClr val="dk1"/>
              </a:solidFill>
              <a:latin typeface="Calibri"/>
              <a:ea typeface="Calibri"/>
              <a:cs typeface="Calibri"/>
              <a:sym typeface="Calibri"/>
            </a:endParaRPr>
          </a:p>
        </p:txBody>
      </p:sp>
      <p:sp>
        <p:nvSpPr>
          <p:cNvPr id="663" name="Google Shape;663;p39"/>
          <p:cNvSpPr/>
          <p:nvPr/>
        </p:nvSpPr>
        <p:spPr>
          <a:xfrm>
            <a:off x="4224528" y="1225296"/>
            <a:ext cx="14630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8FAD"/>
              </a:buClr>
              <a:buSzPts val="800"/>
              <a:buFont typeface="Calibri"/>
              <a:buNone/>
            </a:pPr>
            <a:r>
              <a:rPr b="1" i="0" lang="en" sz="800" u="none" cap="none" strike="noStrike">
                <a:solidFill>
                  <a:srgbClr val="938FAD"/>
                </a:solidFill>
                <a:latin typeface="Calibri"/>
                <a:ea typeface="Calibri"/>
                <a:cs typeface="Calibri"/>
                <a:sym typeface="Calibri"/>
              </a:rPr>
              <a:t>HIGH EFFORT</a:t>
            </a:r>
            <a:endParaRPr b="0" i="0" sz="800" u="none" cap="none" strike="noStrike">
              <a:solidFill>
                <a:schemeClr val="dk1"/>
              </a:solidFill>
              <a:latin typeface="Calibri"/>
              <a:ea typeface="Calibri"/>
              <a:cs typeface="Calibri"/>
              <a:sym typeface="Calibri"/>
            </a:endParaRPr>
          </a:p>
        </p:txBody>
      </p:sp>
      <p:sp>
        <p:nvSpPr>
          <p:cNvPr id="664" name="Google Shape;664;p39"/>
          <p:cNvSpPr/>
          <p:nvPr/>
        </p:nvSpPr>
        <p:spPr>
          <a:xfrm>
            <a:off x="914400" y="1828800"/>
            <a:ext cx="274320" cy="274320"/>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9"/>
          <p:cNvSpPr/>
          <p:nvPr/>
        </p:nvSpPr>
        <p:spPr>
          <a:xfrm>
            <a:off x="914400" y="182880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666" name="Google Shape;666;p39"/>
          <p:cNvSpPr/>
          <p:nvPr/>
        </p:nvSpPr>
        <p:spPr>
          <a:xfrm>
            <a:off x="1600200" y="2240280"/>
            <a:ext cx="274320" cy="274320"/>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9"/>
          <p:cNvSpPr/>
          <p:nvPr/>
        </p:nvSpPr>
        <p:spPr>
          <a:xfrm>
            <a:off x="1600200" y="224028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668" name="Google Shape;668;p39"/>
          <p:cNvSpPr/>
          <p:nvPr/>
        </p:nvSpPr>
        <p:spPr>
          <a:xfrm>
            <a:off x="2286000" y="1874520"/>
            <a:ext cx="274320" cy="274320"/>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9"/>
          <p:cNvSpPr/>
          <p:nvPr/>
        </p:nvSpPr>
        <p:spPr>
          <a:xfrm>
            <a:off x="2286000" y="187452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670" name="Google Shape;670;p39"/>
          <p:cNvSpPr/>
          <p:nvPr/>
        </p:nvSpPr>
        <p:spPr>
          <a:xfrm>
            <a:off x="1234440" y="2697480"/>
            <a:ext cx="274320" cy="274320"/>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9"/>
          <p:cNvSpPr/>
          <p:nvPr/>
        </p:nvSpPr>
        <p:spPr>
          <a:xfrm>
            <a:off x="1234440" y="269748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672" name="Google Shape;672;p39"/>
          <p:cNvSpPr/>
          <p:nvPr/>
        </p:nvSpPr>
        <p:spPr>
          <a:xfrm>
            <a:off x="2514600" y="2606040"/>
            <a:ext cx="274320" cy="274320"/>
          </a:xfrm>
          <a:prstGeom prst="ellipse">
            <a:avLst/>
          </a:prstGeom>
          <a:solidFill>
            <a:srgbClr val="E07B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39"/>
          <p:cNvSpPr/>
          <p:nvPr/>
        </p:nvSpPr>
        <p:spPr>
          <a:xfrm>
            <a:off x="2514600" y="26060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7</a:t>
            </a:r>
            <a:endParaRPr b="0" i="0" sz="1100" u="none" cap="none" strike="noStrike">
              <a:solidFill>
                <a:schemeClr val="dk1"/>
              </a:solidFill>
              <a:latin typeface="Calibri"/>
              <a:ea typeface="Calibri"/>
              <a:cs typeface="Calibri"/>
              <a:sym typeface="Calibri"/>
            </a:endParaRPr>
          </a:p>
        </p:txBody>
      </p:sp>
      <p:sp>
        <p:nvSpPr>
          <p:cNvPr id="674" name="Google Shape;674;p39"/>
          <p:cNvSpPr/>
          <p:nvPr/>
        </p:nvSpPr>
        <p:spPr>
          <a:xfrm>
            <a:off x="3611880" y="1828800"/>
            <a:ext cx="274320" cy="274320"/>
          </a:xfrm>
          <a:prstGeom prst="ellipse">
            <a:avLst/>
          </a:prstGeom>
          <a:solidFill>
            <a:srgbClr val="4F8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9"/>
          <p:cNvSpPr/>
          <p:nvPr/>
        </p:nvSpPr>
        <p:spPr>
          <a:xfrm>
            <a:off x="3611880" y="182880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676" name="Google Shape;676;p39"/>
          <p:cNvSpPr/>
          <p:nvPr/>
        </p:nvSpPr>
        <p:spPr>
          <a:xfrm>
            <a:off x="4297680" y="2286000"/>
            <a:ext cx="274320" cy="274320"/>
          </a:xfrm>
          <a:prstGeom prst="ellipse">
            <a:avLst/>
          </a:prstGeom>
          <a:solidFill>
            <a:srgbClr val="4F8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9"/>
          <p:cNvSpPr/>
          <p:nvPr/>
        </p:nvSpPr>
        <p:spPr>
          <a:xfrm>
            <a:off x="4297680" y="228600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678" name="Google Shape;678;p39"/>
          <p:cNvSpPr/>
          <p:nvPr/>
        </p:nvSpPr>
        <p:spPr>
          <a:xfrm>
            <a:off x="4892040" y="1874520"/>
            <a:ext cx="274320" cy="274320"/>
          </a:xfrm>
          <a:prstGeom prst="ellipse">
            <a:avLst/>
          </a:prstGeom>
          <a:solidFill>
            <a:srgbClr val="4F8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9"/>
          <p:cNvSpPr/>
          <p:nvPr/>
        </p:nvSpPr>
        <p:spPr>
          <a:xfrm>
            <a:off x="4892040" y="187452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8</a:t>
            </a:r>
            <a:endParaRPr b="0" i="0" sz="1100" u="none" cap="none" strike="noStrike">
              <a:solidFill>
                <a:schemeClr val="dk1"/>
              </a:solidFill>
              <a:latin typeface="Calibri"/>
              <a:ea typeface="Calibri"/>
              <a:cs typeface="Calibri"/>
              <a:sym typeface="Calibri"/>
            </a:endParaRPr>
          </a:p>
        </p:txBody>
      </p:sp>
      <p:sp>
        <p:nvSpPr>
          <p:cNvPr id="680" name="Google Shape;680;p39"/>
          <p:cNvSpPr/>
          <p:nvPr/>
        </p:nvSpPr>
        <p:spPr>
          <a:xfrm>
            <a:off x="3840480" y="2697480"/>
            <a:ext cx="274320" cy="274320"/>
          </a:xfrm>
          <a:prstGeom prst="ellipse">
            <a:avLst/>
          </a:prstGeom>
          <a:solidFill>
            <a:srgbClr val="4F8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9"/>
          <p:cNvSpPr/>
          <p:nvPr/>
        </p:nvSpPr>
        <p:spPr>
          <a:xfrm>
            <a:off x="3840480" y="269748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9</a:t>
            </a:r>
            <a:endParaRPr b="0" i="0" sz="1100" u="none" cap="none" strike="noStrike">
              <a:solidFill>
                <a:schemeClr val="dk1"/>
              </a:solidFill>
              <a:latin typeface="Calibri"/>
              <a:ea typeface="Calibri"/>
              <a:cs typeface="Calibri"/>
              <a:sym typeface="Calibri"/>
            </a:endParaRPr>
          </a:p>
        </p:txBody>
      </p:sp>
      <p:sp>
        <p:nvSpPr>
          <p:cNvPr id="682" name="Google Shape;682;p39"/>
          <p:cNvSpPr/>
          <p:nvPr/>
        </p:nvSpPr>
        <p:spPr>
          <a:xfrm>
            <a:off x="5074920" y="2651760"/>
            <a:ext cx="274320" cy="274320"/>
          </a:xfrm>
          <a:prstGeom prst="ellipse">
            <a:avLst/>
          </a:prstGeom>
          <a:solidFill>
            <a:srgbClr val="4F8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9"/>
          <p:cNvSpPr/>
          <p:nvPr/>
        </p:nvSpPr>
        <p:spPr>
          <a:xfrm>
            <a:off x="5074920" y="265176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14</a:t>
            </a:r>
            <a:endParaRPr b="0" i="0" sz="1100" u="none" cap="none" strike="noStrike">
              <a:solidFill>
                <a:schemeClr val="dk1"/>
              </a:solidFill>
              <a:latin typeface="Calibri"/>
              <a:ea typeface="Calibri"/>
              <a:cs typeface="Calibri"/>
              <a:sym typeface="Calibri"/>
            </a:endParaRPr>
          </a:p>
        </p:txBody>
      </p:sp>
      <p:sp>
        <p:nvSpPr>
          <p:cNvPr id="684" name="Google Shape;684;p39"/>
          <p:cNvSpPr/>
          <p:nvPr/>
        </p:nvSpPr>
        <p:spPr>
          <a:xfrm>
            <a:off x="1188720" y="3520440"/>
            <a:ext cx="274320" cy="274320"/>
          </a:xfrm>
          <a:prstGeom prst="ellipse">
            <a:avLst/>
          </a:prstGeom>
          <a:solidFill>
            <a:srgbClr val="4A3F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9"/>
          <p:cNvSpPr/>
          <p:nvPr/>
        </p:nvSpPr>
        <p:spPr>
          <a:xfrm>
            <a:off x="1188720" y="35204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10</a:t>
            </a:r>
            <a:endParaRPr b="0" i="0" sz="1100" u="none" cap="none" strike="noStrike">
              <a:solidFill>
                <a:schemeClr val="dk1"/>
              </a:solidFill>
              <a:latin typeface="Calibri"/>
              <a:ea typeface="Calibri"/>
              <a:cs typeface="Calibri"/>
              <a:sym typeface="Calibri"/>
            </a:endParaRPr>
          </a:p>
        </p:txBody>
      </p:sp>
      <p:sp>
        <p:nvSpPr>
          <p:cNvPr id="686" name="Google Shape;686;p39"/>
          <p:cNvSpPr/>
          <p:nvPr/>
        </p:nvSpPr>
        <p:spPr>
          <a:xfrm>
            <a:off x="2103120" y="3977640"/>
            <a:ext cx="274320" cy="274320"/>
          </a:xfrm>
          <a:prstGeom prst="ellipse">
            <a:avLst/>
          </a:prstGeom>
          <a:solidFill>
            <a:srgbClr val="4A3F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9"/>
          <p:cNvSpPr/>
          <p:nvPr/>
        </p:nvSpPr>
        <p:spPr>
          <a:xfrm>
            <a:off x="2103120" y="39776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11</a:t>
            </a:r>
            <a:endParaRPr b="0" i="0" sz="1100" u="none" cap="none" strike="noStrike">
              <a:solidFill>
                <a:schemeClr val="dk1"/>
              </a:solidFill>
              <a:latin typeface="Calibri"/>
              <a:ea typeface="Calibri"/>
              <a:cs typeface="Calibri"/>
              <a:sym typeface="Calibri"/>
            </a:endParaRPr>
          </a:p>
        </p:txBody>
      </p:sp>
      <p:sp>
        <p:nvSpPr>
          <p:cNvPr id="688" name="Google Shape;688;p39"/>
          <p:cNvSpPr/>
          <p:nvPr/>
        </p:nvSpPr>
        <p:spPr>
          <a:xfrm>
            <a:off x="3657600" y="3566160"/>
            <a:ext cx="274320" cy="274320"/>
          </a:xfrm>
          <a:prstGeom prst="ellipse">
            <a:avLst/>
          </a:prstGeom>
          <a:solidFill>
            <a:srgbClr val="938F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9"/>
          <p:cNvSpPr/>
          <p:nvPr/>
        </p:nvSpPr>
        <p:spPr>
          <a:xfrm>
            <a:off x="3657600" y="356616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12</a:t>
            </a:r>
            <a:endParaRPr b="0" i="0" sz="1100" u="none" cap="none" strike="noStrike">
              <a:solidFill>
                <a:schemeClr val="dk1"/>
              </a:solidFill>
              <a:latin typeface="Calibri"/>
              <a:ea typeface="Calibri"/>
              <a:cs typeface="Calibri"/>
              <a:sym typeface="Calibri"/>
            </a:endParaRPr>
          </a:p>
        </p:txBody>
      </p:sp>
      <p:sp>
        <p:nvSpPr>
          <p:cNvPr id="690" name="Google Shape;690;p39"/>
          <p:cNvSpPr/>
          <p:nvPr/>
        </p:nvSpPr>
        <p:spPr>
          <a:xfrm>
            <a:off x="4663440" y="4023360"/>
            <a:ext cx="274320" cy="274320"/>
          </a:xfrm>
          <a:prstGeom prst="ellipse">
            <a:avLst/>
          </a:prstGeom>
          <a:solidFill>
            <a:srgbClr val="938F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39"/>
          <p:cNvSpPr/>
          <p:nvPr/>
        </p:nvSpPr>
        <p:spPr>
          <a:xfrm>
            <a:off x="4663440" y="402336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13</a:t>
            </a:r>
            <a:endParaRPr b="0" i="0" sz="1100" u="none" cap="none" strike="noStrike">
              <a:solidFill>
                <a:schemeClr val="dk1"/>
              </a:solidFill>
              <a:latin typeface="Calibri"/>
              <a:ea typeface="Calibri"/>
              <a:cs typeface="Calibri"/>
              <a:sym typeface="Calibri"/>
            </a:endParaRPr>
          </a:p>
        </p:txBody>
      </p:sp>
      <p:sp>
        <p:nvSpPr>
          <p:cNvPr id="692" name="Google Shape;692;p39"/>
          <p:cNvSpPr/>
          <p:nvPr/>
        </p:nvSpPr>
        <p:spPr>
          <a:xfrm>
            <a:off x="5897880" y="1508760"/>
            <a:ext cx="1554480" cy="384048"/>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E07B2E"/>
              </a:buClr>
              <a:buSzPts val="1000"/>
              <a:buFont typeface="Calibri"/>
              <a:buNone/>
            </a:pPr>
            <a:r>
              <a:rPr b="1" i="0" lang="en" sz="1000" u="none" cap="none" strike="noStrike">
                <a:solidFill>
                  <a:srgbClr val="E07B2E"/>
                </a:solidFill>
                <a:latin typeface="Calibri"/>
                <a:ea typeface="Calibri"/>
                <a:cs typeface="Calibri"/>
                <a:sym typeface="Calibri"/>
              </a:rPr>
              <a:t>1  </a:t>
            </a:r>
            <a:r>
              <a:rPr b="0" i="0" lang="en" sz="950" u="none" cap="none" strike="noStrike">
                <a:solidFill>
                  <a:srgbClr val="5C5680"/>
                </a:solidFill>
                <a:latin typeface="Calibri"/>
                <a:ea typeface="Calibri"/>
                <a:cs typeface="Calibri"/>
                <a:sym typeface="Calibri"/>
              </a:rPr>
              <a:t>Today — daily pick</a:t>
            </a:r>
            <a:endParaRPr b="0" i="0" sz="1000" u="none" cap="none" strike="noStrike">
              <a:solidFill>
                <a:schemeClr val="dk1"/>
              </a:solidFill>
              <a:latin typeface="Calibri"/>
              <a:ea typeface="Calibri"/>
              <a:cs typeface="Calibri"/>
              <a:sym typeface="Calibri"/>
            </a:endParaRPr>
          </a:p>
        </p:txBody>
      </p:sp>
      <p:sp>
        <p:nvSpPr>
          <p:cNvPr id="693" name="Google Shape;693;p39"/>
          <p:cNvSpPr/>
          <p:nvPr/>
        </p:nvSpPr>
        <p:spPr>
          <a:xfrm>
            <a:off x="5897880" y="1929384"/>
            <a:ext cx="1554480" cy="384048"/>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E07B2E"/>
              </a:buClr>
              <a:buSzPts val="1000"/>
              <a:buFont typeface="Calibri"/>
              <a:buNone/>
            </a:pPr>
            <a:r>
              <a:rPr b="1" i="0" lang="en" sz="1000" u="none" cap="none" strike="noStrike">
                <a:solidFill>
                  <a:srgbClr val="E07B2E"/>
                </a:solidFill>
                <a:latin typeface="Calibri"/>
                <a:ea typeface="Calibri"/>
                <a:cs typeface="Calibri"/>
                <a:sym typeface="Calibri"/>
              </a:rPr>
              <a:t>2  </a:t>
            </a:r>
            <a:r>
              <a:rPr b="0" i="0" lang="en" sz="950" u="none" cap="none" strike="noStrike">
                <a:solidFill>
                  <a:srgbClr val="5C5680"/>
                </a:solidFill>
                <a:latin typeface="Calibri"/>
                <a:ea typeface="Calibri"/>
                <a:cs typeface="Calibri"/>
                <a:sym typeface="Calibri"/>
              </a:rPr>
              <a:t>Ask · Sahaj</a:t>
            </a:r>
            <a:endParaRPr b="0" i="0" sz="1000" u="none" cap="none" strike="noStrike">
              <a:solidFill>
                <a:schemeClr val="dk1"/>
              </a:solidFill>
              <a:latin typeface="Calibri"/>
              <a:ea typeface="Calibri"/>
              <a:cs typeface="Calibri"/>
              <a:sym typeface="Calibri"/>
            </a:endParaRPr>
          </a:p>
        </p:txBody>
      </p:sp>
      <p:sp>
        <p:nvSpPr>
          <p:cNvPr id="694" name="Google Shape;694;p39"/>
          <p:cNvSpPr/>
          <p:nvPr/>
        </p:nvSpPr>
        <p:spPr>
          <a:xfrm>
            <a:off x="5897880" y="2350008"/>
            <a:ext cx="1554480" cy="384048"/>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E07B2E"/>
              </a:buClr>
              <a:buSzPts val="1000"/>
              <a:buFont typeface="Calibri"/>
              <a:buNone/>
            </a:pPr>
            <a:r>
              <a:rPr b="1" i="0" lang="en" sz="1000" u="none" cap="none" strike="noStrike">
                <a:solidFill>
                  <a:srgbClr val="E07B2E"/>
                </a:solidFill>
                <a:latin typeface="Calibri"/>
                <a:ea typeface="Calibri"/>
                <a:cs typeface="Calibri"/>
                <a:sym typeface="Calibri"/>
              </a:rPr>
              <a:t>3  </a:t>
            </a:r>
            <a:r>
              <a:rPr b="0" i="0" lang="en" sz="950" u="none" cap="none" strike="noStrike">
                <a:solidFill>
                  <a:srgbClr val="5C5680"/>
                </a:solidFill>
                <a:latin typeface="Calibri"/>
                <a:ea typeface="Calibri"/>
                <a:cs typeface="Calibri"/>
                <a:sym typeface="Calibri"/>
              </a:rPr>
              <a:t>Daily wisdom</a:t>
            </a:r>
            <a:endParaRPr b="0" i="0" sz="1000" u="none" cap="none" strike="noStrike">
              <a:solidFill>
                <a:schemeClr val="dk1"/>
              </a:solidFill>
              <a:latin typeface="Calibri"/>
              <a:ea typeface="Calibri"/>
              <a:cs typeface="Calibri"/>
              <a:sym typeface="Calibri"/>
            </a:endParaRPr>
          </a:p>
        </p:txBody>
      </p:sp>
      <p:sp>
        <p:nvSpPr>
          <p:cNvPr id="695" name="Google Shape;695;p39"/>
          <p:cNvSpPr/>
          <p:nvPr/>
        </p:nvSpPr>
        <p:spPr>
          <a:xfrm>
            <a:off x="5897880" y="2770632"/>
            <a:ext cx="1554480" cy="384048"/>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E07B2E"/>
              </a:buClr>
              <a:buSzPts val="1000"/>
              <a:buFont typeface="Calibri"/>
              <a:buNone/>
            </a:pPr>
            <a:r>
              <a:rPr b="1" i="0" lang="en" sz="1000" u="none" cap="none" strike="noStrike">
                <a:solidFill>
                  <a:srgbClr val="E07B2E"/>
                </a:solidFill>
                <a:latin typeface="Calibri"/>
                <a:ea typeface="Calibri"/>
                <a:cs typeface="Calibri"/>
                <a:sym typeface="Calibri"/>
              </a:rPr>
              <a:t>4  </a:t>
            </a:r>
            <a:r>
              <a:rPr b="0" i="0" lang="en" sz="950" u="none" cap="none" strike="noStrike">
                <a:solidFill>
                  <a:srgbClr val="5C5680"/>
                </a:solidFill>
                <a:latin typeface="Calibri"/>
                <a:ea typeface="Calibri"/>
                <a:cs typeface="Calibri"/>
                <a:sym typeface="Calibri"/>
              </a:rPr>
              <a:t>SKY breath basics</a:t>
            </a:r>
            <a:endParaRPr b="0" i="0" sz="1000" u="none" cap="none" strike="noStrike">
              <a:solidFill>
                <a:schemeClr val="dk1"/>
              </a:solidFill>
              <a:latin typeface="Calibri"/>
              <a:ea typeface="Calibri"/>
              <a:cs typeface="Calibri"/>
              <a:sym typeface="Calibri"/>
            </a:endParaRPr>
          </a:p>
        </p:txBody>
      </p:sp>
      <p:sp>
        <p:nvSpPr>
          <p:cNvPr id="696" name="Google Shape;696;p39"/>
          <p:cNvSpPr/>
          <p:nvPr/>
        </p:nvSpPr>
        <p:spPr>
          <a:xfrm>
            <a:off x="5897880" y="3191256"/>
            <a:ext cx="1554480" cy="384048"/>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4F8A77"/>
              </a:buClr>
              <a:buSzPts val="1000"/>
              <a:buFont typeface="Calibri"/>
              <a:buNone/>
            </a:pPr>
            <a:r>
              <a:rPr b="1" i="0" lang="en" sz="1000" u="none" cap="none" strike="noStrike">
                <a:solidFill>
                  <a:srgbClr val="4F8A77"/>
                </a:solidFill>
                <a:latin typeface="Calibri"/>
                <a:ea typeface="Calibri"/>
                <a:cs typeface="Calibri"/>
                <a:sym typeface="Calibri"/>
              </a:rPr>
              <a:t>5  </a:t>
            </a:r>
            <a:r>
              <a:rPr b="0" i="0" lang="en" sz="950" u="none" cap="none" strike="noStrike">
                <a:solidFill>
                  <a:srgbClr val="5C5680"/>
                </a:solidFill>
                <a:latin typeface="Calibri"/>
                <a:ea typeface="Calibri"/>
                <a:cs typeface="Calibri"/>
                <a:sym typeface="Calibri"/>
              </a:rPr>
              <a:t>Full library</a:t>
            </a:r>
            <a:endParaRPr b="0" i="0" sz="1000" u="none" cap="none" strike="noStrike">
              <a:solidFill>
                <a:schemeClr val="dk1"/>
              </a:solidFill>
              <a:latin typeface="Calibri"/>
              <a:ea typeface="Calibri"/>
              <a:cs typeface="Calibri"/>
              <a:sym typeface="Calibri"/>
            </a:endParaRPr>
          </a:p>
        </p:txBody>
      </p:sp>
      <p:sp>
        <p:nvSpPr>
          <p:cNvPr id="697" name="Google Shape;697;p39"/>
          <p:cNvSpPr/>
          <p:nvPr/>
        </p:nvSpPr>
        <p:spPr>
          <a:xfrm>
            <a:off x="5897880" y="3611880"/>
            <a:ext cx="1554480" cy="384048"/>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4F8A77"/>
              </a:buClr>
              <a:buSzPts val="1000"/>
              <a:buFont typeface="Calibri"/>
              <a:buNone/>
            </a:pPr>
            <a:r>
              <a:rPr b="1" i="0" lang="en" sz="1000" u="none" cap="none" strike="noStrike">
                <a:solidFill>
                  <a:srgbClr val="4F8A77"/>
                </a:solidFill>
                <a:latin typeface="Calibri"/>
                <a:ea typeface="Calibri"/>
                <a:cs typeface="Calibri"/>
                <a:sym typeface="Calibri"/>
              </a:rPr>
              <a:t>6  </a:t>
            </a:r>
            <a:r>
              <a:rPr b="0" i="0" lang="en" sz="950" u="none" cap="none" strike="noStrike">
                <a:solidFill>
                  <a:srgbClr val="5C5680"/>
                </a:solidFill>
                <a:latin typeface="Calibri"/>
                <a:ea typeface="Calibri"/>
                <a:cs typeface="Calibri"/>
                <a:sym typeface="Calibri"/>
              </a:rPr>
              <a:t>Live &amp; Sangha</a:t>
            </a:r>
            <a:endParaRPr b="0" i="0" sz="1000" u="none" cap="none" strike="noStrike">
              <a:solidFill>
                <a:schemeClr val="dk1"/>
              </a:solidFill>
              <a:latin typeface="Calibri"/>
              <a:ea typeface="Calibri"/>
              <a:cs typeface="Calibri"/>
              <a:sym typeface="Calibri"/>
            </a:endParaRPr>
          </a:p>
        </p:txBody>
      </p:sp>
      <p:sp>
        <p:nvSpPr>
          <p:cNvPr id="698" name="Google Shape;698;p39"/>
          <p:cNvSpPr/>
          <p:nvPr/>
        </p:nvSpPr>
        <p:spPr>
          <a:xfrm>
            <a:off x="5897880" y="4032504"/>
            <a:ext cx="1554480" cy="384048"/>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E07B2E"/>
              </a:buClr>
              <a:buSzPts val="1000"/>
              <a:buFont typeface="Calibri"/>
              <a:buNone/>
            </a:pPr>
            <a:r>
              <a:rPr b="1" i="0" lang="en" sz="1000" u="none" cap="none" strike="noStrike">
                <a:solidFill>
                  <a:srgbClr val="E07B2E"/>
                </a:solidFill>
                <a:latin typeface="Calibri"/>
                <a:ea typeface="Calibri"/>
                <a:cs typeface="Calibri"/>
                <a:sym typeface="Calibri"/>
              </a:rPr>
              <a:t>7  </a:t>
            </a:r>
            <a:r>
              <a:rPr b="0" i="0" lang="en" sz="950" u="none" cap="none" strike="noStrike">
                <a:solidFill>
                  <a:srgbClr val="5C5680"/>
                </a:solidFill>
                <a:latin typeface="Calibri"/>
                <a:ea typeface="Calibri"/>
                <a:cs typeface="Calibri"/>
                <a:sym typeface="Calibri"/>
              </a:rPr>
              <a:t>Journey &amp; milestones</a:t>
            </a:r>
            <a:endParaRPr b="0" i="0" sz="1000" u="none" cap="none" strike="noStrike">
              <a:solidFill>
                <a:schemeClr val="dk1"/>
              </a:solidFill>
              <a:latin typeface="Calibri"/>
              <a:ea typeface="Calibri"/>
              <a:cs typeface="Calibri"/>
              <a:sym typeface="Calibri"/>
            </a:endParaRPr>
          </a:p>
        </p:txBody>
      </p:sp>
      <p:sp>
        <p:nvSpPr>
          <p:cNvPr id="699" name="Google Shape;699;p39"/>
          <p:cNvSpPr/>
          <p:nvPr/>
        </p:nvSpPr>
        <p:spPr>
          <a:xfrm>
            <a:off x="7498080" y="1508760"/>
            <a:ext cx="1554480" cy="384048"/>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4F8A77"/>
              </a:buClr>
              <a:buSzPts val="1000"/>
              <a:buFont typeface="Calibri"/>
              <a:buNone/>
            </a:pPr>
            <a:r>
              <a:rPr b="1" i="0" lang="en" sz="1000" u="none" cap="none" strike="noStrike">
                <a:solidFill>
                  <a:srgbClr val="4F8A77"/>
                </a:solidFill>
                <a:latin typeface="Calibri"/>
                <a:ea typeface="Calibri"/>
                <a:cs typeface="Calibri"/>
                <a:sym typeface="Calibri"/>
              </a:rPr>
              <a:t>8  </a:t>
            </a:r>
            <a:r>
              <a:rPr b="0" i="0" lang="en" sz="950" u="none" cap="none" strike="noStrike">
                <a:solidFill>
                  <a:srgbClr val="5C5680"/>
                </a:solidFill>
                <a:latin typeface="Calibri"/>
                <a:ea typeface="Calibri"/>
                <a:cs typeface="Calibri"/>
                <a:sym typeface="Calibri"/>
              </a:rPr>
              <a:t>Course integration</a:t>
            </a:r>
            <a:endParaRPr b="0" i="0" sz="1000" u="none" cap="none" strike="noStrike">
              <a:solidFill>
                <a:schemeClr val="dk1"/>
              </a:solidFill>
              <a:latin typeface="Calibri"/>
              <a:ea typeface="Calibri"/>
              <a:cs typeface="Calibri"/>
              <a:sym typeface="Calibri"/>
            </a:endParaRPr>
          </a:p>
        </p:txBody>
      </p:sp>
      <p:sp>
        <p:nvSpPr>
          <p:cNvPr id="700" name="Google Shape;700;p39"/>
          <p:cNvSpPr/>
          <p:nvPr/>
        </p:nvSpPr>
        <p:spPr>
          <a:xfrm>
            <a:off x="7498080" y="1929384"/>
            <a:ext cx="1554480" cy="384048"/>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4F8A77"/>
              </a:buClr>
              <a:buSzPts val="1000"/>
              <a:buFont typeface="Calibri"/>
              <a:buNone/>
            </a:pPr>
            <a:r>
              <a:rPr b="1" i="0" lang="en" sz="1000" u="none" cap="none" strike="noStrike">
                <a:solidFill>
                  <a:srgbClr val="4F8A77"/>
                </a:solidFill>
                <a:latin typeface="Calibri"/>
                <a:ea typeface="Calibri"/>
                <a:cs typeface="Calibri"/>
                <a:sym typeface="Calibri"/>
              </a:rPr>
              <a:t>9  </a:t>
            </a:r>
            <a:r>
              <a:rPr b="0" i="0" lang="en" sz="950" u="none" cap="none" strike="noStrike">
                <a:solidFill>
                  <a:srgbClr val="5C5680"/>
                </a:solidFill>
                <a:latin typeface="Calibri"/>
                <a:ea typeface="Calibri"/>
                <a:cs typeface="Calibri"/>
                <a:sym typeface="Calibri"/>
              </a:rPr>
              <a:t>Prime &amp; benefits</a:t>
            </a:r>
            <a:endParaRPr b="0" i="0" sz="1000" u="none" cap="none" strike="noStrike">
              <a:solidFill>
                <a:schemeClr val="dk1"/>
              </a:solidFill>
              <a:latin typeface="Calibri"/>
              <a:ea typeface="Calibri"/>
              <a:cs typeface="Calibri"/>
              <a:sym typeface="Calibri"/>
            </a:endParaRPr>
          </a:p>
        </p:txBody>
      </p:sp>
      <p:sp>
        <p:nvSpPr>
          <p:cNvPr id="701" name="Google Shape;701;p39"/>
          <p:cNvSpPr/>
          <p:nvPr/>
        </p:nvSpPr>
        <p:spPr>
          <a:xfrm>
            <a:off x="7498080" y="2350008"/>
            <a:ext cx="1554480" cy="384048"/>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4A3F8A"/>
              </a:buClr>
              <a:buSzPts val="1000"/>
              <a:buFont typeface="Calibri"/>
              <a:buNone/>
            </a:pPr>
            <a:r>
              <a:rPr b="1" i="0" lang="en" sz="1000" u="none" cap="none" strike="noStrike">
                <a:solidFill>
                  <a:srgbClr val="4A3F8A"/>
                </a:solidFill>
                <a:latin typeface="Calibri"/>
                <a:ea typeface="Calibri"/>
                <a:cs typeface="Calibri"/>
                <a:sym typeface="Calibri"/>
              </a:rPr>
              <a:t>10  </a:t>
            </a:r>
            <a:r>
              <a:rPr b="0" i="0" lang="en" sz="950" u="none" cap="none" strike="noStrike">
                <a:solidFill>
                  <a:srgbClr val="5C5680"/>
                </a:solidFill>
                <a:latin typeface="Calibri"/>
                <a:ea typeface="Calibri"/>
                <a:cs typeface="Calibri"/>
                <a:sym typeface="Calibri"/>
              </a:rPr>
              <a:t>Report card</a:t>
            </a:r>
            <a:endParaRPr b="0" i="0" sz="1000" u="none" cap="none" strike="noStrike">
              <a:solidFill>
                <a:schemeClr val="dk1"/>
              </a:solidFill>
              <a:latin typeface="Calibri"/>
              <a:ea typeface="Calibri"/>
              <a:cs typeface="Calibri"/>
              <a:sym typeface="Calibri"/>
            </a:endParaRPr>
          </a:p>
        </p:txBody>
      </p:sp>
      <p:sp>
        <p:nvSpPr>
          <p:cNvPr id="702" name="Google Shape;702;p39"/>
          <p:cNvSpPr/>
          <p:nvPr/>
        </p:nvSpPr>
        <p:spPr>
          <a:xfrm>
            <a:off x="7498080" y="2770632"/>
            <a:ext cx="1554480" cy="384048"/>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4A3F8A"/>
              </a:buClr>
              <a:buSzPts val="1000"/>
              <a:buFont typeface="Calibri"/>
              <a:buNone/>
            </a:pPr>
            <a:r>
              <a:rPr b="1" i="0" lang="en" sz="1000" u="none" cap="none" strike="noStrike">
                <a:solidFill>
                  <a:srgbClr val="4A3F8A"/>
                </a:solidFill>
                <a:latin typeface="Calibri"/>
                <a:ea typeface="Calibri"/>
                <a:cs typeface="Calibri"/>
                <a:sym typeface="Calibri"/>
              </a:rPr>
              <a:t>11  </a:t>
            </a:r>
            <a:r>
              <a:rPr b="0" i="0" lang="en" sz="950" u="none" cap="none" strike="noStrike">
                <a:solidFill>
                  <a:srgbClr val="5C5680"/>
                </a:solidFill>
                <a:latin typeface="Calibri"/>
                <a:ea typeface="Calibri"/>
                <a:cs typeface="Calibri"/>
                <a:sym typeface="Calibri"/>
              </a:rPr>
              <a:t>Mood &amp; notes</a:t>
            </a:r>
            <a:endParaRPr b="0" i="0" sz="1000" u="none" cap="none" strike="noStrike">
              <a:solidFill>
                <a:schemeClr val="dk1"/>
              </a:solidFill>
              <a:latin typeface="Calibri"/>
              <a:ea typeface="Calibri"/>
              <a:cs typeface="Calibri"/>
              <a:sym typeface="Calibri"/>
            </a:endParaRPr>
          </a:p>
        </p:txBody>
      </p:sp>
      <p:sp>
        <p:nvSpPr>
          <p:cNvPr id="703" name="Google Shape;703;p39"/>
          <p:cNvSpPr/>
          <p:nvPr/>
        </p:nvSpPr>
        <p:spPr>
          <a:xfrm>
            <a:off x="7498080" y="3191256"/>
            <a:ext cx="1554480" cy="384048"/>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938FAD"/>
              </a:buClr>
              <a:buSzPts val="1000"/>
              <a:buFont typeface="Calibri"/>
              <a:buNone/>
            </a:pPr>
            <a:r>
              <a:rPr b="1" i="0" lang="en" sz="1000" u="none" cap="none" strike="noStrike">
                <a:solidFill>
                  <a:srgbClr val="938FAD"/>
                </a:solidFill>
                <a:latin typeface="Calibri"/>
                <a:ea typeface="Calibri"/>
                <a:cs typeface="Calibri"/>
                <a:sym typeface="Calibri"/>
              </a:rPr>
              <a:t>12  </a:t>
            </a:r>
            <a:r>
              <a:rPr b="0" i="0" lang="en" sz="950" u="none" cap="none" strike="noStrike">
                <a:solidFill>
                  <a:srgbClr val="5C5680"/>
                </a:solidFill>
                <a:latin typeface="Calibri"/>
                <a:ea typeface="Calibri"/>
                <a:cs typeface="Calibri"/>
                <a:sym typeface="Calibri"/>
              </a:rPr>
              <a:t>Store</a:t>
            </a:r>
            <a:endParaRPr b="0" i="0" sz="1000" u="none" cap="none" strike="noStrike">
              <a:solidFill>
                <a:schemeClr val="dk1"/>
              </a:solidFill>
              <a:latin typeface="Calibri"/>
              <a:ea typeface="Calibri"/>
              <a:cs typeface="Calibri"/>
              <a:sym typeface="Calibri"/>
            </a:endParaRPr>
          </a:p>
        </p:txBody>
      </p:sp>
      <p:sp>
        <p:nvSpPr>
          <p:cNvPr id="704" name="Google Shape;704;p39"/>
          <p:cNvSpPr/>
          <p:nvPr/>
        </p:nvSpPr>
        <p:spPr>
          <a:xfrm>
            <a:off x="7498080" y="3611880"/>
            <a:ext cx="1554480" cy="384048"/>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938FAD"/>
              </a:buClr>
              <a:buSzPts val="1000"/>
              <a:buFont typeface="Calibri"/>
              <a:buNone/>
            </a:pPr>
            <a:r>
              <a:rPr b="1" i="0" lang="en" sz="1000" u="none" cap="none" strike="noStrike">
                <a:solidFill>
                  <a:srgbClr val="938FAD"/>
                </a:solidFill>
                <a:latin typeface="Calibri"/>
                <a:ea typeface="Calibri"/>
                <a:cs typeface="Calibri"/>
                <a:sym typeface="Calibri"/>
              </a:rPr>
              <a:t>13  </a:t>
            </a:r>
            <a:r>
              <a:rPr b="0" i="0" lang="en" sz="950" u="none" cap="none" strike="noStrike">
                <a:solidFill>
                  <a:srgbClr val="5C5680"/>
                </a:solidFill>
                <a:latin typeface="Calibri"/>
                <a:ea typeface="Calibri"/>
                <a:cs typeface="Calibri"/>
                <a:sym typeface="Calibri"/>
              </a:rPr>
              <a:t>Deep gamification</a:t>
            </a:r>
            <a:endParaRPr b="0" i="0" sz="1000" u="none" cap="none" strike="noStrike">
              <a:solidFill>
                <a:schemeClr val="dk1"/>
              </a:solidFill>
              <a:latin typeface="Calibri"/>
              <a:ea typeface="Calibri"/>
              <a:cs typeface="Calibri"/>
              <a:sym typeface="Calibri"/>
            </a:endParaRPr>
          </a:p>
        </p:txBody>
      </p:sp>
      <p:sp>
        <p:nvSpPr>
          <p:cNvPr id="705" name="Google Shape;705;p39"/>
          <p:cNvSpPr/>
          <p:nvPr/>
        </p:nvSpPr>
        <p:spPr>
          <a:xfrm>
            <a:off x="7498080" y="4032504"/>
            <a:ext cx="1554480" cy="384048"/>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4F8A77"/>
              </a:buClr>
              <a:buSzPts val="1000"/>
              <a:buFont typeface="Calibri"/>
              <a:buNone/>
            </a:pPr>
            <a:r>
              <a:rPr b="1" i="0" lang="en" sz="1000" u="none" cap="none" strike="noStrike">
                <a:solidFill>
                  <a:srgbClr val="4F8A77"/>
                </a:solidFill>
                <a:latin typeface="Calibri"/>
                <a:ea typeface="Calibri"/>
                <a:cs typeface="Calibri"/>
                <a:sym typeface="Calibri"/>
              </a:rPr>
              <a:t>14  </a:t>
            </a:r>
            <a:r>
              <a:rPr b="0" i="0" lang="en" sz="950" u="none" cap="none" strike="noStrike">
                <a:solidFill>
                  <a:srgbClr val="5C5680"/>
                </a:solidFill>
                <a:latin typeface="Calibri"/>
                <a:ea typeface="Calibri"/>
                <a:cs typeface="Calibri"/>
                <a:sym typeface="Calibri"/>
              </a:rPr>
              <a:t>Full personalisation</a:t>
            </a:r>
            <a:endParaRPr b="0" i="0" sz="1000" u="none" cap="none" strike="noStrike">
              <a:solidFill>
                <a:schemeClr val="dk1"/>
              </a:solidFill>
              <a:latin typeface="Calibri"/>
              <a:ea typeface="Calibri"/>
              <a:cs typeface="Calibri"/>
              <a:sym typeface="Calibri"/>
            </a:endParaRPr>
          </a:p>
        </p:txBody>
      </p:sp>
      <p:sp>
        <p:nvSpPr>
          <p:cNvPr id="706" name="Google Shape;706;p39"/>
          <p:cNvSpPr/>
          <p:nvPr/>
        </p:nvSpPr>
        <p:spPr>
          <a:xfrm>
            <a:off x="548640" y="4754880"/>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8FAD"/>
              </a:buClr>
              <a:buSzPts val="950"/>
              <a:buFont typeface="Calibri"/>
              <a:buNone/>
            </a:pPr>
            <a:r>
              <a:rPr b="0" i="1" lang="en" sz="950" u="none" cap="none" strike="noStrike">
                <a:solidFill>
                  <a:srgbClr val="938FAD"/>
                </a:solidFill>
                <a:latin typeface="Calibri"/>
                <a:ea typeface="Calibri"/>
                <a:cs typeface="Calibri"/>
                <a:sym typeface="Calibri"/>
              </a:rPr>
              <a:t>Saffron = do first · sage = invest · violet = easy extras · grey = later. Subject to engineering validation.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1" name="Shape 711"/>
        <p:cNvGrpSpPr/>
        <p:nvPr/>
      </p:nvGrpSpPr>
      <p:grpSpPr>
        <a:xfrm>
          <a:off x="0" y="0"/>
          <a:ext cx="0" cy="0"/>
          <a:chOff x="0" y="0"/>
          <a:chExt cx="0" cy="0"/>
        </a:xfrm>
      </p:grpSpPr>
      <p:sp>
        <p:nvSpPr>
          <p:cNvPr id="712" name="Google Shape;712;p40"/>
          <p:cNvSpPr/>
          <p:nvPr/>
        </p:nvSpPr>
        <p:spPr>
          <a:xfrm>
            <a:off x="548640" y="320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30F"/>
              </a:buClr>
              <a:buSzPts val="1100"/>
              <a:buFont typeface="Calibri"/>
              <a:buNone/>
            </a:pPr>
            <a:r>
              <a:rPr b="1" i="0" lang="en" sz="1100" u="none" cap="none" strike="noStrike">
                <a:solidFill>
                  <a:srgbClr val="A8530F"/>
                </a:solidFill>
                <a:latin typeface="Calibri"/>
                <a:ea typeface="Calibri"/>
                <a:cs typeface="Calibri"/>
                <a:sym typeface="Calibri"/>
              </a:rPr>
              <a:t>APPENDIX · DETAILED ROADMAP</a:t>
            </a:r>
            <a:endParaRPr b="0" i="0" sz="1100" u="none" cap="none" strike="noStrike">
              <a:solidFill>
                <a:schemeClr val="dk1"/>
              </a:solidFill>
              <a:latin typeface="Calibri"/>
              <a:ea typeface="Calibri"/>
              <a:cs typeface="Calibri"/>
              <a:sym typeface="Calibri"/>
            </a:endParaRPr>
          </a:p>
        </p:txBody>
      </p:sp>
      <p:sp>
        <p:nvSpPr>
          <p:cNvPr id="713" name="Google Shape;713;p40"/>
          <p:cNvSpPr/>
          <p:nvPr/>
        </p:nvSpPr>
        <p:spPr>
          <a:xfrm>
            <a:off x="512064" y="612648"/>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1B45"/>
              </a:buClr>
              <a:buSzPts val="2600"/>
              <a:buFont typeface="Cambria"/>
              <a:buNone/>
            </a:pPr>
            <a:r>
              <a:rPr b="1" i="0" lang="en" sz="2600" u="none" cap="none" strike="noStrike">
                <a:solidFill>
                  <a:srgbClr val="211B45"/>
                </a:solidFill>
                <a:latin typeface="Cambria"/>
                <a:ea typeface="Cambria"/>
                <a:cs typeface="Cambria"/>
                <a:sym typeface="Cambria"/>
              </a:rPr>
              <a:t>Workstreams × phases</a:t>
            </a:r>
            <a:endParaRPr b="0" i="0" sz="2600" u="none" cap="none" strike="noStrike">
              <a:solidFill>
                <a:schemeClr val="dk1"/>
              </a:solidFill>
              <a:latin typeface="Calibri"/>
              <a:ea typeface="Calibri"/>
              <a:cs typeface="Calibri"/>
              <a:sym typeface="Calibri"/>
            </a:endParaRPr>
          </a:p>
        </p:txBody>
      </p:sp>
      <p:graphicFrame>
        <p:nvGraphicFramePr>
          <p:cNvPr id="714" name="Google Shape;714;p40"/>
          <p:cNvGraphicFramePr/>
          <p:nvPr/>
        </p:nvGraphicFramePr>
        <p:xfrm>
          <a:off x="457200" y="1417320"/>
          <a:ext cx="3000000" cy="3000000"/>
        </p:xfrm>
        <a:graphic>
          <a:graphicData uri="http://schemas.openxmlformats.org/drawingml/2006/table">
            <a:tbl>
              <a:tblPr>
                <a:noFill/>
                <a:tableStyleId>{D76F2BE7-63AF-438E-AF95-449E0C504F6D}</a:tableStyleId>
              </a:tblPr>
              <a:tblGrid>
                <a:gridCol w="1371600"/>
                <a:gridCol w="2286000"/>
                <a:gridCol w="2286000"/>
                <a:gridCol w="2286000"/>
              </a:tblGrid>
              <a:tr h="384050">
                <a:tc>
                  <a:txBody>
                    <a:bodyPr/>
                    <a:lstStyle/>
                    <a:p>
                      <a:pPr indent="0" lvl="0" marL="0" marR="0" rtl="0" algn="l">
                        <a:spcBef>
                          <a:spcPts val="0"/>
                        </a:spcBef>
                        <a:spcAft>
                          <a:spcPts val="0"/>
                        </a:spcAft>
                        <a:buClr>
                          <a:schemeClr val="dk1"/>
                        </a:buClr>
                        <a:buSzPts val="1200"/>
                        <a:buFont typeface="Calibri"/>
                        <a:buNone/>
                      </a:pPr>
                      <a:r>
                        <a:t/>
                      </a:r>
                      <a:endParaRPr sz="1200" u="none" cap="none" strike="noStrike">
                        <a:latin typeface="Calibri"/>
                        <a:ea typeface="Calibri"/>
                        <a:cs typeface="Calibri"/>
                        <a:sym typeface="Calibri"/>
                      </a:endParaRPr>
                    </a:p>
                  </a:txBody>
                  <a:tcPr marT="38100" marB="38100" marR="38100" marL="38100">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FFFFFF"/>
                        </a:buClr>
                        <a:buSzPts val="950"/>
                        <a:buFont typeface="Calibri"/>
                        <a:buNone/>
                      </a:pPr>
                      <a:r>
                        <a:rPr b="1" lang="en" sz="950" u="none" cap="none" strike="noStrike">
                          <a:solidFill>
                            <a:srgbClr val="FFFFFF"/>
                          </a:solidFill>
                          <a:latin typeface="Calibri"/>
                          <a:ea typeface="Calibri"/>
                          <a:cs typeface="Calibri"/>
                          <a:sym typeface="Calibri"/>
                        </a:rPr>
                        <a:t>Phase 1 · Earn the habit</a:t>
                      </a:r>
                      <a:endParaRPr sz="9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E07B2E"/>
                    </a:solidFill>
                  </a:tcPr>
                </a:tc>
                <a:tc>
                  <a:txBody>
                    <a:bodyPr/>
                    <a:lstStyle/>
                    <a:p>
                      <a:pPr indent="0" lvl="0" marL="0" marR="0" rtl="0" algn="ctr">
                        <a:spcBef>
                          <a:spcPts val="0"/>
                        </a:spcBef>
                        <a:spcAft>
                          <a:spcPts val="0"/>
                        </a:spcAft>
                        <a:buClr>
                          <a:srgbClr val="FFFFFF"/>
                        </a:buClr>
                        <a:buSzPts val="950"/>
                        <a:buFont typeface="Calibri"/>
                        <a:buNone/>
                      </a:pPr>
                      <a:r>
                        <a:rPr b="1" lang="en" sz="950" u="none" cap="none" strike="noStrike">
                          <a:solidFill>
                            <a:srgbClr val="FFFFFF"/>
                          </a:solidFill>
                          <a:latin typeface="Calibri"/>
                          <a:ea typeface="Calibri"/>
                          <a:cs typeface="Calibri"/>
                          <a:sym typeface="Calibri"/>
                        </a:rPr>
                        <a:t>Phase 2 · Build the ladder</a:t>
                      </a:r>
                      <a:endParaRPr sz="9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B5832F"/>
                    </a:solidFill>
                  </a:tcPr>
                </a:tc>
                <a:tc>
                  <a:txBody>
                    <a:bodyPr/>
                    <a:lstStyle/>
                    <a:p>
                      <a:pPr indent="0" lvl="0" marL="0" marR="0" rtl="0" algn="ctr">
                        <a:spcBef>
                          <a:spcPts val="0"/>
                        </a:spcBef>
                        <a:spcAft>
                          <a:spcPts val="0"/>
                        </a:spcAft>
                        <a:buClr>
                          <a:srgbClr val="FFFFFF"/>
                        </a:buClr>
                        <a:buSzPts val="950"/>
                        <a:buFont typeface="Calibri"/>
                        <a:buNone/>
                      </a:pPr>
                      <a:r>
                        <a:rPr b="1" lang="en" sz="950" u="none" cap="none" strike="noStrike">
                          <a:solidFill>
                            <a:srgbClr val="FFFFFF"/>
                          </a:solidFill>
                          <a:latin typeface="Calibri"/>
                          <a:ea typeface="Calibri"/>
                          <a:cs typeface="Calibri"/>
                          <a:sym typeface="Calibri"/>
                        </a:rPr>
                        <a:t>Phase 3 · Scale the engine</a:t>
                      </a:r>
                      <a:endParaRPr sz="9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4F8A77"/>
                    </a:solidFill>
                  </a:tcPr>
                </a:tc>
              </a:tr>
              <a:tr h="548650">
                <a:tc>
                  <a:txBody>
                    <a:bodyPr/>
                    <a:lstStyle/>
                    <a:p>
                      <a:pPr indent="0" lvl="0" marL="0" marR="0" rtl="0" algn="l">
                        <a:spcBef>
                          <a:spcPts val="0"/>
                        </a:spcBef>
                        <a:spcAft>
                          <a:spcPts val="0"/>
                        </a:spcAft>
                        <a:buClr>
                          <a:srgbClr val="211B45"/>
                        </a:buClr>
                        <a:buSzPts val="950"/>
                        <a:buFont typeface="Calibri"/>
                        <a:buNone/>
                      </a:pPr>
                      <a:r>
                        <a:rPr b="1" lang="en" sz="950" u="none" cap="none" strike="noStrike">
                          <a:solidFill>
                            <a:srgbClr val="211B45"/>
                          </a:solidFill>
                          <a:latin typeface="Calibri"/>
                          <a:ea typeface="Calibri"/>
                          <a:cs typeface="Calibri"/>
                          <a:sym typeface="Calibri"/>
                        </a:rPr>
                        <a:t>Experiences</a:t>
                      </a:r>
                      <a:endParaRPr sz="9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BF6EE"/>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Today, Ask, Live (MVP)</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Explore library, You / journey, report card</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Offline, deeper personalisation, widgets</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211B45"/>
                        </a:buClr>
                        <a:buSzPts val="950"/>
                        <a:buFont typeface="Calibri"/>
                        <a:buNone/>
                      </a:pPr>
                      <a:r>
                        <a:rPr b="1" lang="en" sz="950" u="none" cap="none" strike="noStrike">
                          <a:solidFill>
                            <a:srgbClr val="211B45"/>
                          </a:solidFill>
                          <a:latin typeface="Calibri"/>
                          <a:ea typeface="Calibri"/>
                          <a:cs typeface="Calibri"/>
                          <a:sym typeface="Calibri"/>
                        </a:rPr>
                        <a:t>Content &amp; wisdom</a:t>
                      </a:r>
                      <a:endParaRPr sz="9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BF6EE"/>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Core meditations, daily wisdom, SKY basics</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Full library, masterclasses, chants</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Retreats, festival webcasts, regional languages</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211B45"/>
                        </a:buClr>
                        <a:buSzPts val="950"/>
                        <a:buFont typeface="Calibri"/>
                        <a:buNone/>
                      </a:pPr>
                      <a:r>
                        <a:rPr b="1" lang="en" sz="950" u="none" cap="none" strike="noStrike">
                          <a:solidFill>
                            <a:srgbClr val="211B45"/>
                          </a:solidFill>
                          <a:latin typeface="Calibri"/>
                          <a:ea typeface="Calibri"/>
                          <a:cs typeface="Calibri"/>
                          <a:sym typeface="Calibri"/>
                        </a:rPr>
                        <a:t>Sahaj · intelligence</a:t>
                      </a:r>
                      <a:endParaRPr sz="9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BF6EE"/>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Daily plan, basic recommendations</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Journey builder, richer retrieval</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Advanced, multilingual personalisation</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211B45"/>
                        </a:buClr>
                        <a:buSzPts val="950"/>
                        <a:buFont typeface="Calibri"/>
                        <a:buNone/>
                      </a:pPr>
                      <a:r>
                        <a:rPr b="1" lang="en" sz="950" u="none" cap="none" strike="noStrike">
                          <a:solidFill>
                            <a:srgbClr val="211B45"/>
                          </a:solidFill>
                          <a:latin typeface="Calibri"/>
                          <a:ea typeface="Calibri"/>
                          <a:cs typeface="Calibri"/>
                          <a:sym typeface="Calibri"/>
                        </a:rPr>
                        <a:t>Sangha · community</a:t>
                      </a:r>
                      <a:endParaRPr sz="9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BF6EE"/>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Live group meditations</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Groups, graduate re-engagement</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Global Sangha, events</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211B45"/>
                        </a:buClr>
                        <a:buSzPts val="950"/>
                        <a:buFont typeface="Calibri"/>
                        <a:buNone/>
                      </a:pPr>
                      <a:r>
                        <a:rPr b="1" lang="en" sz="950" u="none" cap="none" strike="noStrike">
                          <a:solidFill>
                            <a:srgbClr val="211B45"/>
                          </a:solidFill>
                          <a:latin typeface="Calibri"/>
                          <a:ea typeface="Calibri"/>
                          <a:cs typeface="Calibri"/>
                          <a:sym typeface="Calibri"/>
                        </a:rPr>
                        <a:t>Sustainability</a:t>
                      </a:r>
                      <a:endParaRPr sz="9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BF6EE"/>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Free — earn trust first</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Prime, course enrolment, 15% off</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Retreats, store, gifting, regional pricing</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211B45"/>
                        </a:buClr>
                        <a:buSzPts val="950"/>
                        <a:buFont typeface="Calibri"/>
                        <a:buNone/>
                      </a:pPr>
                      <a:r>
                        <a:rPr b="1" lang="en" sz="950" u="none" cap="none" strike="noStrike">
                          <a:solidFill>
                            <a:srgbClr val="211B45"/>
                          </a:solidFill>
                          <a:latin typeface="Calibri"/>
                          <a:ea typeface="Calibri"/>
                          <a:cs typeface="Calibri"/>
                          <a:sym typeface="Calibri"/>
                        </a:rPr>
                        <a:t>Markets</a:t>
                      </a:r>
                      <a:endParaRPr sz="9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BF6EE"/>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India</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India + developed markets</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C5680"/>
                        </a:buClr>
                        <a:buSzPts val="850"/>
                        <a:buFont typeface="Calibri"/>
                        <a:buNone/>
                      </a:pPr>
                      <a:r>
                        <a:rPr lang="en" sz="850" u="none" cap="none" strike="noStrike">
                          <a:solidFill>
                            <a:srgbClr val="5C5680"/>
                          </a:solidFill>
                          <a:latin typeface="Calibri"/>
                          <a:ea typeface="Calibri"/>
                          <a:cs typeface="Calibri"/>
                          <a:sym typeface="Calibri"/>
                        </a:rPr>
                        <a:t>Global · 182 countries</a:t>
                      </a:r>
                      <a:endParaRPr sz="850" u="none" cap="none" strike="noStrike">
                        <a:latin typeface="Calibri"/>
                        <a:ea typeface="Calibri"/>
                        <a:cs typeface="Calibri"/>
                        <a:sym typeface="Calibri"/>
                      </a:endParaRPr>
                    </a:p>
                  </a:txBody>
                  <a:tcPr marT="38100" marB="38100" marR="38100" marL="38100" anchor="ctr">
                    <a:lnL cap="flat" cmpd="sng" w="12700">
                      <a:solidFill>
                        <a:srgbClr val="E6E1D6"/>
                      </a:solidFill>
                      <a:prstDash val="solid"/>
                      <a:round/>
                      <a:headEnd len="sm" w="sm" type="none"/>
                      <a:tailEnd len="sm" w="sm" type="none"/>
                    </a:lnL>
                    <a:lnR cap="flat" cmpd="sng" w="12700">
                      <a:solidFill>
                        <a:srgbClr val="E6E1D6"/>
                      </a:solidFill>
                      <a:prstDash val="solid"/>
                      <a:round/>
                      <a:headEnd len="sm" w="sm" type="none"/>
                      <a:tailEnd len="sm" w="sm" type="none"/>
                    </a:lnR>
                    <a:lnT cap="flat" cmpd="sng" w="12700">
                      <a:solidFill>
                        <a:srgbClr val="E6E1D6"/>
                      </a:solidFill>
                      <a:prstDash val="solid"/>
                      <a:round/>
                      <a:headEnd len="sm" w="sm" type="none"/>
                      <a:tailEnd len="sm" w="sm" type="none"/>
                    </a:lnT>
                    <a:lnB cap="flat" cmpd="sng" w="12700">
                      <a:solidFill>
                        <a:srgbClr val="E6E1D6"/>
                      </a:solidFill>
                      <a:prstDash val="solid"/>
                      <a:round/>
                      <a:headEnd len="sm" w="sm" type="none"/>
                      <a:tailEnd len="sm" w="sm" type="none"/>
                    </a:lnB>
                    <a:solidFill>
                      <a:srgbClr val="FFFFFF"/>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